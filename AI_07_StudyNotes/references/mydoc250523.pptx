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c9566dd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c9566dd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c9566dd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c9566dd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c9566dd6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c9566dd6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c9566dd6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c9566dd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c9566dd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c9566dd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9566dd6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c9566dd6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c9566dd6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c9566dd6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c9566dd6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c9566dd6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c9566dd6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c9566dd6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9566dd6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c9566dd6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c9566dd6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c9566dd6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c9566dd6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c9566dd6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9566dd6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9566dd6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c9566dd6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c9566dd6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c9566dd6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c9566dd6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c9566dd6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c9566dd6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c9566dd6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c9566dd6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c9566dd6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c9566dd6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9566dd6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9566dd6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c9566dd6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c9566dd6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c9566dd6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c9566dd6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c9566dd6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c9566dd6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c9566dd6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c9566dd6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9566dd6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c9566dd6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c9566dd6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c9566dd6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c9566dd6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c9566dd6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c9566dd6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c9566dd6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9566dd6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c9566dd6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c9566dd6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c9566dd6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c9566dd6a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c9566dd6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9566dd6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c9566dd6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c9566dd6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c9566dd6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c9566dd6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c9566dd6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c9566dd6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c9566dd6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c9566dd6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c9566dd6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c9566dd6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c9566dd6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c9566dd6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c9566dd6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c9566dd6a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c9566dd6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c9566dd6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c9566dd6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c9566dd6a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c9566dd6a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c9566dd6a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c9566dd6a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c9566dd6a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c9566dd6a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c9566dd6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c9566dd6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c9566dd6a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5c9566dd6a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c9566dd6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c9566dd6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c9566dd6a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c9566dd6a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c9566dd6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c9566dd6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c9566dd6a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c9566dd6a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c9566dd6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c9566dd6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c9566dd6a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5c9566dd6a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c9566dd6a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c9566dd6a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c9566dd6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c9566dd6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c9566dd6a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c9566dd6a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c9566dd6a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5c9566dd6a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c9566dd6a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c9566dd6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서브워드텍스트인코더는 의미있는 단위의 서브워드로 토크나이징한다. 띄어쓰기 단위 X 형태소 분석 단위 X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'질문 데이터의 크기(shape)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questions.shape)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'답변 데이터의 크기(shape)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answers.shape)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텐서플로우 dataset을 이용하여 셔플(shuffle)을 수행하되, 배치 크기로 데이터를 묶는다.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또한 이 과정에서 교사 강요(teacher forcing)을 사용하기 위해서 디코더의 입력과 실제값 시퀀스를 구성한다.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BATCH_SIZE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64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BUFFER_SIZE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20000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이제 트랜스포머를 만들어봅시다. 하이퍼파라미터를 조정하여 실제 논문의 트랜스포머보다는 작은 모델을 만듭니다.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선택한 주요 하이퍼파라미터의 값은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= 256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{num_layers}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= 2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= 8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{ff}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= 512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tf.keras.backend.clear_session()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하이퍼파라미터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256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NUM_LAYERS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NUM_HEADS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DFF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512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DROPOUT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num_layers=NUM_LAYERS,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dff=DFF,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d_model=D_MODEL,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num_heads=NUM_HEADS,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dropout=DROPOUT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beta_1=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0.9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beta_2=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0.98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epsilon=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1e-9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preprocess_sentence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sentence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단어와 구두점 사이에 공백 추가.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ex) 12시 땡! -&gt; 12시 땡 !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sentence = re.sub(r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"([?.!,])"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r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 \1 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sentence)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sentence = sentence.strip()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sentence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6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입력 문장에 대한 전처리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입력 문장에 시작 토큰과 종료 토큰을 추가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예측 시작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현재 시점의 예측 단어를 받아온다.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만약 현재 시점의 예측 단어가 종료 토큰이라면 예측을 중단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현재 시점의 예측 단어를 output(출력)에 연결한다.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output은 for문의 다음 루프에서 디코더의 입력이 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단어 예측이 모두 끝났다면 output을 리턴.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sentence = tf.expand_dims(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START_TOKEN + tokenizer.encode(sentence) + END_TOKEN, axis=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prediction == 디코더가 리턴한 챗봇의 대답에 해당하는 정수 시퀀스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tokenizer.decode()를 통해 정수 시퀀스를 문자열로 디코딩.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predicted_sentence = tokenizer.decode(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[i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prediction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i &lt; tokenizer.vocab_size])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'Input: {}'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(sentence))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'Output: {}'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(predicted_sentence))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predicted_sentence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BERT(Bidirectional Encoder Representations from Transformers)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7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NLP에서의 사전 훈련(Pre-training)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2018년 딥 러닝 연구원 세바스찬 루더는 사전 훈련된 언어 모델의 약진을 보며 다음과 같은 말을 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&gt; "사전 훈련된 단어 임베딩이 모든 NLP 실무자의 도구 상자에서 사전 훈련된 언어 모델로 대체되는 것은 시간 문제이다."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BERT(Bidirectional Encoder Representations from Transformers)와 같은 트랜스포머 계열의 모델들이 자연어 처리를 지배했던 19년과 20년을 회고하면 이 말은 이미 현실이 되었습니다.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BERT를 배우기에 앞서 워드 임베딩에서부터 ELMo, 그리고 트랜스포머에 이르기까지 자연어 처리가 발전되어온 흐름을 정리해봅시다.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5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사전 훈련된 워드 임베딩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워드 임베딩 방법론들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Word2Vec, FastText, GloVe...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어떤 태스크를 수행할 때, 임베딩을 사용하는 방법으로는 크게 두 가지가 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임베딩 층(Embedding layer)을 랜덤 초기화하여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**처음부터 학습**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하는 방법.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방대한 데이터로 Word2Vec 등과 같은 임베딩 알고리즘으로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**'사전에 학습된'**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임베딩 벡터들을 가져와 사용하는 방법.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7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문제점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그런데 이 두 가지 방법 모두 하나의 단어가 하나의 벡터값으로 맵핑되므로,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문맥을 고려하지 못 하여 다의어나 동음이의어를 구분하지 못하는 문제점이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가령, 한국어에는 '사과'라는 단어가 존재하는데 이 '사과'는 용서를 빈다는 의미로도 쓰이지만, 먹는 과일의 의미로도 사용됩니다.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그러나 임베딩 벡터는 '사과'라는 벡터에 하나의 벡터값을 맵핑하므로 이 두 가지 의미를 구분할 수 없었습니다.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한계는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**사전 훈련된 언어 모델**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사용하므로서 극복할 수 있었으며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아래에서 언급할 ELMo나 BERT 등이 이러한 문제의 해결책입니다.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사전 훈련된 언어 모델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![](https://wikidocs.net/images/page/108730/image1.PNG)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![](https://wikidocs.net/images/page/108730/image2.PNG)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![](https://wikidocs.net/images/page/108730/image3.PNG)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![](https://wikidocs.net/images/page/108730/image4.PNG)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사전 훈련된 언어 모델의 이점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컴퓨팅 비용과 탄소 배출량이 줄고,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모델을 처음부터 훈련시키는 데 필요한 시간과 리소스를 절약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다양한 분야의 태스크에 적용 가능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마스크드 언어 모델(Masked Language Model, MLM)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입력 텍스트의 단어 집합의 15%의 단어를 랜덤으로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**마스킹(Masking)**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**마스킹**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이란 원래의 단어가 무엇이었는지 모르게 한다는 뜻.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인공 신경망에게 이렇게 마스킹 된 단어들을(Masked words) '예측'하도록 함.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문장 중간에 구멍을 뚫어놓고, 구멍에 들어갈 단어들을 예측하게 하는 식입니다.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예] 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`'나는 [MASK]에 가서 그곳에서 빵과 [MASK]를 샀다'`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``를 주고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[MASK]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 들어갈 단어를 맞추게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87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버트(Bidirectional Encoder Representations from Transformers, BERT)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![](https://media.gettyimages.com/id/97258631/photo/bert-and-elmo-prepare-for-the-show-in-a-dressing-room-backst.jpg?s=1024x1024&amp;w=gi&amp;k=20&amp;c=ttFn_t6FuOjLL5ofEi5GgzFo2JsXQTBcQ8hfuOKFg_g=)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2018년에 구글이 공개한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**사전 훈련된 모델**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BERT라는 이름은 세서미 스트리트라는 미국 인형극의 케릭터 이름이기도 한데,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소개한 임베딩 방법론인 ELMo와 마찬가지로 세서미 스트리트의 케릭터 이름을 따온 것이기도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2018년에 공개되어 등장과 동시에 수많은 NLP 태스크에서 최고 성능을 보여주면서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명실공히 NLP의 한 획을 그은 모델로 평가받고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9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※ huggingface 란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![](https://huggingface.co/datasets/huggingface/brand-assets/resolve/main/hf-logo.svg)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https://huggingface.co/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Hugging Face는 자연어 처리(NLP), 컴퓨터 비전(CV), 음성 처리 등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**다양한 머신 러닝 모델**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쉽게 사용하고 배포할 수 있도록 지원하는 오픈소스 플랫폼이자 커뮤니티입니다.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특히,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**대규모 언어 모델(LLM) 및 전이 학습(Transfer Learning)**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프레임워크를 중심으로 한 도구와 서비스를 제공합니다.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Hugging Face는 데이터 과학자, 연구자, 엔지니어들이 머신 러닝 모델을 쉽게 활용하고, 학습시키고, 배포할 수 있도록 도와주는 라이브러리와 클라우드 서비스를 제공합니다. 가장 유명한 라이브러리는 Transformers이며, 이는 NLP 및 다양한 AI 작업에 널리 사용됩니다.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6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1. BERT 개요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트랜스포머를 이용하여 구현됨,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위키피디아(25억 단어)와 BooksCorpus(8억 단어)와 같은 레이블이 없는 텍스트 데이터로 '사전 훈련된 언어 모델'.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성능이 높은 이유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'레이블이 없는 방대한 데이터'로 '사전 훈련'된 모델을 가지고,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레이블이 있는 다른 작업(Task)에서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**'추가 훈련'**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과 함께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**하이퍼파라미터를 재조정**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모델을 사용하면 성능이 높게 나오는 기존의 사례들을 참고하였기 때문.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10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파인 튜닝 Fine-tuning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다른 작업에 대해서 '파라미터 재조정'을 위한 '추가 훈련 과정'을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**파인 튜닝(Fine-tuning, 미세조정)**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이라고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![](https://wikidocs.net/images/page/35594/%ED%8C%8C%EC%9D%B8%ED%8A%9C%EB%8B%9D.PNG)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↑위의 그림은 BERT의 파인 튜닝 예시입니다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하고 싶은 태스크가 스팸 메일 분류라고 하였을 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이미 위키피디아 등으로 '사전 학습된 BERT' 위에 '분류를 위한 신경망을 한 층 추가'합니다.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경우, 비유하자면 BERT가 언어 모델 사전 학습 과정에서 얻은 지식을 활용할 수 있으므로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스팸 메일 분류에서 보다 더 좋은 성능을 얻을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이전에 언급한 ELMo나 OpenAI GPT-1 등이 이러한 파인 튜닝 사례의 대표적인 예입니다.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10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2. BERT의 크기 (BERT-Base, BERT-Large)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![](https://wikidocs.net/images/page/35594/bartbase%EC%99%80large.PNG)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기본 구조는 트랜스포머의 '인코더'를 쌓아올린 구조.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'Base 버전' 에서는 총 12개,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'Large 버전'에서는 총 24개를 쌓았습니다.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Large 버전은 Base 버전보다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d_model의 크기나 셀프 어텐션 헤드(Self Attention Heads)의 수가 더 큽니다.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 인코더 층의 수를 L, d_model의 크기를 D, 셀프 어텐션 헤드의 수를 A라고 하였을 때 각각의 크기는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BERT-Base : L=12, D=768, A=12 : 110M개의 파라미터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BERT-Large : L=24, D=1024, A=16 : 340M개의 파라미터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※ 아래 예제 에서는 편의를 위해 BERT-BASE를 기준으로 설명합니다.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6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3. BERT의 문맥을 반영한 임베딩(Contextual Embedding)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문맥을 반영한 임베딩(Contextual Embedding)을 사용함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![](https://wikidocs.net/images/page/115055/bert0.PNG)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임베딩 층(Embedding layer)를 지난 임베딩 벡터들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d_model이 768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768차원의 임베딩 벡터된 단어가 BERT의 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출력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내부 연산후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동일하게 각 단어에 대해서 768차원의 벡터 출력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110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연산을 거친 후 출력 임베딩은 '문장의 문맥을 모두 참고'한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**문맥을 반영한 임베딩**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[좌측 그림]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라는 벡터는 BERT의 초기 입력으로 사용되었을 입력 임베딩 당시에는 단순히 임베딩 층(embedding layer)를 지난 임베딩 벡터였지만,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BERT를 지나고 나서는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I, love, you라는 모든 단어 벡터들을 '모두 참고'한 후에 문맥 정보를 가진 벡터가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※ 모든 단어를 참고하고 있다는 것을 점선의 화살표로 표현하였습니다.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이는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라는 단어 벡터 뿐만 아니라 다른 벡터들도 전부 마찬가지.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가령, 우측의 그림에서 출력 임베딩 단계의 love를 보면 BERT의 입력이었던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모든 단어들인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I, love, you를 참고하고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5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하나의 단어가 모든 단어를 참고하는 연산은 BERT 의 '12개 층'에서 전부 이루어지는 연산입니다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이를 12개의 층을 지난 후에 최종적으로 출력 임베딩을 얻게되는 것입니다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↓ BERT 첫번째 층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![](https://wikidocs.net/images/page/115055/%EA%B7%B8%EB%A6%BC3.PNG)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층의 출력임베딩은 ==&gt; 두번째 층의 입력 ,임베딩이 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가 '문맥을 반영한 출력 임베딩' 을 얻게 되는 이유!  =&gt;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**셀프 어텐션**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![](https://wikidocs.net/images/page/115055/%EA%B7%B8%EB%A6%BC4.PNG)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는 트랜스포머 인코더를 12번 쌓음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층마다 '멀티 헤드 셀프 어텐션'과 '포지션 와이즈 피드 포워드 신경망'을 수행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5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4. BERT의 서브워드 토크나이저 : WordPiece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단어보다 더 작은 단위로 쪼개는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**서브워드 토크나이저**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사용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BERT가 사용한 토크나이저는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**WordPiece 토크나이저**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서브워드 토크나이저 기본 아이디어!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자주 등장하는 단어는 그대로 단어 집합에 추가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자주 등장하지 않는 단어의 경우에는 더 작은 단위인 '서브워드'로 분리되어 서브워드들이 단어 집합에 추가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이렇게 단어 집합이 만들어지고 나면, 이 단어 집합을 기반으로 토큰화를 수행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148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**BERT 에서 토크화 수행 방식**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준비물 : 이미 훈련 데이터로부터 만들어진 단어 집합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토큰이 단어 집합에 존재한다.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→ 해당 토큰을 분리하지 않는다.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토큰이 단어 집합에 존재하지 않는다.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→ 해당 토큰을 서브워드로 분리한다.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→ 해당 토큰의 첫번째 서브워드를 제외한 나머지 서브워드들은 앞에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**"##"**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붙인 것을 토큰으로 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3.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[예시]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`embeddings`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 단어가 입력으로 들어왔을때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단어 집합에 해당 단어가 존재하지 않는다면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서브워드 토크나이저가 아니라면 OOV 문제 발생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서브워드 토크나이저의 경우 해당 단어를 더 쪼개려고 시도합니다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만약, BERT의 단어 집합에 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`em`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`##bed`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`##ding`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`#s`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``라는 서브 워드들이 존재한다면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`embeddings`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`는 ==&gt; 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`em`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`##bed`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`##ding`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`##s`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``로 분리됩니다.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**##**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은 이 서브워드들은 단어의 중간부터 등장하는 '서브워드'라는 것을 알려주기 위해 단어 집합 생성 시 표시해둔 기호입니다.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이런 표시가 있어야만 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`em`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`##bed`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`##ding`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`, 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`##s`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``를 다시 손쉽게 embeddings로 복원할 수 있을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/>
        </p:nvSpPr>
        <p:spPr>
          <a:xfrm>
            <a:off x="0" y="0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'Here is the sentence I want embeddings for.'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/>
        </p:nvSpPr>
        <p:spPr>
          <a:xfrm>
            <a:off x="0" y="0"/>
            <a:ext cx="30000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(tokenizer.vocab[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'em'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(tokenizer.vocab[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'##bed'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(tokenizer.vocab[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'##ding'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(tokenizer.vocab[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'##s'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/>
        </p:nvSpPr>
        <p:spPr>
          <a:xfrm>
            <a:off x="0" y="0"/>
            <a:ext cx="30000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참고] BERT에서 사용되는 특별 토큰들과 정숫값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**[PAD] - 0**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padding token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**[UNK] - 100**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unknown token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**[CLS] - 101**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classification token. 문장의 시작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**[SEP] - 102**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separator token.  문장의 끝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**[MASK] - 103**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mask token  (마스크언어모델 MLM 에서 사용)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0" y="0"/>
            <a:ext cx="3000000" cy="261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트랜스포머에서는 sin, cos 함수를 사용하여 포지셔널 인코딩(Positional Encoding)이라는 방법을 통해 단어의 위치 정보를 표현했습니다. 포지셔널 인코딩은 사인 함수와 코사인 함수를 사용하여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위치에 따라 다른 값을 가지는 행렬을 만들어 이를 단어 벡터들과 더하는 방법입니다.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에선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**학습**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통해서 얻는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**포지션 임베딩(Position Embedding)**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이라는 방법을 사용하여 단어의 위치 정보를 표현함.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포지션 임베딩 (예시 그림) : 2개의 임베딩 층 사용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단어의 임베딩 벡터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포지션 임베딩 벡터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![](https://wikidocs.net/images/page/115055/%EA%B7%B8%EB%A6%BC5.PNG)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[위 그림 설명]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WordPiece Embedding은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우리가 이미 알고 있는 단어 임베딩으로 실질적인 '입력'입니다.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이 입력에 포지션 임베딩을 통해서 '위치 정보'를 더해주어야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포지션 임베딩의 아이디어는 굉장히 간단한데,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위치 정보를 위한 임베딩 층(Embedding layer)을 하나 더 사용합니다.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가령, 문장의 길이가 4라면 4개의 포지션 임베딩 벡터를 학습시킵니다.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BERT의 입력마다 다음과 같이 포지션 임베딩 벡터를 더해주는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단어의 임베딩 벡터 + 0번 포지션 임베딩 벡터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 단어의 임베딩 벡터 + 1번 포지션 임베딩 벡터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세번째 단어의 임베딩 벡터 + 2번 포지션 임베딩 벡터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네번째 단어의 임베딩 벡터 + 3번 포지션 임베딩 벡터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실제 BERT에서는 문장의 최대 길이를 512로 하고 있으므로, 총 512개의 포지션 임베딩 벡터가 학습됩니다.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결론적으로 현재 설명한 내용을 기준으로는 BERT에서는 총 두 개의 임베딩 층이 사용됩니다.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단어 집합의 크기가 30,522개인 단어 벡터를 위한 임베딩 층과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문장의 최대 길이가 512이므로 512개의 포지션 벡터를 위한 임베딩 층입니다.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사실 BERT는 세그먼트 임베딩(Segment Embedding)이라는 1개의 임베딩 층을 더 사용합니다.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이에 대해서는 뒤에 언급합니다...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0" y="0"/>
            <a:ext cx="30000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BERT의 사전 훈련 방법  두 가지로 나뉜다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**마스크드 언어 모델(MLM, Masked Language Model)**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**다음 문장 예측(NSP, Next sentence prediction)**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/>
        </p:nvSpPr>
        <p:spPr>
          <a:xfrm>
            <a:off x="0" y="0"/>
            <a:ext cx="3000000" cy="379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BERT, GPT-1, ELMo &lt;= 자연어 처리 분야에서 획기적인 변화를 몰고온 모델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![](https://wikidocs.net/images/page/35594/bert-openai-gpt-elmo-%EC%B6%9C%EC%B2%98-bert%EB%85%BC%EB%AC%B8.png)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**1. BERT (Bidirectional Encoder Representations from Transformers)**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**발표**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2018년 (Google)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**핵심 아이디어**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**인코더 구조**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사용하며, 문장의 양방향 문맥을 동시에 학습.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 가지 사전 학습 태스크를 사용: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1.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**Masked Language Model (MLM)**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일부 단어를 가리고 이를 예측.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2.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**Next Sentence Prediction (NSP)**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두 문장이 연결되는지 판단.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**특징**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양방향 문맥 표현으로 단어의 풍부한 의미를 학습.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다양한 NLP 태스크에서 state-of-the-art 성능 달성.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**장점**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ELMo보다 더 정교한 문맥 정보를 제공.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양방향 학습으로 문장 내의 더 깊은 관계를 파악 가능.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**한계**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사전 학습 비용이 매우 큼(대규모 데이터와 컴퓨팅 자원 필요).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**2. GPT-1 (Generative Pre-trained Transformer 1)**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**발표**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2018년 (OpenAI)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**핵심 아이디어**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 아키텍처를 사용하여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**사전 학습(pre-training)**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**미세 조정(fine-tuning)**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개념을 도입했습니다.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언어 모델링(다음 단어 예측)을 통해 대규모 데이터에서 사전 학습을 수행한 후, 특정 태스크에 맞게 미세 조정.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**특징**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**디코더 구조**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사용.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단방향 언어 모델(이전 토큰만 참조 가능).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**장점**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전이 학습(transfer learning)의 효과를 보여줌.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당시 기준으로 여러 NLP 태스크에서 높은 성능 달성.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**한계**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단방향 특성으로 인해 문맥을 완전히 활용하지 못함.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**3. ELMo (Embeddings from Language Models)**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**발표**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2018년 (AllenNLP 팀)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**핵심 아이디어**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ELMo는 단어의 의미를 문맥에 따라 동적으로 표현합니다. 이전에는 단어를 고정된 벡터(Word2Vec, GloVe 등)로 표현했지만, ELMo는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**문맥에 따라 단어 임베딩이 달라지는 방식**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도입했습니다.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양방향 LSTM을 사용하여 문장의 양방향 정보를 활용합니다.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**장점**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"bank" 같은 단어의 다의성을 문맥을 통해 구별할 수 있음.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다양한 NLP 태스크(문장 분류, 개체명 인식 등)에 쉽게 적용 가능.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**한계**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LSTM 기반이라 대규모 데이터를 처리하는 데 시간이 오래 걸림.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**비교 요약**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 모델   | 구조                     | 방향성        | 주요 특징                          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|--------|--------------------------|---------------|-------------------------------------|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BERT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트랜스포머 인코더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양방향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MLM, NSP 사용, 문맥 이해에 강점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GPT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트랜스포머 디코더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단방향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전이 학습 도입, 생성 중심  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ELMo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LSTM            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양방향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문맥에 따른 동적 임베딩    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모델들은 이후의 GPT-3, T5, ChatGPT와 같은 발전된 모델들의 기반이 되었습니다. 더 궁금한 점이 있다면 말씀해주세요!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1) 마스크드 언어 모델(Masked Language Model, MLM)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사전 훈련을 위해서 인공 신경망의 입력으로 들어가는 입력 텍스트의 15%의 단어를 랜덤으로 마스킹(Masking) 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인공 신경망에게 이 가려진 단어들을(Masked words) 예측하도록 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0" y="0"/>
            <a:ext cx="3000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80%의 단어들은 [MASK]로 변경한다.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Ex) The man went to the store → The man went to the [MASK]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10%의 단어들은 랜덤으로 단어가 변경된다.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Ex) The man went to the store → The man went to the dog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10%의 단어들은 동일하게 둔다.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Ex) The man went to the store → The man went to the store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/>
          <p:nvPr/>
        </p:nvSpPr>
        <p:spPr>
          <a:xfrm>
            <a:off x="0" y="0"/>
            <a:ext cx="30000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![](https://wikidocs.net/images/page/115055/%EC%A0%84%EC%B2%B4%EB%8B%A8%EC%96%B4.PNG)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전체 단어의 85% 학습에 사용되지 않음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전체 단어의 15% 만 학습에 사용됨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12% 는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[MASK]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로 변경 후에 원래 단어를 예측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1.5%는 랜덤으로 단어가 변경된 후에 원래 단어를 예측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1.5%는 단어가 변경되지는 않았지만,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이 단어가 변경된 단어인지 원래 단어가 맞는지는 알 수 없슴.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경우에도 BERT는 원래 단어가 무엇인지를 예측하도록 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**[예시]**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문장 : 'My dog is cute. he likes playing'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전처리, BERT 의 서브워드 토크나이징 후 :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['my', 'dog', 'is' 'cute', 'he', 'likes', 'play', '##ing']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 토크화된 결과를  BERT 의 입력으로 사용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 txBox="1"/>
          <p:nvPr/>
        </p:nvSpPr>
        <p:spPr>
          <a:xfrm>
            <a:off x="0" y="0"/>
            <a:ext cx="3000000" cy="8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↓ 언어모델 학습을 위해 다음과 같이 데이터가 변경되었다고 가정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↓ 'dog' 토큰은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[MASK]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로 변경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↓ BERT 모델이 원래 단어를 맞추려고 하는 모습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![](https://wikidocs.net/images/page/115055/%EA%B7%B8%EB%A6%BC8.PNG)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오직 'dog' 위치의 출력층의 벡터만이 사용됨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다른 위치의 벡터들은 예측과 학습에 사용되지 않음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구체적으로는 BERT의 손실 함수에서 다른 위치에서의 예측은 무시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출력층에서는 예측을 위해 단어 집합의 크기만큼의 밀집층(Dense layer)에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소프트맥스 함수가 사용된 1개의 층을 사용하여 원래 단어가 무엇인지를 맞추게 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6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↓ 다음과 같이 데이터셋이 변경되었다면 어떨까?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'dog' 토큰은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[MASK]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로 변경.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'he'는 랜덤 단어 'king'으로 변경.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'play'는 변경되진 않았지만 예측에 사용됨.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![](https://wikidocs.net/images/page/115055/%EA%B7%B8%EB%A6%BC9.PNG)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/>
        </p:nvSpPr>
        <p:spPr>
          <a:xfrm>
            <a:off x="0" y="0"/>
            <a:ext cx="3000000" cy="9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2) 다음 문장 예측(Next Sentence Prediction, NSP)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**두 개의 문장**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을 준 후에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문장이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**'이어지는 문장'인지 아닌지**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맞추는 방식으로 훈련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실제 이어지는 두개의 문장 50%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램덤으로 이어붙인 두개의 문장 50%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label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이어지는 문장 여부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● 이어지는 문장의 경우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Sentence A : The man went to the store.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Sentence B : He bought a gallon of milk.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Label = IsNextSentence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● 이어지는 문장이 아닌 경우 경우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Sentence A : The man went to the store.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Sentence B : dogs are so cute.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Label = NotNextSentence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8"/>
          <p:cNvSpPr txBox="1"/>
          <p:nvPr/>
        </p:nvSpPr>
        <p:spPr>
          <a:xfrm>
            <a:off x="0" y="0"/>
            <a:ext cx="3000000" cy="87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![](https://wikidocs.net/images/page/115055/%EA%B7%B8%EB%A6%BC10.PNG)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**[SEP]**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 : BERT의 입력시 문장의 끝에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[SEP]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토큰을 사용하여 문장을 구분.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**[CLS]**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 : 이 두 문장이 실제 '이어지는 문장인지 아닌지'를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토큰의 위치의 출력층에서 이진 분류 문제로 풀도록 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'마스크드 언어 모델'과 '다음 문장 예측'은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따로 학습하는 것이 아닌 loss를 합하여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**학습이 '동시에 이루어집니다'**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BERT가 NSP를 학습하는 이유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풀고자 하는 태스크 중에서는 QA(Question Answering)나 NLI(Natural Language Inference)와 같이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**두 문장의 관계**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이해하는 것이 중요한 태스크들이 있기 때문.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9"/>
          <p:cNvSpPr txBox="1"/>
          <p:nvPr/>
        </p:nvSpPr>
        <p:spPr>
          <a:xfrm>
            <a:off x="0" y="0"/>
            <a:ext cx="3000000" cy="14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7. 세그먼트 임베딩(Segment Embedding)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![](https://wikidocs.net/images/page/115055/%EA%B7%B8%EB%A6%BC7.PNG)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QA 등과 같은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**두 개의 문장 입력**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필요한 태스크를 풀기도 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BERT가 '구분' 하는 '문장' 이라는 것은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[SEP]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토큰으로 구분되는 문장을 의미하는 것은 아닙니다.  (다음에 설명)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Segment Embedding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**'문장구분'**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을 위해 BERT 에서 사용하는 또 다른 임베딩 층 (Embedding layer)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문장에는 Sentence 0 임베딩,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 문장에는 Sentence 1 임베딩을 더해주는 방식.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임베딩 벡터는 두 개만 사용됨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Segment A (혹은 Segment ID: 0)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문장에 해당하는 토큰들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Segment B (혹은 Segment ID: 1)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 문장에 해당하는 토큰들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결론적으로 BERT는 총 3개의 임베딩 층이 사용됩니다.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WordPiece Embedding : 실질적인 입력이 되는 워드 임베딩. 임베딩 벡터의 종류는 단어 집합의 크기로 30,522개.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Position Embedding : 위치 정보를 학습하기 위한 임베딩. 임베딩 벡터의 종류는 문장의 최대 길이인 512개.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Segment Embedding : 두 개의 문장을 구분하기 위한 임베딩. 임베딩 벡터의 종류는 문장의 최대 개수인 2개.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0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**주의! 위에서 말하는 BERT의 입력 '문장' 이란**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단순히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[SEP]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토큰으로 나뉘는 문장의 의미가 아니다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ex)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[Q,A]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두 종류의 텍스트로 입력 받아도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 개의 문장은 실제로 두 종류의 텍스트, 두개의 문서 일수도 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1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BERT가 두 개의 문장을 입력받을 필요가 없는 경우도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 네이버 영화 리뷰 분류나 IMDB 리뷰 분류와 같은 감성 분류 태스크에서는 한 개의 문서에 대해서만 분류를 하는 것이므로,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경우에는 BERT의 전체 입력에 Sentence 0 임베딩만을 더해줍니다.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2"/>
          <p:cNvSpPr txBox="1"/>
          <p:nvPr/>
        </p:nvSpPr>
        <p:spPr>
          <a:xfrm>
            <a:off x="0" y="0"/>
            <a:ext cx="3000000" cy="480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**BERT의 Fine-tuning**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은 사전 학습된 BERT 모델을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**특정 NLP 태스크**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(예: 문장 분류, 감정 분석, 질의응답 등)에 맞게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**미세 조정**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하는 과정을 의미합니다. 이 과정은 사전 학습(pre-training)과 대조적으로, 특정 태스크의 데이터를 사용해 BERT 모델을 최적화하는 단계입니다.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※ BERT Fine-tuning 에 대해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**BERT Fine-tuning의 개념**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**사전 학습(Pre-training)**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대규모 비지도 데이터에서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**Masked Language Model(MLM)**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**Next Sentence Prediction(NSP)**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태스크로 학습됩니다.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과정에서 BERT는 언어의 일반적인 문맥과 구조를 이해하는 데 필요한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**범용적인 표현(representation)**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학습합니다.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**미세 조정(Fine-tuning)**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사전 학습된 모델을 기반으로, 특정 NLP 태스크(감정 분석, 문장 분류, 번역 등)에 맞게 추가 학습을 진행합니다.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 모델은 태스크에 적합한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**작은 크기의 데이터셋**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으로 조정되며,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**태스크 전용 출력 레이어**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추가합니다.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**Fine-tuning의 과정**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**태스크 데이터 준비**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특정 태스크의 레이블이 포함된 데이터셋을 준비합니다.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예: 감정 분석 태스크라면 각 문장에 긍정/부정 레이블이 포함된 데이터셋.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**모델 구조 설정**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모델의 출력 위에 간단한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**태스크 전용 헤드(head)**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추가합니다.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예: 문장 분류의 경우,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토큰의 출력 위에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**Softmax 분류기**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추가.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3.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**태스크 데이터로 학습**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특정 태스크의 데이터를 사용해 BERT를 학습합니다.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 BERT의 모든 가중치(Transformer 층 포함)를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**미세 조정**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하며, 사전 학습된 지식과 새로운 태스크 데이터를 결합합니다.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4.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**최적화**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일반적으로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**AdamW**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옵티마이저와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**Learning Rate Scheduler**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사용해 학습.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Fine-tuning 단계에서는 보통 낮은 학습률(learning rate)을 사용하여 사전 학습된 지식을 보존하면서 태스크에 맞게 조정.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**Fine-tuning의 예시**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#### 감정 분석(Sentiment Analysis):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**입력**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`I love this movie!`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**과정**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문장은 BERT 입력 형식으로 변환 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`[CLS] I love this movie! [SEP]`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2.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토큰의 최종 출력(히든 상태)을 사용해 감정(긍정/부정)을 분류.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**출력**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긍정(Positive).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#### 질의응답(Q&amp;A):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**입력**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질문: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`Who is the president of the United States?`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문서: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`Joe Biden is the president of the United States.`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**과정**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질문과 문서를 함께 입력받음(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`[CLS] 질문 [SEP] 문서 [SEP]`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2.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답변의 시작점과 끝점을 예측.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**출력**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`Joe Biden`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**Fine-tuning의 장점**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**작은 데이터셋으로 학습 가능**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BERT는 이미 사전 학습 단계에서 언어에 대한 풍부한 지식을 학습했기 때문에, 적은 양의 데이터로도 높은 성능을 달성할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**다양한 태스크 적용**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문장 분류, 문장 관계 추론, 질의응답, 번역 등 다양한 태스크에 적용 가능.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3.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**사전 학습의 범용성 활용**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범용적인 언어 표현을 특정 문제에 적합하게 미세 조정하여 높은 효율을 보임.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**Fine-tuning과 Feature Extraction의 차이**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**Fine-tuning**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사전 학습된 모델의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**모든 가중치**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특정 태스크에 맞게 조정.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모델 전체를 학습 데이터에 적합하게 업데이트.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**Feature Extraction**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사전 학습된 모델의 출력(예: BERT의 마지막 히든 레이어)을 고정된 특징으로 사용하고, 추가적인 모델(예: SVM, MLP)을 학습.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Fine-tuning은 대부분의 경우 더 높은 성능을 발휘하지만, 학습 시간이 오래 걸릴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Fine-tuning은 NLP 태스크를 해결하는 데 매우 강력하며, 이를 통해 특정 문제에 대해 사전 학습된 언어 지식을 효과적으로 활용할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3"/>
          <p:cNvSpPr txBox="1"/>
          <p:nvPr/>
        </p:nvSpPr>
        <p:spPr>
          <a:xfrm>
            <a:off x="0" y="0"/>
            <a:ext cx="3000000" cy="8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1) 하나의 텍스트에 대한 텍스트 분류 유형(Single Text Classification)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![](https://wikidocs.net/images/page/115055/apply1.PNG)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영화 리뷰 감성 분류, 로이터 뉴스 분류 등과 같이 입력된 문서에 대해서 '분류'를 하는 유형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문서의 시작에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라는 토큰을 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토큰은 BERT가 분류 문제를 풀기위한 특별한 토큰! → 이는 BERT를 실질적으로 사용하는 단계인 파인 튜닝 단계에서도 마찬가지입니다.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텍스트 분류 문제를 풀기 위해서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[CLS]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토큰의 위치의 출력층에서 밀집층(Dense layer),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(aka. 완전 연결층(fully-connected layer))을 추가하여 분류에 대한 예측을 하게됩니다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4"/>
          <p:cNvSpPr txBox="1"/>
          <p:nvPr/>
        </p:nvSpPr>
        <p:spPr>
          <a:xfrm>
            <a:off x="0" y="0"/>
            <a:ext cx="3000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2) 하나의 텍스트에 대한 태깅 작업(Tagging)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![](https://wikidocs.net/images/page/115055/apply2.PNG)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태깅작업 예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단어에 품사를 태깅하는 '품사 태깅'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개체를 태깅하는 '개체명 인식 작업 (NER: Named Entity Recognition)'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출력층에서는 입력 텍스트의 각 토큰의 위치에 밀집층을 사용하여 분류에 대한 예측 수행.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5"/>
          <p:cNvSpPr txBox="1"/>
          <p:nvPr/>
        </p:nvSpPr>
        <p:spPr>
          <a:xfrm>
            <a:off x="0" y="0"/>
            <a:ext cx="3000000" cy="6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3) 텍스트의 쌍에 대한 분류 또는 회귀 문제(Text Pair Classification or Regression)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![](https://wikidocs.net/images/page/115055/apply3.PNG)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텍스트의 쌍(Text pair)을 입력받는 태스크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대표적인 예 =&gt; 자연어 추론 (NLI. Natural language inference)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 문장이 주어졌을 때, 하나의 문장이 다른 문장과 논리적으로 어떤 관계에 있는지를 분류하는 것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분류 유형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모순 관계(contradiction)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함의 관계(entailment)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중립 관계(neutral)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6"/>
          <p:cNvSpPr txBox="1"/>
          <p:nvPr/>
        </p:nvSpPr>
        <p:spPr>
          <a:xfrm>
            <a:off x="0" y="0"/>
            <a:ext cx="30000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4) 질의 응답(Question Answering)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![](https://wikidocs.net/images/page/115055/apply4.PNG)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QA(Question Answering) 태스크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'질문' 과 '본문' 두개의 텍스트의 쌍을 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[예시]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'질문' : "강우가 떨어지도록 영향을 주는 것은?"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'본문' : "기상학에서 강우는 대기 수증기가 응결되어 중력의 영향을 받고 떨어지는 것을 의미합니다. 강우의 주요 형태는 이슬비, 비, 진눈깨비, 눈, 싸락눈 및 우박이 있습니다."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'정답' : '중력'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7"/>
          <p:cNvSpPr txBox="1"/>
          <p:nvPr/>
        </p:nvSpPr>
        <p:spPr>
          <a:xfrm>
            <a:off x="0" y="0"/>
            <a:ext cx="3000000" cy="7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9. 그 외 기타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훈련 데이터는 위키피디아(25억 단어)와 BooksCorpus(8억 단어) ≈ 33억 단어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WordPiece 토크나이저로 토큰화를 수행 후 15% 비율에 대해서 마스크드 언어 모델 학습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 문장 Sentence A와 B의 합한 길이. 즉, 최대 입력의 길이는 512로 제한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100만 step 훈련 ≈ (총 합 33억 단어 코퍼스에 대해 40 에포크 학습)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옵티마이저 : 아담(Adam)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학습률(learning rate) : $10^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{-4}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가중치 감소(Weight Decay) : L2 정규화로 0.01 적용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드롭 아웃 : 모든 레이어에 대해서 0.1 적용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활성화 함수 : relu 함수가 아닌 gelu 함수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배치 크기(Batch size) : 256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8"/>
          <p:cNvSpPr txBox="1"/>
          <p:nvPr/>
        </p:nvSpPr>
        <p:spPr>
          <a:xfrm>
            <a:off x="0" y="0"/>
            <a:ext cx="3000000" cy="6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10. 어텐션 마스크(Attention Mask)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![](https://wikidocs.net/images/page/115055/%EA%B7%B8%EB%A6%BC11.PNG)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BERT를 실제로 실습하게 되면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마스크**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라는 시퀀스 입력이 추가로 필요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BERT가 어텐션 연산을 할 때, 불필요하게 패딩 토큰에 대해서 어텐션을 하지 않도록 실제 단어와 패딩 토큰을 구분할 수 있도록 알려주는 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0, 1 두가지 값을 가짐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 은 해당 토큰은 실제 단어이므로 마스킹을 하지 않는다라는 의미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 은 해당 토큰은 패딩 토큰이므로 마스킹을 한다는 의미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
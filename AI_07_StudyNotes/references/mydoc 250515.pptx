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35f6c9f9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35f6c9f9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35f6c9f9d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35f6c9f9d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35f6c9f9d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35f6c9f9d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35f6c9f9d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35f6c9f9d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35f6c9f9d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35f6c9f9d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5f6c9f9d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5f6c9f9d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35f6c9f9d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35f6c9f9d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5f6c9f9d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5f6c9f9d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5f6c9f9d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5f6c9f9d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35f6c9f9d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35f6c9f9d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5f6c9f9d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5f6c9f9d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5f6c9f9d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35f6c9f9d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35f6c9f9d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35f6c9f9d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5f6c9f9db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5f6c9f9db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5f6c9f9d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35f6c9f9d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5f6c9f9d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5f6c9f9d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35f6c9f9d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35f6c9f9d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35f6c9f9d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35f6c9f9d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35f6c9f9db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35f6c9f9d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35f6c9f9d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35f6c9f9d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5f6c9f9d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35f6c9f9d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35f6c9f9db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35f6c9f9db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5f6c9f9db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35f6c9f9db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5f6c9f9db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5f6c9f9db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35f6c9f9d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35f6c9f9d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35f6c9f9d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35f6c9f9d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35f6c9f9db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35f6c9f9db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35f6c9f9db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35f6c9f9db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35f6c9f9d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35f6c9f9d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5f6c9f9db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35f6c9f9d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35f6c9f9db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35f6c9f9db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35f6c9f9d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35f6c9f9d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0" y="0"/>
            <a:ext cx="3000000" cy="99396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1. 바다나우 어텐션 함수(Bahdanau Attention Function)</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어텐션 메커니즘을 함수 Attention()으로 정의하였을 때, 바다나우 어텐션 함수의 입, 출력은 다음과 같의 정의할 수 있습니다.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800000"/>
                </a:solidFill>
                <a:highlight>
                  <a:srgbClr val="F7F7F7"/>
                </a:highlight>
                <a:latin typeface="Consolas"/>
                <a:ea typeface="Consolas"/>
                <a:cs typeface="Consolas"/>
                <a:sym typeface="Consolas"/>
              </a:rPr>
              <a:t>&lt;br&gt;</a:t>
            </a:r>
            <a:endParaRPr sz="1500">
              <a:solidFill>
                <a:srgbClr val="80000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b="1" lang="ko" sz="1500">
                <a:solidFill>
                  <a:schemeClr val="dk1"/>
                </a:solidFill>
                <a:highlight>
                  <a:srgbClr val="F7F7F7"/>
                </a:highlight>
                <a:latin typeface="Consolas"/>
                <a:ea typeface="Consolas"/>
                <a:cs typeface="Consolas"/>
                <a:sym typeface="Consolas"/>
              </a:rPr>
              <a:t>**&lt;center&gt;Attention(Q,K,V) = Attention Value&lt;/center&gt;**</a:t>
            </a:r>
            <a:endParaRPr b="1"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800000"/>
                </a:solidFill>
                <a:highlight>
                  <a:srgbClr val="F7F7F7"/>
                </a:highlight>
                <a:latin typeface="Consolas"/>
                <a:ea typeface="Consolas"/>
                <a:cs typeface="Consolas"/>
                <a:sym typeface="Consolas"/>
              </a:rPr>
              <a:t>&lt;br&gt;</a:t>
            </a:r>
            <a:endParaRPr sz="1500">
              <a:solidFill>
                <a:srgbClr val="80000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1080"/>
                </a:solidFill>
                <a:highlight>
                  <a:srgbClr val="F7F7F7"/>
                </a:highlight>
                <a:latin typeface="Consolas"/>
                <a:ea typeface="Consolas"/>
                <a:cs typeface="Consolas"/>
                <a:sym typeface="Consolas"/>
              </a:rPr>
              <a:t>t = 어텐션 메커니즘이 수행되는 디코더 셀의 현재 시점을 의미.</a:t>
            </a:r>
            <a:endParaRPr sz="1500">
              <a:solidFill>
                <a:srgbClr val="00108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1080"/>
                </a:solidFill>
                <a:highlight>
                  <a:srgbClr val="F7F7F7"/>
                </a:highlight>
                <a:latin typeface="Consolas"/>
                <a:ea typeface="Consolas"/>
                <a:cs typeface="Consolas"/>
                <a:sym typeface="Consolas"/>
              </a:rPr>
              <a:t>Q = Query : t-1 시점의 디코더 셀에서의 은닉 상태</a:t>
            </a:r>
            <a:endParaRPr sz="1500">
              <a:solidFill>
                <a:srgbClr val="00108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1080"/>
                </a:solidFill>
                <a:highlight>
                  <a:srgbClr val="F7F7F7"/>
                </a:highlight>
                <a:latin typeface="Consolas"/>
                <a:ea typeface="Consolas"/>
                <a:cs typeface="Consolas"/>
                <a:sym typeface="Consolas"/>
              </a:rPr>
              <a:t>K = Keys : 모든 시점의 인코더 셀의 은닉 상태들</a:t>
            </a:r>
            <a:endParaRPr sz="1500">
              <a:solidFill>
                <a:srgbClr val="00108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1080"/>
                </a:solidFill>
                <a:highlight>
                  <a:srgbClr val="F7F7F7"/>
                </a:highlight>
                <a:latin typeface="Consolas"/>
                <a:ea typeface="Consolas"/>
                <a:cs typeface="Consolas"/>
                <a:sym typeface="Consolas"/>
              </a:rPr>
              <a:t>V = Values : 모든 시점의 인코더 셀의 은닉 상태들</a:t>
            </a:r>
            <a:endParaRPr sz="1500">
              <a:solidFill>
                <a:srgbClr val="00108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여기서는 어텐션 함수의 Query가 디코더 셀의 t 시점의 은닉 상태가 아니라 </a:t>
            </a:r>
            <a:r>
              <a:rPr b="1" lang="ko" sz="1500">
                <a:solidFill>
                  <a:schemeClr val="dk1"/>
                </a:solidFill>
                <a:highlight>
                  <a:srgbClr val="F7F7F7"/>
                </a:highlight>
                <a:latin typeface="Consolas"/>
                <a:ea typeface="Consolas"/>
                <a:cs typeface="Consolas"/>
                <a:sym typeface="Consolas"/>
              </a:rPr>
              <a:t>**t-1 시점의 은닉 상태**</a:t>
            </a:r>
            <a:r>
              <a:rPr lang="ko" sz="1500">
                <a:solidFill>
                  <a:schemeClr val="dk1"/>
                </a:solidFill>
                <a:highlight>
                  <a:srgbClr val="F7F7F7"/>
                </a:highlight>
                <a:latin typeface="Consolas"/>
                <a:ea typeface="Consolas"/>
                <a:cs typeface="Consolas"/>
                <a:sym typeface="Consolas"/>
              </a:rPr>
              <a:t>임을 주의하셔야 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0" y="0"/>
            <a:ext cx="3000000" cy="177321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![](https://wikidocs.net/images/page/73161/%EB%B0%94%EB%8B%A4%EB%82%98%EC%9A%B0%EC%96%B4%ED%85%90%EC%85%981.PNG)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인코더의 시점(time step)을 각각 1, 2, ... N이라고 하였을 때 </a:t>
            </a:r>
            <a:r>
              <a:rPr b="1" lang="ko" sz="1500">
                <a:solidFill>
                  <a:schemeClr val="dk1"/>
                </a:solidFill>
                <a:highlight>
                  <a:srgbClr val="F7F7F7"/>
                </a:highlight>
                <a:latin typeface="Consolas"/>
                <a:ea typeface="Consolas"/>
                <a:cs typeface="Consolas"/>
                <a:sym typeface="Consolas"/>
              </a:rPr>
              <a:t>**인코더의 은닉 상태(hidden state)**</a:t>
            </a:r>
            <a:r>
              <a:rPr lang="ko" sz="1500">
                <a:solidFill>
                  <a:schemeClr val="dk1"/>
                </a:solidFill>
                <a:highlight>
                  <a:srgbClr val="F7F7F7"/>
                </a:highlight>
                <a:latin typeface="Consolas"/>
                <a:ea typeface="Consolas"/>
                <a:cs typeface="Consolas"/>
                <a:sym typeface="Consolas"/>
              </a:rPr>
              <a:t>를 각각 $h_1, h_2, ... h_N$</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라고 합시다.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디코더의 현재 시점(time step) t에서의 </a:t>
            </a:r>
            <a:r>
              <a:rPr b="1" lang="ko" sz="1500">
                <a:solidFill>
                  <a:schemeClr val="dk1"/>
                </a:solidFill>
                <a:highlight>
                  <a:srgbClr val="F7F7F7"/>
                </a:highlight>
                <a:latin typeface="Consolas"/>
                <a:ea typeface="Consolas"/>
                <a:cs typeface="Consolas"/>
                <a:sym typeface="Consolas"/>
              </a:rPr>
              <a:t>**디코더의 은닉 상태(hidden state)**</a:t>
            </a:r>
            <a:r>
              <a:rPr lang="ko" sz="1500">
                <a:solidFill>
                  <a:schemeClr val="dk1"/>
                </a:solidFill>
                <a:highlight>
                  <a:srgbClr val="F7F7F7"/>
                </a:highlight>
                <a:latin typeface="Consolas"/>
                <a:ea typeface="Consolas"/>
                <a:cs typeface="Consolas"/>
                <a:sym typeface="Consolas"/>
              </a:rPr>
              <a:t>를 $s_t$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라고 합시다.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또한 여기서는 인코더의 은닉 상태와 디코더의 은닉 상태의 차원이 같다고 가정합니다. 위의 그림의 경우에는 인코더의 은닉 상태와 디코더의 은닉 상태가 동일하게 차원이 4입니다.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앞서 루옹 어텐션에서는 Query로 디코더의 t 시점의 은닉 상태를 사용한 것과는 달리 이번에는 t-1 시점의 은닉 상태 $s_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를 사용합니다.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800000"/>
                </a:solidFill>
                <a:highlight>
                  <a:srgbClr val="F7F7F7"/>
                </a:highlight>
                <a:latin typeface="Consolas"/>
                <a:ea typeface="Consolas"/>
                <a:cs typeface="Consolas"/>
                <a:sym typeface="Consolas"/>
              </a:rPr>
              <a:t>&lt;br&gt;</a:t>
            </a:r>
            <a:endParaRPr sz="1500">
              <a:solidFill>
                <a:srgbClr val="80000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바다나우 어텐션의 어텐션 스코어 함수. 즉,</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 과 인코더의 i번째 은닉 상태의 어텐션 스코어 계산 방법은 아래와 같습니다.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800000"/>
                </a:solidFill>
                <a:highlight>
                  <a:srgbClr val="F7F7F7"/>
                </a:highlight>
                <a:latin typeface="Consolas"/>
                <a:ea typeface="Consolas"/>
                <a:cs typeface="Consolas"/>
                <a:sym typeface="Consolas"/>
              </a:rPr>
              <a:t>&lt;h3&gt;&lt;center&gt;</a:t>
            </a:r>
            <a:r>
              <a:rPr lang="ko" sz="1500">
                <a:solidFill>
                  <a:schemeClr val="dk1"/>
                </a:solidFill>
                <a:highlight>
                  <a:srgbClr val="F7F7F7"/>
                </a:highlight>
                <a:latin typeface="Consolas"/>
                <a:ea typeface="Consolas"/>
                <a:cs typeface="Consolas"/>
                <a:sym typeface="Consolas"/>
              </a:rPr>
              <a:t>$score(s_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 h_i) = W</a:t>
            </a:r>
            <a:r>
              <a:rPr i="1" lang="ko" sz="1500">
                <a:solidFill>
                  <a:schemeClr val="dk1"/>
                </a:solidFill>
                <a:highlight>
                  <a:srgbClr val="F7F7F7"/>
                </a:highlight>
                <a:latin typeface="Consolas"/>
                <a:ea typeface="Consolas"/>
                <a:cs typeface="Consolas"/>
                <a:sym typeface="Consolas"/>
              </a:rPr>
              <a:t>_a^Ttanh(W_</a:t>
            </a:r>
            <a:r>
              <a:rPr lang="ko" sz="1500">
                <a:solidFill>
                  <a:srgbClr val="A31515"/>
                </a:solidFill>
                <a:highlight>
                  <a:srgbClr val="F7F7F7"/>
                </a:highlight>
                <a:latin typeface="Consolas"/>
                <a:ea typeface="Consolas"/>
                <a:cs typeface="Consolas"/>
                <a:sym typeface="Consolas"/>
              </a:rPr>
              <a:t>{bS_{t-1}}</a:t>
            </a:r>
            <a:r>
              <a:rPr lang="ko" sz="1500">
                <a:solidFill>
                  <a:schemeClr val="dk1"/>
                </a:solidFill>
                <a:highlight>
                  <a:srgbClr val="F7F7F7"/>
                </a:highlight>
                <a:latin typeface="Consolas"/>
                <a:ea typeface="Consolas"/>
                <a:cs typeface="Consolas"/>
                <a:sym typeface="Consolas"/>
              </a:rPr>
              <a:t> + W_ch_i)$</a:t>
            </a:r>
            <a:r>
              <a:rPr lang="ko" sz="1500">
                <a:solidFill>
                  <a:srgbClr val="800000"/>
                </a:solidFill>
                <a:highlight>
                  <a:srgbClr val="F7F7F7"/>
                </a:highlight>
                <a:latin typeface="Consolas"/>
                <a:ea typeface="Consolas"/>
                <a:cs typeface="Consolas"/>
                <a:sym typeface="Consolas"/>
              </a:rPr>
              <a:t>&lt;/center&gt;&lt;/h3&gt;</a:t>
            </a:r>
            <a:endParaRPr sz="1500">
              <a:solidFill>
                <a:srgbClr val="80000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단, $W_a, W_b, W_c$ 는 학습 가능한 가중치 행렬입니다.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$와 $h_1,h_2,h_3,h_4$</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의 어텐션 스코어를 각각 구해야하므로 병렬 연산을 위해 $h_1,h_2,h_3,h_4$</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를 하나의 행렬 $H$</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로 두겠습니다. 수식은 다음과 같이 변경됩니다.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800000"/>
                </a:solidFill>
                <a:highlight>
                  <a:srgbClr val="F7F7F7"/>
                </a:highlight>
                <a:latin typeface="Consolas"/>
                <a:ea typeface="Consolas"/>
                <a:cs typeface="Consolas"/>
                <a:sym typeface="Consolas"/>
              </a:rPr>
              <a:t>&lt;h3&gt;&lt;center&gt;</a:t>
            </a:r>
            <a:r>
              <a:rPr lang="ko" sz="1500">
                <a:solidFill>
                  <a:schemeClr val="dk1"/>
                </a:solidFill>
                <a:highlight>
                  <a:srgbClr val="F7F7F7"/>
                </a:highlight>
                <a:latin typeface="Consolas"/>
                <a:ea typeface="Consolas"/>
                <a:cs typeface="Consolas"/>
                <a:sym typeface="Consolas"/>
              </a:rPr>
              <a:t>$score(s_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 H) = W</a:t>
            </a:r>
            <a:r>
              <a:rPr i="1" lang="ko" sz="1500">
                <a:solidFill>
                  <a:schemeClr val="dk1"/>
                </a:solidFill>
                <a:highlight>
                  <a:srgbClr val="F7F7F7"/>
                </a:highlight>
                <a:latin typeface="Consolas"/>
                <a:ea typeface="Consolas"/>
                <a:cs typeface="Consolas"/>
                <a:sym typeface="Consolas"/>
              </a:rPr>
              <a:t>_a^Ttanh(W_</a:t>
            </a:r>
            <a:r>
              <a:rPr lang="ko" sz="1500">
                <a:solidFill>
                  <a:srgbClr val="A31515"/>
                </a:solidFill>
                <a:highlight>
                  <a:srgbClr val="F7F7F7"/>
                </a:highlight>
                <a:latin typeface="Consolas"/>
                <a:ea typeface="Consolas"/>
                <a:cs typeface="Consolas"/>
                <a:sym typeface="Consolas"/>
              </a:rPr>
              <a:t>{bS_{t-1}}</a:t>
            </a:r>
            <a:r>
              <a:rPr lang="ko" sz="1500">
                <a:solidFill>
                  <a:schemeClr val="dk1"/>
                </a:solidFill>
                <a:highlight>
                  <a:srgbClr val="F7F7F7"/>
                </a:highlight>
                <a:latin typeface="Consolas"/>
                <a:ea typeface="Consolas"/>
                <a:cs typeface="Consolas"/>
                <a:sym typeface="Consolas"/>
              </a:rPr>
              <a:t> + W_cH)$</a:t>
            </a:r>
            <a:r>
              <a:rPr lang="ko" sz="1500">
                <a:solidFill>
                  <a:srgbClr val="800000"/>
                </a:solidFill>
                <a:highlight>
                  <a:srgbClr val="F7F7F7"/>
                </a:highlight>
                <a:latin typeface="Consolas"/>
                <a:ea typeface="Consolas"/>
                <a:cs typeface="Consolas"/>
                <a:sym typeface="Consolas"/>
              </a:rPr>
              <a:t>&lt;/center&gt;&lt;/h3&gt;</a:t>
            </a:r>
            <a:endParaRPr sz="1500">
              <a:solidFill>
                <a:srgbClr val="800000"/>
              </a:solidFill>
              <a:highlight>
                <a:srgbClr val="F7F7F7"/>
              </a:highlight>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nvSpPr>
        <p:spPr>
          <a:xfrm>
            <a:off x="0" y="0"/>
            <a:ext cx="3000000" cy="119598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$W</a:t>
            </a:r>
            <a:r>
              <a:rPr i="1" lang="ko" sz="1500">
                <a:solidFill>
                  <a:schemeClr val="dk1"/>
                </a:solidFill>
                <a:highlight>
                  <a:srgbClr val="F7F7F7"/>
                </a:highlight>
                <a:latin typeface="Consolas"/>
                <a:ea typeface="Consolas"/>
                <a:cs typeface="Consolas"/>
                <a:sym typeface="Consolas"/>
              </a:rPr>
              <a:t>_bs_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 와 $W_cH$ 를 각각 구하면 다음과 같다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![](https://wikidocs.net/images/page/73161/%EB%B0%94%EB%8B%A4%EB%82%98%EC%9A%B0%EC%96%B4%ED%85%90%EC%85%982.PNG)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이들을 더한 후, 하이퍼볼릭탄젠트(tanh) 함수를 지나도록 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![](https://wikidocs.net/images/page/73161/%EB%B0%94%EB%8B%A4%EB%82%98%EC%9A%B0%EC%96%B4%ED%85%90%EC%85%983.PNG)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지금까지 진행된 연산의 수식은 다음과 같습니다.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$tanh(W</a:t>
            </a:r>
            <a:r>
              <a:rPr i="1" lang="ko" sz="1500">
                <a:solidFill>
                  <a:schemeClr val="dk1"/>
                </a:solidFill>
                <a:highlight>
                  <a:srgbClr val="F7F7F7"/>
                </a:highlight>
                <a:latin typeface="Consolas"/>
                <a:ea typeface="Consolas"/>
                <a:cs typeface="Consolas"/>
                <a:sym typeface="Consolas"/>
              </a:rPr>
              <a:t>_bs_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 + W_cH)$</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이제 $W</a:t>
            </a:r>
            <a:r>
              <a:rPr i="1" lang="ko" sz="1500">
                <a:solidFill>
                  <a:schemeClr val="dk1"/>
                </a:solidFill>
                <a:highlight>
                  <a:srgbClr val="F7F7F7"/>
                </a:highlight>
                <a:latin typeface="Consolas"/>
                <a:ea typeface="Consolas"/>
                <a:cs typeface="Consolas"/>
                <a:sym typeface="Consolas"/>
              </a:rPr>
              <a:t>_a^T$와 곱하여 $s_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 와 $h_1, h_2, h_3, h_4$ 의 유사도가 기록된 </a:t>
            </a:r>
            <a:r>
              <a:rPr b="1" lang="ko" sz="1500">
                <a:solidFill>
                  <a:schemeClr val="dk1"/>
                </a:solidFill>
                <a:highlight>
                  <a:srgbClr val="F7F7F7"/>
                </a:highlight>
                <a:latin typeface="Consolas"/>
                <a:ea typeface="Consolas"/>
                <a:cs typeface="Consolas"/>
                <a:sym typeface="Consolas"/>
              </a:rPr>
              <a:t>**어텐션 스코어 벡터 $e^t$**</a:t>
            </a:r>
            <a:r>
              <a:rPr lang="ko" sz="1500">
                <a:solidFill>
                  <a:schemeClr val="dk1"/>
                </a:solidFill>
                <a:highlight>
                  <a:srgbClr val="F7F7F7"/>
                </a:highlight>
                <a:latin typeface="Consolas"/>
                <a:ea typeface="Consolas"/>
                <a:cs typeface="Consolas"/>
                <a:sym typeface="Consolas"/>
              </a:rPr>
              <a:t>를 얻습니다.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![](https://wikidocs.net/images/page/73161/%EB%B0%94%EB%8B%A4%EB%82%98%EC%9A%B0%EC%96%B4%ED%85%90%EC%85%984.PNG)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$e^t = W_a^Ttanh(W</a:t>
            </a:r>
            <a:r>
              <a:rPr i="1" lang="ko" sz="1500">
                <a:solidFill>
                  <a:schemeClr val="dk1"/>
                </a:solidFill>
                <a:highlight>
                  <a:srgbClr val="F7F7F7"/>
                </a:highlight>
                <a:latin typeface="Consolas"/>
                <a:ea typeface="Consolas"/>
                <a:cs typeface="Consolas"/>
                <a:sym typeface="Consolas"/>
              </a:rPr>
              <a:t>_bs_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 + W_cH)$</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nvSpPr>
        <p:spPr>
          <a:xfrm>
            <a:off x="0" y="0"/>
            <a:ext cx="3000000" cy="56106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소프트맥스(softmax) 함수를 통해 어텐션 분포(Attention Distribution)를 구한다.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![](https://wikidocs.net/images/page/73161/%EC%96%B4%ED%85%90%EC%85%98%EB%94%94%EC%8A%A4%ED%8A%B8%EB%A6%AC%EB%B7%B0%EC%85%98.PNG)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$e^t$에 소프트맥스 함수를 적용하여, 모든 값을 합하면 1이 되는 확률 분포를 얻어냅니다. 이를 </a:t>
            </a:r>
            <a:r>
              <a:rPr b="1" lang="ko" sz="1500">
                <a:solidFill>
                  <a:schemeClr val="dk1"/>
                </a:solidFill>
                <a:highlight>
                  <a:srgbClr val="F7F7F7"/>
                </a:highlight>
                <a:latin typeface="Consolas"/>
                <a:ea typeface="Consolas"/>
                <a:cs typeface="Consolas"/>
                <a:sym typeface="Consolas"/>
              </a:rPr>
              <a:t>**어텐션 분포(Attention Distribution)**</a:t>
            </a:r>
            <a:r>
              <a:rPr lang="ko" sz="1500">
                <a:solidFill>
                  <a:schemeClr val="dk1"/>
                </a:solidFill>
                <a:highlight>
                  <a:srgbClr val="F7F7F7"/>
                </a:highlight>
                <a:latin typeface="Consolas"/>
                <a:ea typeface="Consolas"/>
                <a:cs typeface="Consolas"/>
                <a:sym typeface="Consolas"/>
              </a:rPr>
              <a:t>라고 하며, 각각의 값은 </a:t>
            </a:r>
            <a:r>
              <a:rPr b="1" lang="ko" sz="1500">
                <a:solidFill>
                  <a:schemeClr val="dk1"/>
                </a:solidFill>
                <a:highlight>
                  <a:srgbClr val="F7F7F7"/>
                </a:highlight>
                <a:latin typeface="Consolas"/>
                <a:ea typeface="Consolas"/>
                <a:cs typeface="Consolas"/>
                <a:sym typeface="Consolas"/>
              </a:rPr>
              <a:t>**어텐션 가중치(Attention Weight)**</a:t>
            </a:r>
            <a:r>
              <a:rPr lang="ko" sz="1500">
                <a:solidFill>
                  <a:schemeClr val="dk1"/>
                </a:solidFill>
                <a:highlight>
                  <a:srgbClr val="F7F7F7"/>
                </a:highlight>
                <a:latin typeface="Consolas"/>
                <a:ea typeface="Consolas"/>
                <a:cs typeface="Consolas"/>
                <a:sym typeface="Consolas"/>
              </a:rPr>
              <a:t>라고 합니다.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nvSpPr>
        <p:spPr>
          <a:xfrm>
            <a:off x="0" y="0"/>
            <a:ext cx="3000000" cy="84774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t/>
            </a:r>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각 인코더의 어텐션 가중치와 은닉 상태를 가중합하여 어텐션 값(Attention Value)을 구한다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![](https://wikidocs.net/images/page/73161/%EC%BB%A8%ED%85%8D%EC%8A%A4%ED%8A%B8%EB%B2%A1%ED%84%B0.PNG)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지금까지 준비해온 정보들을 하나로 합치는 단계입니다.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어텐션의 최종 결과값을 얻기 위해서 각 인코더의 은닉 상태와 어텐션 가중치값들을 곱하고, 최종적으로 모두 더합니다.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요약하면 가중합(Weighted Sum)을 한다고 말할 수도 있겠습니다.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이 벡터는 인코더의 문맥을 포함하고 있다고하여, </a:t>
            </a:r>
            <a:r>
              <a:rPr b="1" lang="ko" sz="1500">
                <a:solidFill>
                  <a:schemeClr val="dk1"/>
                </a:solidFill>
                <a:highlight>
                  <a:srgbClr val="F7F7F7"/>
                </a:highlight>
                <a:latin typeface="Consolas"/>
                <a:ea typeface="Consolas"/>
                <a:cs typeface="Consolas"/>
                <a:sym typeface="Consolas"/>
              </a:rPr>
              <a:t>**컨텍스트 벡터(context vector)**</a:t>
            </a:r>
            <a:r>
              <a:rPr lang="ko" sz="1500">
                <a:solidFill>
                  <a:schemeClr val="dk1"/>
                </a:solidFill>
                <a:highlight>
                  <a:srgbClr val="F7F7F7"/>
                </a:highlight>
                <a:latin typeface="Consolas"/>
                <a:ea typeface="Consolas"/>
                <a:cs typeface="Consolas"/>
                <a:sym typeface="Consolas"/>
              </a:rPr>
              <a:t> 라고 부릅니다.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nvSpPr>
        <p:spPr>
          <a:xfrm>
            <a:off x="0" y="0"/>
            <a:ext cx="3000000" cy="5322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컨텍스트 벡터로부터 $s_t$ 를 구합니다.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기존의 LSTM이 $s_t$ 를 구할 때 (상기!)</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기존의 LSTM은 이전 시점의 셀로부터 전달받은 은닉 상태 $s_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$와 현재 시점의 입력 $x_t$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를 가지고 연산하였습니다.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아래의 LSTM은 seq2seq의 디코더이며 현재 시점의 입력 $x_t$ 는 임베딩된 단어 벡터입니다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![](https://wikidocs.net/images/page/73161/LSTM.PNG)</a:t>
            </a:r>
            <a:endParaRPr sz="1500">
              <a:solidFill>
                <a:srgbClr val="A31515"/>
              </a:solidFill>
              <a:highlight>
                <a:srgbClr val="F7F7F7"/>
              </a:highlight>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9"/>
          <p:cNvSpPr txBox="1"/>
          <p:nvPr/>
        </p:nvSpPr>
        <p:spPr>
          <a:xfrm>
            <a:off x="0" y="0"/>
            <a:ext cx="3000000" cy="105168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어텐션 메커니즘에서 $s_t$ 구하기</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아래의 그림은 바다나우 어텐션 메커니즘에서는 컨텍스트 벡터와 현재 시점의 입력인 단어의 임베딩 벡터를 연결(concatenate)하고, 현재 시점의 새로운 입력으로 사용하는 모습을 보여줍니다. 그리고 이전 시점의 셀로부터 전달받은 은닉 상태 $s_</a:t>
            </a:r>
            <a:r>
              <a:rPr lang="ko" sz="1500">
                <a:solidFill>
                  <a:srgbClr val="A31515"/>
                </a:solidFill>
                <a:highlight>
                  <a:srgbClr val="F7F7F7"/>
                </a:highlight>
                <a:latin typeface="Consolas"/>
                <a:ea typeface="Consolas"/>
                <a:cs typeface="Consolas"/>
                <a:sym typeface="Consolas"/>
              </a:rPr>
              <a:t>{t-1}</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와 현재 시점의 새로운 입력으로부터</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$s_t$를 구합니다.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기존의 LSTM이 임베딩된 단어 벡터를 입력으로 했던것에 반해, </a:t>
            </a:r>
            <a:r>
              <a:rPr b="1" lang="ko" sz="1500">
                <a:solidFill>
                  <a:schemeClr val="dk1"/>
                </a:solidFill>
                <a:highlight>
                  <a:srgbClr val="F7F7F7"/>
                </a:highlight>
                <a:latin typeface="Consolas"/>
                <a:ea typeface="Consolas"/>
                <a:cs typeface="Consolas"/>
                <a:sym typeface="Consolas"/>
              </a:rPr>
              <a:t>**컨텍스트 벡터**</a:t>
            </a:r>
            <a:r>
              <a:rPr lang="ko" sz="1500">
                <a:solidFill>
                  <a:schemeClr val="dk1"/>
                </a:solidFill>
                <a:highlight>
                  <a:srgbClr val="F7F7F7"/>
                </a:highlight>
                <a:latin typeface="Consolas"/>
                <a:ea typeface="Consolas"/>
                <a:cs typeface="Consolas"/>
                <a:sym typeface="Consolas"/>
              </a:rPr>
              <a:t>와 </a:t>
            </a:r>
            <a:r>
              <a:rPr b="1" lang="ko" sz="1500">
                <a:solidFill>
                  <a:schemeClr val="dk1"/>
                </a:solidFill>
                <a:highlight>
                  <a:srgbClr val="F7F7F7"/>
                </a:highlight>
                <a:latin typeface="Consolas"/>
                <a:ea typeface="Consolas"/>
                <a:cs typeface="Consolas"/>
                <a:sym typeface="Consolas"/>
              </a:rPr>
              <a:t>**임베딩된 단어 벡터**</a:t>
            </a:r>
            <a:r>
              <a:rPr lang="ko" sz="1500">
                <a:solidFill>
                  <a:schemeClr val="dk1"/>
                </a:solidFill>
                <a:highlight>
                  <a:srgbClr val="F7F7F7"/>
                </a:highlight>
                <a:latin typeface="Consolas"/>
                <a:ea typeface="Consolas"/>
                <a:cs typeface="Consolas"/>
                <a:sym typeface="Consolas"/>
              </a:rPr>
              <a:t>를 </a:t>
            </a:r>
            <a:r>
              <a:rPr b="1" lang="ko" sz="1500">
                <a:solidFill>
                  <a:schemeClr val="dk1"/>
                </a:solidFill>
                <a:highlight>
                  <a:srgbClr val="F7F7F7"/>
                </a:highlight>
                <a:latin typeface="Consolas"/>
                <a:ea typeface="Consolas"/>
                <a:cs typeface="Consolas"/>
                <a:sym typeface="Consolas"/>
              </a:rPr>
              <a:t>**연결(concatenate)**</a:t>
            </a:r>
            <a:r>
              <a:rPr lang="ko" sz="1500">
                <a:solidFill>
                  <a:schemeClr val="dk1"/>
                </a:solidFill>
                <a:highlight>
                  <a:srgbClr val="F7F7F7"/>
                </a:highlight>
                <a:latin typeface="Consolas"/>
                <a:ea typeface="Consolas"/>
                <a:cs typeface="Consolas"/>
                <a:sym typeface="Consolas"/>
              </a:rPr>
              <a:t>하여 입력으로 사용하는 것이 달라졌습니다.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![](https://wikidocs.net/images/page/73161/%EB%B0%94%EB%8B%A4%EB%82%98%EC%9A%B0%EC%96%B4%ED%85%90%EC%85%985.PNG)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이후에는 어텐션 메커니즘을 사용하지 않는 경우와 동일합니다.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는 출력층으로 전달되어 현재 시점의 예측값을 구하게 됩니다.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nvSpPr>
        <p:spPr>
          <a:xfrm>
            <a:off x="0" y="0"/>
            <a:ext cx="3000000" cy="76308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numpy </a:t>
            </a:r>
            <a:r>
              <a:rPr lang="ko" sz="1500">
                <a:solidFill>
                  <a:srgbClr val="9723B4"/>
                </a:solidFill>
                <a:highlight>
                  <a:srgbClr val="F7F7F7"/>
                </a:highlight>
                <a:latin typeface="Consolas"/>
                <a:ea typeface="Consolas"/>
                <a:cs typeface="Consolas"/>
                <a:sym typeface="Consolas"/>
              </a:rPr>
              <a:t>as</a:t>
            </a:r>
            <a:r>
              <a:rPr lang="ko" sz="1500">
                <a:solidFill>
                  <a:schemeClr val="dk1"/>
                </a:solidFill>
                <a:highlight>
                  <a:srgbClr val="F7F7F7"/>
                </a:highlight>
                <a:latin typeface="Consolas"/>
                <a:ea typeface="Consolas"/>
                <a:cs typeface="Consolas"/>
                <a:sym typeface="Consolas"/>
              </a:rPr>
              <a:t> np</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pandas </a:t>
            </a:r>
            <a:r>
              <a:rPr lang="ko" sz="1500">
                <a:solidFill>
                  <a:srgbClr val="9723B4"/>
                </a:solidFill>
                <a:highlight>
                  <a:srgbClr val="F7F7F7"/>
                </a:highlight>
                <a:latin typeface="Consolas"/>
                <a:ea typeface="Consolas"/>
                <a:cs typeface="Consolas"/>
                <a:sym typeface="Consolas"/>
              </a:rPr>
              <a:t>as</a:t>
            </a:r>
            <a:r>
              <a:rPr lang="ko" sz="1500">
                <a:solidFill>
                  <a:schemeClr val="dk1"/>
                </a:solidFill>
                <a:highlight>
                  <a:srgbClr val="F7F7F7"/>
                </a:highlight>
                <a:latin typeface="Consolas"/>
                <a:ea typeface="Consolas"/>
                <a:cs typeface="Consolas"/>
                <a:sym typeface="Consolas"/>
              </a:rPr>
              <a:t> pd</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matplotlib.pyplot </a:t>
            </a:r>
            <a:r>
              <a:rPr lang="ko" sz="1500">
                <a:solidFill>
                  <a:srgbClr val="9723B4"/>
                </a:solidFill>
                <a:highlight>
                  <a:srgbClr val="F7F7F7"/>
                </a:highlight>
                <a:latin typeface="Consolas"/>
                <a:ea typeface="Consolas"/>
                <a:cs typeface="Consolas"/>
                <a:sym typeface="Consolas"/>
              </a:rPr>
              <a:t>as</a:t>
            </a:r>
            <a:r>
              <a:rPr lang="ko" sz="1500">
                <a:solidFill>
                  <a:schemeClr val="dk1"/>
                </a:solidFill>
                <a:highlight>
                  <a:srgbClr val="F7F7F7"/>
                </a:highlight>
                <a:latin typeface="Consolas"/>
                <a:ea typeface="Consolas"/>
                <a:cs typeface="Consolas"/>
                <a:sym typeface="Consolas"/>
              </a:rPr>
              <a:t> plt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os</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tensorflow </a:t>
            </a:r>
            <a:r>
              <a:rPr lang="ko" sz="1500">
                <a:solidFill>
                  <a:srgbClr val="9723B4"/>
                </a:solidFill>
                <a:highlight>
                  <a:srgbClr val="F7F7F7"/>
                </a:highlight>
                <a:latin typeface="Consolas"/>
                <a:ea typeface="Consolas"/>
                <a:cs typeface="Consolas"/>
                <a:sym typeface="Consolas"/>
              </a:rPr>
              <a:t>as</a:t>
            </a:r>
            <a:r>
              <a:rPr lang="ko" sz="1500">
                <a:solidFill>
                  <a:schemeClr val="dk1"/>
                </a:solidFill>
                <a:highlight>
                  <a:srgbClr val="F7F7F7"/>
                </a:highlight>
                <a:latin typeface="Consolas"/>
                <a:ea typeface="Consolas"/>
                <a:cs typeface="Consolas"/>
                <a:sym typeface="Consolas"/>
              </a:rPr>
              <a:t> tf</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from</a:t>
            </a:r>
            <a:r>
              <a:rPr lang="ko" sz="1500">
                <a:solidFill>
                  <a:schemeClr val="dk1"/>
                </a:solidFill>
                <a:highlight>
                  <a:srgbClr val="F7F7F7"/>
                </a:highlight>
                <a:latin typeface="Consolas"/>
                <a:ea typeface="Consolas"/>
                <a:cs typeface="Consolas"/>
                <a:sym typeface="Consolas"/>
              </a:rPr>
              <a:t> tensorflow </a:t>
            </a: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keras</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random</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def</a:t>
            </a:r>
            <a:r>
              <a:rPr lang="ko" sz="1500">
                <a:solidFill>
                  <a:schemeClr val="dk1"/>
                </a:solidFill>
                <a:highlight>
                  <a:srgbClr val="F7F7F7"/>
                </a:highlight>
                <a:latin typeface="Consolas"/>
                <a:ea typeface="Consolas"/>
                <a:cs typeface="Consolas"/>
                <a:sym typeface="Consolas"/>
              </a:rPr>
              <a:t> </a:t>
            </a:r>
            <a:r>
              <a:rPr lang="ko" sz="1500">
                <a:solidFill>
                  <a:srgbClr val="6A5221"/>
                </a:solidFill>
                <a:highlight>
                  <a:srgbClr val="F7F7F7"/>
                </a:highlight>
                <a:latin typeface="Consolas"/>
                <a:ea typeface="Consolas"/>
                <a:cs typeface="Consolas"/>
                <a:sym typeface="Consolas"/>
              </a:rPr>
              <a:t>set_seed</a:t>
            </a:r>
            <a:r>
              <a:rPr lang="ko" sz="1500">
                <a:solidFill>
                  <a:schemeClr val="dk1"/>
                </a:solidFill>
                <a:highlight>
                  <a:srgbClr val="F7F7F7"/>
                </a:highlight>
                <a:latin typeface="Consolas"/>
                <a:ea typeface="Consolas"/>
                <a:cs typeface="Consolas"/>
                <a:sym typeface="Consolas"/>
              </a:rPr>
              <a:t>(</a:t>
            </a:r>
            <a:r>
              <a:rPr lang="ko" sz="1500">
                <a:solidFill>
                  <a:srgbClr val="001080"/>
                </a:solidFill>
                <a:highlight>
                  <a:srgbClr val="F7F7F7"/>
                </a:highlight>
                <a:latin typeface="Consolas"/>
                <a:ea typeface="Consolas"/>
                <a:cs typeface="Consolas"/>
                <a:sym typeface="Consolas"/>
              </a:rPr>
              <a:t>seed</a:t>
            </a:r>
            <a:r>
              <a:rPr lang="ko" sz="1500">
                <a:solidFill>
                  <a:schemeClr val="dk1"/>
                </a:solidFill>
                <a:highlight>
                  <a:srgbClr val="F7F7F7"/>
                </a:highlight>
                <a:latin typeface="Consolas"/>
                <a:ea typeface="Consolas"/>
                <a:cs typeface="Consolas"/>
                <a:sym typeface="Consolas"/>
              </a:rPr>
              <a:t> = </a:t>
            </a:r>
            <a:r>
              <a:rPr lang="ko" sz="1500">
                <a:solidFill>
                  <a:srgbClr val="116644"/>
                </a:solidFill>
                <a:highlight>
                  <a:srgbClr val="F7F7F7"/>
                </a:highlight>
                <a:latin typeface="Consolas"/>
                <a:ea typeface="Consolas"/>
                <a:cs typeface="Consolas"/>
                <a:sym typeface="Consolas"/>
              </a:rPr>
              <a:t>42</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tf.keras.utils.set_random_seed(seed)</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tf.config.experimental.enable_op_determinism()</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from</a:t>
            </a:r>
            <a:r>
              <a:rPr lang="ko" sz="1500">
                <a:solidFill>
                  <a:schemeClr val="dk1"/>
                </a:solidFill>
                <a:highlight>
                  <a:srgbClr val="F7F7F7"/>
                </a:highlight>
                <a:latin typeface="Consolas"/>
                <a:ea typeface="Consolas"/>
                <a:cs typeface="Consolas"/>
                <a:sym typeface="Consolas"/>
              </a:rPr>
              <a:t> keras.datasets </a:t>
            </a: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imdb</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from</a:t>
            </a:r>
            <a:r>
              <a:rPr lang="ko" sz="1500">
                <a:solidFill>
                  <a:schemeClr val="dk1"/>
                </a:solidFill>
                <a:highlight>
                  <a:srgbClr val="F7F7F7"/>
                </a:highlight>
                <a:latin typeface="Consolas"/>
                <a:ea typeface="Consolas"/>
                <a:cs typeface="Consolas"/>
                <a:sym typeface="Consolas"/>
              </a:rPr>
              <a:t> keras.utils </a:t>
            </a: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to_categorical</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from</a:t>
            </a:r>
            <a:r>
              <a:rPr lang="ko" sz="1500">
                <a:solidFill>
                  <a:schemeClr val="dk1"/>
                </a:solidFill>
                <a:highlight>
                  <a:srgbClr val="F7F7F7"/>
                </a:highlight>
                <a:latin typeface="Consolas"/>
                <a:ea typeface="Consolas"/>
                <a:cs typeface="Consolas"/>
                <a:sym typeface="Consolas"/>
              </a:rPr>
              <a:t> keras.preprocessing.sequence </a:t>
            </a: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pad_sequences</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1"/>
          <p:cNvSpPr txBox="1"/>
          <p:nvPr/>
        </p:nvSpPr>
        <p:spPr>
          <a:xfrm>
            <a:off x="0" y="0"/>
            <a:ext cx="3000000" cy="33015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1. </a:t>
            </a:r>
            <a:r>
              <a:rPr lang="ko" sz="1500">
                <a:solidFill>
                  <a:schemeClr val="dk1"/>
                </a:solidFill>
                <a:highlight>
                  <a:srgbClr val="F7F7F7"/>
                </a:highlight>
                <a:latin typeface="Consolas"/>
                <a:ea typeface="Consolas"/>
                <a:cs typeface="Consolas"/>
                <a:sym typeface="Consolas"/>
              </a:rPr>
              <a:t>닷 프로덕트 어텐션 스코어 함수</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$score(query, key) = query^Tkey$</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2. </a:t>
            </a:r>
            <a:r>
              <a:rPr lang="ko" sz="1500">
                <a:solidFill>
                  <a:schemeClr val="dk1"/>
                </a:solidFill>
                <a:highlight>
                  <a:srgbClr val="F7F7F7"/>
                </a:highlight>
                <a:latin typeface="Consolas"/>
                <a:ea typeface="Consolas"/>
                <a:cs typeface="Consolas"/>
                <a:sym typeface="Consolas"/>
              </a:rPr>
              <a:t>바다나우 어텐션 스코어 함수</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$score(query, key) = V^Ttahh(W_1key + W_2query)$</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2"/>
          <p:cNvSpPr txBox="1"/>
          <p:nvPr/>
        </p:nvSpPr>
        <p:spPr>
          <a:xfrm>
            <a:off x="0" y="0"/>
            <a:ext cx="3000000" cy="24357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from</a:t>
            </a:r>
            <a:r>
              <a:rPr lang="ko" sz="1500">
                <a:solidFill>
                  <a:schemeClr val="dk1"/>
                </a:solidFill>
                <a:highlight>
                  <a:srgbClr val="F7F7F7"/>
                </a:highlight>
                <a:latin typeface="Consolas"/>
                <a:ea typeface="Consolas"/>
                <a:cs typeface="Consolas"/>
                <a:sym typeface="Consolas"/>
              </a:rPr>
              <a:t> keras.layers </a:t>
            </a: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Dense, Embedding, Bidirectional, LSTM, Concatenate, Dropout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from</a:t>
            </a:r>
            <a:r>
              <a:rPr lang="ko" sz="1500">
                <a:solidFill>
                  <a:schemeClr val="dk1"/>
                </a:solidFill>
                <a:highlight>
                  <a:srgbClr val="F7F7F7"/>
                </a:highlight>
                <a:latin typeface="Consolas"/>
                <a:ea typeface="Consolas"/>
                <a:cs typeface="Consolas"/>
                <a:sym typeface="Consolas"/>
              </a:rPr>
              <a:t> keras </a:t>
            </a: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Input, Model</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from</a:t>
            </a:r>
            <a:r>
              <a:rPr lang="ko" sz="1500">
                <a:solidFill>
                  <a:schemeClr val="dk1"/>
                </a:solidFill>
                <a:highlight>
                  <a:srgbClr val="F7F7F7"/>
                </a:highlight>
                <a:latin typeface="Consolas"/>
                <a:ea typeface="Consolas"/>
                <a:cs typeface="Consolas"/>
                <a:sym typeface="Consolas"/>
              </a:rPr>
              <a:t> keras </a:t>
            </a: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optimizers</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3"/>
          <p:cNvSpPr txBox="1"/>
          <p:nvPr/>
        </p:nvSpPr>
        <p:spPr>
          <a:xfrm>
            <a:off x="0" y="0"/>
            <a:ext cx="3000000" cy="160005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sentences =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a:t>
            </a:r>
            <a:r>
              <a:rPr lang="ko" sz="1500">
                <a:solidFill>
                  <a:srgbClr val="A31515"/>
                </a:solidFill>
                <a:highlight>
                  <a:srgbClr val="F7F7F7"/>
                </a:highlight>
                <a:latin typeface="Consolas"/>
                <a:ea typeface="Consolas"/>
                <a:cs typeface="Consolas"/>
                <a:sym typeface="Consolas"/>
              </a:rPr>
              <a:t>'movie is very good'</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a:t>
            </a:r>
            <a:r>
              <a:rPr lang="ko" sz="1500">
                <a:solidFill>
                  <a:srgbClr val="A31515"/>
                </a:solidFill>
                <a:highlight>
                  <a:srgbClr val="F7F7F7"/>
                </a:highlight>
                <a:latin typeface="Consolas"/>
                <a:ea typeface="Consolas"/>
                <a:cs typeface="Consolas"/>
                <a:sym typeface="Consolas"/>
              </a:rPr>
              <a:t>'The best documentary I have watched in a very long time. This is definitely a must see for everyone. This family and their love and support for each other is truly amazing.'</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a:t>
            </a:r>
            <a:r>
              <a:rPr lang="ko" sz="1500">
                <a:solidFill>
                  <a:srgbClr val="A31515"/>
                </a:solidFill>
                <a:highlight>
                  <a:srgbClr val="F7F7F7"/>
                </a:highlight>
                <a:latin typeface="Consolas"/>
                <a:ea typeface="Consolas"/>
                <a:cs typeface="Consolas"/>
                <a:sym typeface="Consolas"/>
              </a:rPr>
              <a:t>'movie is terrible'</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a:t>
            </a:r>
            <a:r>
              <a:rPr lang="ko" sz="1500">
                <a:solidFill>
                  <a:srgbClr val="A31515"/>
                </a:solidFill>
                <a:highlight>
                  <a:srgbClr val="F7F7F7"/>
                </a:highlight>
                <a:latin typeface="Consolas"/>
                <a:ea typeface="Consolas"/>
                <a:cs typeface="Consolas"/>
                <a:sym typeface="Consolas"/>
              </a:rPr>
              <a:t>"This is a very one sided documentary about a woman who is sentenced to a 15 year mandatory prison sentence for dealing drugs. The documentary is made by her family and they want you to believe she doesn't deserve her sentence. However if you read the court reports you will see that she was a drug dealer, she lied to the police, and she was found guily after a trial. The tragic part of this documentary is that the woman left behind a husband and three little girls who will forever be damaged by not having their mother around. Yes you will feel sorry for the children because none of this was their fault. However their drug dealing mom got the sentence she deserved and now she has to spend the rest of her life making it up to these kids. The big lesson of this documentary is if you committ a crime in the US you will get locked up!"</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a:t>
            </a:r>
            <a:r>
              <a:rPr lang="ko" sz="1500">
                <a:solidFill>
                  <a:srgbClr val="A31515"/>
                </a:solidFill>
                <a:highlight>
                  <a:srgbClr val="F7F7F7"/>
                </a:highlight>
                <a:latin typeface="Consolas"/>
                <a:ea typeface="Consolas"/>
                <a:cs typeface="Consolas"/>
                <a:sym typeface="Consolas"/>
              </a:rPr>
              <a:t>"Absolutely awful. The special effects were laughable, and the ending was so disappointing."</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a:t>
            </a:r>
            <a:r>
              <a:rPr lang="ko" sz="1500">
                <a:solidFill>
                  <a:srgbClr val="A31515"/>
                </a:solidFill>
                <a:highlight>
                  <a:srgbClr val="F7F7F7"/>
                </a:highlight>
                <a:latin typeface="Consolas"/>
                <a:ea typeface="Consolas"/>
                <a:cs typeface="Consolas"/>
                <a:sym typeface="Consolas"/>
              </a:rPr>
              <a:t>"I regret watching this. It's one of the worst movies I've ever seen, and I wouldn't recommend it to anyone."</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4"/>
          <p:cNvSpPr txBox="1"/>
          <p:nvPr/>
        </p:nvSpPr>
        <p:spPr>
          <a:xfrm>
            <a:off x="0" y="0"/>
            <a:ext cx="3000000" cy="56106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8000"/>
                </a:solidFill>
                <a:highlight>
                  <a:srgbClr val="F7F7F7"/>
                </a:highlight>
                <a:latin typeface="Consolas"/>
                <a:ea typeface="Consolas"/>
                <a:cs typeface="Consolas"/>
                <a:sym typeface="Consolas"/>
              </a:rPr>
              <a:t># 기본 import</a:t>
            </a:r>
            <a:endParaRPr sz="1500">
              <a:solidFill>
                <a:srgbClr val="00800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numpy </a:t>
            </a:r>
            <a:r>
              <a:rPr lang="ko" sz="1500">
                <a:solidFill>
                  <a:srgbClr val="9723B4"/>
                </a:solidFill>
                <a:highlight>
                  <a:srgbClr val="F7F7F7"/>
                </a:highlight>
                <a:latin typeface="Consolas"/>
                <a:ea typeface="Consolas"/>
                <a:cs typeface="Consolas"/>
                <a:sym typeface="Consolas"/>
              </a:rPr>
              <a:t>as</a:t>
            </a:r>
            <a:r>
              <a:rPr lang="ko" sz="1500">
                <a:solidFill>
                  <a:schemeClr val="dk1"/>
                </a:solidFill>
                <a:highlight>
                  <a:srgbClr val="F7F7F7"/>
                </a:highlight>
                <a:latin typeface="Consolas"/>
                <a:ea typeface="Consolas"/>
                <a:cs typeface="Consolas"/>
                <a:sym typeface="Consolas"/>
              </a:rPr>
              <a:t> np</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pandas </a:t>
            </a:r>
            <a:r>
              <a:rPr lang="ko" sz="1500">
                <a:solidFill>
                  <a:srgbClr val="9723B4"/>
                </a:solidFill>
                <a:highlight>
                  <a:srgbClr val="F7F7F7"/>
                </a:highlight>
                <a:latin typeface="Consolas"/>
                <a:ea typeface="Consolas"/>
                <a:cs typeface="Consolas"/>
                <a:sym typeface="Consolas"/>
              </a:rPr>
              <a:t>as</a:t>
            </a:r>
            <a:r>
              <a:rPr lang="ko" sz="1500">
                <a:solidFill>
                  <a:schemeClr val="dk1"/>
                </a:solidFill>
                <a:highlight>
                  <a:srgbClr val="F7F7F7"/>
                </a:highlight>
                <a:latin typeface="Consolas"/>
                <a:ea typeface="Consolas"/>
                <a:cs typeface="Consolas"/>
                <a:sym typeface="Consolas"/>
              </a:rPr>
              <a:t> pd</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matplotlib.pyplot </a:t>
            </a:r>
            <a:r>
              <a:rPr lang="ko" sz="1500">
                <a:solidFill>
                  <a:srgbClr val="9723B4"/>
                </a:solidFill>
                <a:highlight>
                  <a:srgbClr val="F7F7F7"/>
                </a:highlight>
                <a:latin typeface="Consolas"/>
                <a:ea typeface="Consolas"/>
                <a:cs typeface="Consolas"/>
                <a:sym typeface="Consolas"/>
              </a:rPr>
              <a:t>as</a:t>
            </a:r>
            <a:r>
              <a:rPr lang="ko" sz="1500">
                <a:solidFill>
                  <a:schemeClr val="dk1"/>
                </a:solidFill>
                <a:highlight>
                  <a:srgbClr val="F7F7F7"/>
                </a:highlight>
                <a:latin typeface="Consolas"/>
                <a:ea typeface="Consolas"/>
                <a:cs typeface="Consolas"/>
                <a:sym typeface="Consolas"/>
              </a:rPr>
              <a:t> plt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os</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tensorflow </a:t>
            </a:r>
            <a:r>
              <a:rPr lang="ko" sz="1500">
                <a:solidFill>
                  <a:srgbClr val="9723B4"/>
                </a:solidFill>
                <a:highlight>
                  <a:srgbClr val="F7F7F7"/>
                </a:highlight>
                <a:latin typeface="Consolas"/>
                <a:ea typeface="Consolas"/>
                <a:cs typeface="Consolas"/>
                <a:sym typeface="Consolas"/>
              </a:rPr>
              <a:t>as</a:t>
            </a:r>
            <a:r>
              <a:rPr lang="ko" sz="1500">
                <a:solidFill>
                  <a:schemeClr val="dk1"/>
                </a:solidFill>
                <a:highlight>
                  <a:srgbClr val="F7F7F7"/>
                </a:highlight>
                <a:latin typeface="Consolas"/>
                <a:ea typeface="Consolas"/>
                <a:cs typeface="Consolas"/>
                <a:sym typeface="Consolas"/>
              </a:rPr>
              <a:t> tf</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from</a:t>
            </a:r>
            <a:r>
              <a:rPr lang="ko" sz="1500">
                <a:solidFill>
                  <a:schemeClr val="dk1"/>
                </a:solidFill>
                <a:highlight>
                  <a:srgbClr val="F7F7F7"/>
                </a:highlight>
                <a:latin typeface="Consolas"/>
                <a:ea typeface="Consolas"/>
                <a:cs typeface="Consolas"/>
                <a:sym typeface="Consolas"/>
              </a:rPr>
              <a:t> tensorflow </a:t>
            </a: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keras</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9723B4"/>
                </a:solidFill>
                <a:highlight>
                  <a:srgbClr val="F7F7F7"/>
                </a:highlight>
                <a:latin typeface="Consolas"/>
                <a:ea typeface="Consolas"/>
                <a:cs typeface="Consolas"/>
                <a:sym typeface="Consolas"/>
              </a:rPr>
              <a:t>import</a:t>
            </a:r>
            <a:r>
              <a:rPr lang="ko" sz="1500">
                <a:solidFill>
                  <a:schemeClr val="dk1"/>
                </a:solidFill>
                <a:highlight>
                  <a:srgbClr val="F7F7F7"/>
                </a:highlight>
                <a:latin typeface="Consolas"/>
                <a:ea typeface="Consolas"/>
                <a:cs typeface="Consolas"/>
                <a:sym typeface="Consolas"/>
              </a:rPr>
              <a:t> random</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def</a:t>
            </a:r>
            <a:r>
              <a:rPr lang="ko" sz="1500">
                <a:solidFill>
                  <a:schemeClr val="dk1"/>
                </a:solidFill>
                <a:highlight>
                  <a:srgbClr val="F7F7F7"/>
                </a:highlight>
                <a:latin typeface="Consolas"/>
                <a:ea typeface="Consolas"/>
                <a:cs typeface="Consolas"/>
                <a:sym typeface="Consolas"/>
              </a:rPr>
              <a:t> </a:t>
            </a:r>
            <a:r>
              <a:rPr lang="ko" sz="1500">
                <a:solidFill>
                  <a:srgbClr val="6A5221"/>
                </a:solidFill>
                <a:highlight>
                  <a:srgbClr val="F7F7F7"/>
                </a:highlight>
                <a:latin typeface="Consolas"/>
                <a:ea typeface="Consolas"/>
                <a:cs typeface="Consolas"/>
                <a:sym typeface="Consolas"/>
              </a:rPr>
              <a:t>set_seed</a:t>
            </a:r>
            <a:r>
              <a:rPr lang="ko" sz="1500">
                <a:solidFill>
                  <a:schemeClr val="dk1"/>
                </a:solidFill>
                <a:highlight>
                  <a:srgbClr val="F7F7F7"/>
                </a:highlight>
                <a:latin typeface="Consolas"/>
                <a:ea typeface="Consolas"/>
                <a:cs typeface="Consolas"/>
                <a:sym typeface="Consolas"/>
              </a:rPr>
              <a:t>(</a:t>
            </a:r>
            <a:r>
              <a:rPr lang="ko" sz="1500">
                <a:solidFill>
                  <a:srgbClr val="001080"/>
                </a:solidFill>
                <a:highlight>
                  <a:srgbClr val="F7F7F7"/>
                </a:highlight>
                <a:latin typeface="Consolas"/>
                <a:ea typeface="Consolas"/>
                <a:cs typeface="Consolas"/>
                <a:sym typeface="Consolas"/>
              </a:rPr>
              <a:t>seed</a:t>
            </a:r>
            <a:r>
              <a:rPr lang="ko" sz="1500">
                <a:solidFill>
                  <a:schemeClr val="dk1"/>
                </a:solidFill>
                <a:highlight>
                  <a:srgbClr val="F7F7F7"/>
                </a:highlight>
                <a:latin typeface="Consolas"/>
                <a:ea typeface="Consolas"/>
                <a:cs typeface="Consolas"/>
                <a:sym typeface="Consolas"/>
              </a:rPr>
              <a:t> = </a:t>
            </a:r>
            <a:r>
              <a:rPr lang="ko" sz="1500">
                <a:solidFill>
                  <a:srgbClr val="116644"/>
                </a:solidFill>
                <a:highlight>
                  <a:srgbClr val="F7F7F7"/>
                </a:highlight>
                <a:latin typeface="Consolas"/>
                <a:ea typeface="Consolas"/>
                <a:cs typeface="Consolas"/>
                <a:sym typeface="Consolas"/>
              </a:rPr>
              <a:t>42</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tf.keras.utils.set_random_seed(seed)</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tf.config.experimental.enable_op_determinism()</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5"/>
          <p:cNvSpPr txBox="1"/>
          <p:nvPr/>
        </p:nvSpPr>
        <p:spPr>
          <a:xfrm>
            <a:off x="0" y="0"/>
            <a:ext cx="3000000" cy="116712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트랜스포머 (Transformer)</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2017년 구글브레인 이 발표한 논문인 </a:t>
            </a:r>
            <a:r>
              <a:rPr b="1" lang="ko" sz="1500">
                <a:solidFill>
                  <a:schemeClr val="dk1"/>
                </a:solidFill>
                <a:highlight>
                  <a:srgbClr val="F7F7F7"/>
                </a:highlight>
                <a:latin typeface="Consolas"/>
                <a:ea typeface="Consolas"/>
                <a:cs typeface="Consolas"/>
                <a:sym typeface="Consolas"/>
              </a:rPr>
              <a:t>**"Attention is all you need"**</a:t>
            </a:r>
            <a:r>
              <a:rPr lang="ko" sz="1500">
                <a:solidFill>
                  <a:schemeClr val="dk1"/>
                </a:solidFill>
                <a:highlight>
                  <a:srgbClr val="F7F7F7"/>
                </a:highlight>
                <a:latin typeface="Consolas"/>
                <a:ea typeface="Consolas"/>
                <a:cs typeface="Consolas"/>
                <a:sym typeface="Consolas"/>
              </a:rPr>
              <a:t> 에서 나온 모델</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논문링크 : https://proceedings.neurips.cc/paper/2017/file/3f5ee243547dee91fbd053c1c4a845aa-Paper.pdf</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트랜스포머는 </a:t>
            </a:r>
            <a:r>
              <a:rPr lang="ko" sz="1500">
                <a:solidFill>
                  <a:srgbClr val="800000"/>
                </a:solidFill>
                <a:highlight>
                  <a:srgbClr val="F7F7F7"/>
                </a:highlight>
                <a:latin typeface="Consolas"/>
                <a:ea typeface="Consolas"/>
                <a:cs typeface="Consolas"/>
                <a:sym typeface="Consolas"/>
              </a:rPr>
              <a:t>&lt;u&gt;</a:t>
            </a:r>
            <a:r>
              <a:rPr lang="ko" sz="1500">
                <a:solidFill>
                  <a:schemeClr val="dk1"/>
                </a:solidFill>
                <a:highlight>
                  <a:srgbClr val="F7F7F7"/>
                </a:highlight>
                <a:latin typeface="Consolas"/>
                <a:ea typeface="Consolas"/>
                <a:cs typeface="Consolas"/>
                <a:sym typeface="Consolas"/>
              </a:rPr>
              <a:t>RNN을 사용하지 않고</a:t>
            </a:r>
            <a:r>
              <a:rPr lang="ko" sz="1500">
                <a:solidFill>
                  <a:srgbClr val="800000"/>
                </a:solidFill>
                <a:highlight>
                  <a:srgbClr val="F7F7F7"/>
                </a:highlight>
                <a:latin typeface="Consolas"/>
                <a:ea typeface="Consolas"/>
                <a:cs typeface="Consolas"/>
                <a:sym typeface="Consolas"/>
              </a:rPr>
              <a:t>&lt;/u&gt;</a:t>
            </a:r>
            <a:r>
              <a:rPr lang="ko" sz="1500">
                <a:solidFill>
                  <a:schemeClr val="dk1"/>
                </a:solidFill>
                <a:highlight>
                  <a:srgbClr val="F7F7F7"/>
                </a:highlight>
                <a:latin typeface="Consolas"/>
                <a:ea typeface="Consolas"/>
                <a:cs typeface="Consolas"/>
                <a:sym typeface="Consolas"/>
              </a:rPr>
              <a:t> '인코더'와 '디코더'를 설계하였으며, 성능도 RNN보다 우수함</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처음에는 자연어 처리 분야에서만 사용되었으나 이후 컴퓨터 비전 분야까지 확장됐으며 현재는 다양한 분야에서 채택되고 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기존의 seq2seq의 구조인 인코더-디코더를 따르면서도, 논문의 이름처럼 어텐션(Attention)만으로 구현한 모델</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이후 등장한 BERT, GPT, AlphaFold 2 등이 Transformer 기반으로 만들어졌다.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![](https://i.namu.wiki/i/Og6EWpFFi7q01asl6LEay_-VVe9Vpedia1t2IAEXShjv2t_T2bzUdRMYa98XSfv6W_7S0_TWn9Ksncy6g6bCZM4zXS1I7QvfQO4xx9ke0yo1W8d6oYkicOKdv8XMlf_SUM_xGN3NnqYUvpYSz7nT0Q.webp)</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6"/>
          <p:cNvSpPr txBox="1"/>
          <p:nvPr/>
        </p:nvSpPr>
        <p:spPr>
          <a:xfrm>
            <a:off x="0" y="0"/>
            <a:ext cx="3000000" cy="102282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1. 기존의 seq2seq 모델의 한계</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![](https://wikidocs.net/images/page/24996/%EC%9D%B8%EC%BD%94%EB%8D%94%EB%94%94%EC%BD%94%EB%8D%94%EB%AA%A8%EB%8D%B8.PNG)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기존의 Seq2Seq 는 인코더-디코더 구조로 구성 되었다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인코더는 입력 시퀀스를 하나의 벡터 표현으로 압축하고</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디코더는 이 벡터 표현을 통해서 출력 시퀀스를 만들어냈다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단점!</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인코더가 입력 시퀀스를 하나의 벡터로 압축하는 과정에서</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입력 시퀀스의 정보가 일부 손실된다는 단점. (Vanishing Gradient)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이를 보정하기 위해 '어텐션'이 사용되었었다.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트랜스포머의 아이디어!</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b="1" lang="ko" sz="1500">
                <a:solidFill>
                  <a:schemeClr val="dk1"/>
                </a:solidFill>
                <a:highlight>
                  <a:srgbClr val="F7F7F7"/>
                </a:highlight>
                <a:latin typeface="Consolas"/>
                <a:ea typeface="Consolas"/>
                <a:cs typeface="Consolas"/>
                <a:sym typeface="Consolas"/>
              </a:rPr>
              <a:t>**'어텐션'**</a:t>
            </a:r>
            <a:r>
              <a:rPr lang="ko" sz="1500">
                <a:solidFill>
                  <a:schemeClr val="dk1"/>
                </a:solidFill>
                <a:highlight>
                  <a:srgbClr val="F7F7F7"/>
                </a:highlight>
                <a:latin typeface="Consolas"/>
                <a:ea typeface="Consolas"/>
                <a:cs typeface="Consolas"/>
                <a:sym typeface="Consolas"/>
              </a:rPr>
              <a:t> 을 RNN 보정을 위한 용도로 사용하는 것이 아니라 </a:t>
            </a:r>
            <a:r>
              <a:rPr b="1" lang="ko" sz="1500">
                <a:solidFill>
                  <a:schemeClr val="dk1"/>
                </a:solidFill>
                <a:highlight>
                  <a:srgbClr val="F7F7F7"/>
                </a:highlight>
                <a:latin typeface="Consolas"/>
                <a:ea typeface="Consolas"/>
                <a:cs typeface="Consolas"/>
                <a:sym typeface="Consolas"/>
              </a:rPr>
              <a:t>**어텐션만으로 인코더와 디코더를**</a:t>
            </a:r>
            <a:r>
              <a:rPr lang="ko" sz="1500">
                <a:solidFill>
                  <a:schemeClr val="dk1"/>
                </a:solidFill>
                <a:highlight>
                  <a:srgbClr val="F7F7F7"/>
                </a:highlight>
                <a:latin typeface="Consolas"/>
                <a:ea typeface="Consolas"/>
                <a:cs typeface="Consolas"/>
                <a:sym typeface="Consolas"/>
              </a:rPr>
              <a:t> 만들어보면 어떨까?</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7"/>
          <p:cNvSpPr txBox="1"/>
          <p:nvPr/>
        </p:nvSpPr>
        <p:spPr>
          <a:xfrm>
            <a:off x="0" y="0"/>
            <a:ext cx="3000000" cy="30129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2. 트랜스포머(Transformer)의 주요 하이퍼파라미터</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 논문에서 설정된 하이퍼 파라미터 값들.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사용자가 모델 설계시 변경할수 도 있는 값들.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의미에 대해서는 뒤에서 설명예정</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8"/>
          <p:cNvSpPr txBox="1"/>
          <p:nvPr/>
        </p:nvSpPr>
        <p:spPr>
          <a:xfrm>
            <a:off x="0" y="0"/>
            <a:ext cx="3000000" cy="145572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 = 512$$</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800000"/>
                </a:solidFill>
                <a:highlight>
                  <a:srgbClr val="F7F7F7"/>
                </a:highlight>
                <a:latin typeface="Consolas"/>
                <a:ea typeface="Consolas"/>
                <a:cs typeface="Consolas"/>
                <a:sym typeface="Consolas"/>
              </a:rPr>
              <a:t>&lt;br&gt;</a:t>
            </a:r>
            <a:endParaRPr sz="1500">
              <a:solidFill>
                <a:srgbClr val="80000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인코더와 디코더에서의 정해진 입력과 출력의 크기</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임베딩 벡터의 차원 또한 $d_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인코더와 디코더가 다음 층의 인코더와 디코더로 값을 보낼 때에도 이 차원을 유지.</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논문에서는 512입니다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$$\text</a:t>
            </a:r>
            <a:r>
              <a:rPr lang="ko" sz="1500">
                <a:solidFill>
                  <a:srgbClr val="A31515"/>
                </a:solidFill>
                <a:highlight>
                  <a:srgbClr val="F7F7F7"/>
                </a:highlight>
                <a:latin typeface="Consolas"/>
                <a:ea typeface="Consolas"/>
                <a:cs typeface="Consolas"/>
                <a:sym typeface="Consolas"/>
              </a:rPr>
              <a:t>{num_layers}</a:t>
            </a:r>
            <a:r>
              <a:rPr lang="ko" sz="1500">
                <a:solidFill>
                  <a:schemeClr val="dk1"/>
                </a:solidFill>
                <a:highlight>
                  <a:srgbClr val="F7F7F7"/>
                </a:highlight>
                <a:latin typeface="Consolas"/>
                <a:ea typeface="Consolas"/>
                <a:cs typeface="Consolas"/>
                <a:sym typeface="Consolas"/>
              </a:rPr>
              <a:t> = 6$$</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트랜스포머에서 하나의 </a:t>
            </a:r>
            <a:r>
              <a:rPr b="1" lang="ko" sz="1500">
                <a:solidFill>
                  <a:schemeClr val="dk1"/>
                </a:solidFill>
                <a:highlight>
                  <a:srgbClr val="F7F7F7"/>
                </a:highlight>
                <a:latin typeface="Consolas"/>
                <a:ea typeface="Consolas"/>
                <a:cs typeface="Consolas"/>
                <a:sym typeface="Consolas"/>
              </a:rPr>
              <a:t>**인코더와 디코더를 '층(layer)'**</a:t>
            </a:r>
            <a:r>
              <a:rPr lang="ko" sz="1500">
                <a:solidFill>
                  <a:schemeClr val="dk1"/>
                </a:solidFill>
                <a:highlight>
                  <a:srgbClr val="F7F7F7"/>
                </a:highlight>
                <a:latin typeface="Consolas"/>
                <a:ea typeface="Consolas"/>
                <a:cs typeface="Consolas"/>
                <a:sym typeface="Consolas"/>
              </a:rPr>
              <a:t>으로 생각할수 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 모델에서 </a:t>
            </a:r>
            <a:r>
              <a:rPr b="1" lang="ko" sz="1500">
                <a:solidFill>
                  <a:schemeClr val="dk1"/>
                </a:solidFill>
                <a:highlight>
                  <a:srgbClr val="F7F7F7"/>
                </a:highlight>
                <a:latin typeface="Consolas"/>
                <a:ea typeface="Consolas"/>
                <a:cs typeface="Consolas"/>
                <a:sym typeface="Consolas"/>
              </a:rPr>
              <a:t>**인코더와 디코더가 총 몇개의 '층'**</a:t>
            </a:r>
            <a:r>
              <a:rPr lang="ko" sz="1500">
                <a:solidFill>
                  <a:schemeClr val="dk1"/>
                </a:solidFill>
                <a:highlight>
                  <a:srgbClr val="F7F7F7"/>
                </a:highlight>
                <a:latin typeface="Consolas"/>
                <a:ea typeface="Consolas"/>
                <a:cs typeface="Consolas"/>
                <a:sym typeface="Consolas"/>
              </a:rPr>
              <a:t>으로 구성되었는지를 의미.</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논문에서는 인코더와 디코더를 각각 총 6개 쌓았다.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$$\text</a:t>
            </a:r>
            <a:r>
              <a:rPr lang="ko" sz="1500">
                <a:solidFill>
                  <a:srgbClr val="A31515"/>
                </a:solidFill>
                <a:highlight>
                  <a:srgbClr val="F7F7F7"/>
                </a:highlight>
                <a:latin typeface="Consolas"/>
                <a:ea typeface="Consolas"/>
                <a:cs typeface="Consolas"/>
                <a:sym typeface="Consolas"/>
              </a:rPr>
              <a:t>{num_heads}</a:t>
            </a:r>
            <a:r>
              <a:rPr lang="ko" sz="1500">
                <a:solidFill>
                  <a:schemeClr val="dk1"/>
                </a:solidFill>
                <a:highlight>
                  <a:srgbClr val="F7F7F7"/>
                </a:highlight>
                <a:latin typeface="Consolas"/>
                <a:ea typeface="Consolas"/>
                <a:cs typeface="Consolas"/>
                <a:sym typeface="Consolas"/>
              </a:rPr>
              <a:t> = 8$$</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트랜스포머에서는 어텐션을 사용할 때, 한 번 하는 것 보다 여러 개로 분할해서 </a:t>
            </a:r>
            <a:r>
              <a:rPr b="1" lang="ko" sz="1500">
                <a:solidFill>
                  <a:schemeClr val="dk1"/>
                </a:solidFill>
                <a:highlight>
                  <a:srgbClr val="F7F7F7"/>
                </a:highlight>
                <a:latin typeface="Consolas"/>
                <a:ea typeface="Consolas"/>
                <a:cs typeface="Consolas"/>
                <a:sym typeface="Consolas"/>
              </a:rPr>
              <a:t>**병렬로 어텐션을 수행**</a:t>
            </a:r>
            <a:r>
              <a:rPr lang="ko" sz="1500">
                <a:solidFill>
                  <a:schemeClr val="dk1"/>
                </a:solidFill>
                <a:highlight>
                  <a:srgbClr val="F7F7F7"/>
                </a:highlight>
                <a:latin typeface="Consolas"/>
                <a:ea typeface="Consolas"/>
                <a:cs typeface="Consolas"/>
                <a:sym typeface="Consolas"/>
              </a:rPr>
              <a:t>하고</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그 결과값을 다시 하나로 합치는 방식을 사용한다.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$\text</a:t>
            </a:r>
            <a:r>
              <a:rPr lang="ko" sz="1500">
                <a:solidFill>
                  <a:srgbClr val="A31515"/>
                </a:solidFill>
                <a:highlight>
                  <a:srgbClr val="F7F7F7"/>
                </a:highlight>
                <a:latin typeface="Consolas"/>
                <a:ea typeface="Consolas"/>
                <a:cs typeface="Consolas"/>
                <a:sym typeface="Consolas"/>
              </a:rPr>
              <a:t>{num_heads}</a:t>
            </a:r>
            <a:r>
              <a:rPr lang="ko" sz="1500">
                <a:solidFill>
                  <a:schemeClr val="dk1"/>
                </a:solidFill>
                <a:highlight>
                  <a:srgbClr val="F7F7F7"/>
                </a:highlight>
                <a:latin typeface="Consolas"/>
                <a:ea typeface="Consolas"/>
                <a:cs typeface="Consolas"/>
                <a:sym typeface="Consolas"/>
              </a:rPr>
              <a:t>$ 값은 그 </a:t>
            </a:r>
            <a:r>
              <a:rPr b="1" lang="ko" sz="1500">
                <a:solidFill>
                  <a:schemeClr val="dk1"/>
                </a:solidFill>
                <a:highlight>
                  <a:srgbClr val="F7F7F7"/>
                </a:highlight>
                <a:latin typeface="Consolas"/>
                <a:ea typeface="Consolas"/>
                <a:cs typeface="Consolas"/>
                <a:sym typeface="Consolas"/>
              </a:rPr>
              <a:t>**병렬의 개수**</a:t>
            </a:r>
            <a:r>
              <a:rPr lang="ko" sz="1500">
                <a:solidFill>
                  <a:schemeClr val="dk1"/>
                </a:solidFill>
                <a:highlight>
                  <a:srgbClr val="F7F7F7"/>
                </a:highlight>
                <a:latin typeface="Consolas"/>
                <a:ea typeface="Consolas"/>
                <a:cs typeface="Consolas"/>
                <a:sym typeface="Consolas"/>
              </a:rPr>
              <a:t>를 의미합니다.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$$d_</a:t>
            </a:r>
            <a:r>
              <a:rPr lang="ko" sz="1500">
                <a:solidFill>
                  <a:srgbClr val="A31515"/>
                </a:solidFill>
                <a:highlight>
                  <a:srgbClr val="F7F7F7"/>
                </a:highlight>
                <a:latin typeface="Consolas"/>
                <a:ea typeface="Consolas"/>
                <a:cs typeface="Consolas"/>
                <a:sym typeface="Consolas"/>
              </a:rPr>
              <a:t>{ff}</a:t>
            </a:r>
            <a:r>
              <a:rPr lang="ko" sz="1500">
                <a:solidFill>
                  <a:schemeClr val="dk1"/>
                </a:solidFill>
                <a:highlight>
                  <a:srgbClr val="F7F7F7"/>
                </a:highlight>
                <a:latin typeface="Consolas"/>
                <a:ea typeface="Consolas"/>
                <a:cs typeface="Consolas"/>
                <a:sym typeface="Consolas"/>
              </a:rPr>
              <a:t> = 2048$$</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 내부에는 피드 포워드 신경망이 존재하며</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$d_</a:t>
            </a:r>
            <a:r>
              <a:rPr lang="ko" sz="1500">
                <a:solidFill>
                  <a:srgbClr val="A31515"/>
                </a:solidFill>
                <a:highlight>
                  <a:srgbClr val="F7F7F7"/>
                </a:highlight>
                <a:latin typeface="Consolas"/>
                <a:ea typeface="Consolas"/>
                <a:cs typeface="Consolas"/>
                <a:sym typeface="Consolas"/>
              </a:rPr>
              <a:t>{ff}</a:t>
            </a:r>
            <a:r>
              <a:rPr lang="ko" sz="1500">
                <a:solidFill>
                  <a:schemeClr val="dk1"/>
                </a:solidFill>
                <a:highlight>
                  <a:srgbClr val="F7F7F7"/>
                </a:highlight>
                <a:latin typeface="Consolas"/>
                <a:ea typeface="Consolas"/>
                <a:cs typeface="Consolas"/>
                <a:sym typeface="Consolas"/>
              </a:rPr>
              <a:t>$는 해당 신경망의 은닉층의 크기다.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피드 포워드 신경망의 입력층과 출력층의 크기는 $d_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입니다.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nvSpPr>
        <p:spPr>
          <a:xfrm>
            <a:off x="0" y="0"/>
            <a:ext cx="3000000" cy="9927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![](https://wikidocs.net/images/page/31379/transformer1.PNG)</a:t>
            </a:r>
            <a:endParaRPr sz="1500">
              <a:solidFill>
                <a:srgbClr val="A31515"/>
              </a:solidFill>
              <a:highlight>
                <a:srgbClr val="F7F7F7"/>
              </a:highlight>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nvSpPr>
        <p:spPr>
          <a:xfrm>
            <a:off x="0" y="0"/>
            <a:ext cx="3000000" cy="58992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트랜스포머는 RNN을 사용하지 않지만,</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기존의 seq2seq처럼 </a:t>
            </a:r>
            <a:r>
              <a:rPr b="1" lang="ko" sz="1500">
                <a:solidFill>
                  <a:schemeClr val="dk1"/>
                </a:solidFill>
                <a:highlight>
                  <a:srgbClr val="F7F7F7"/>
                </a:highlight>
                <a:latin typeface="Consolas"/>
                <a:ea typeface="Consolas"/>
                <a:cs typeface="Consolas"/>
                <a:sym typeface="Consolas"/>
              </a:rPr>
              <a:t>**인코더-디코더 구조**</a:t>
            </a:r>
            <a:r>
              <a:rPr lang="ko" sz="1500">
                <a:solidFill>
                  <a:schemeClr val="dk1"/>
                </a:solidFill>
                <a:highlight>
                  <a:srgbClr val="F7F7F7"/>
                </a:highlight>
                <a:latin typeface="Consolas"/>
                <a:ea typeface="Consolas"/>
                <a:cs typeface="Consolas"/>
                <a:sym typeface="Consolas"/>
              </a:rPr>
              <a:t>를 유지한다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인코더에서 입력 시퀀스를 입력</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디코더에서 출력 시퀀스를 출력</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이전 seq2seq 구조에서는 인코더와 디코더에서 각각 하나의 RNN이 t개의 시점(time step)을 가지는 구조였다면,</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트랜스포머에서는 </a:t>
            </a:r>
            <a:r>
              <a:rPr b="1" lang="ko" sz="1500">
                <a:solidFill>
                  <a:schemeClr val="dk1"/>
                </a:solidFill>
                <a:highlight>
                  <a:srgbClr val="F7F7F7"/>
                </a:highlight>
                <a:latin typeface="Consolas"/>
                <a:ea typeface="Consolas"/>
                <a:cs typeface="Consolas"/>
                <a:sym typeface="Consolas"/>
              </a:rPr>
              <a:t>**인코더와 디코더라는 단위가 N개로 구성되는 구조**</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논문에서는 인코더와 디코더의 개수를 각각 6개 사용.</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1"/>
          <p:cNvSpPr txBox="1"/>
          <p:nvPr/>
        </p:nvSpPr>
        <p:spPr>
          <a:xfrm>
            <a:off x="0" y="0"/>
            <a:ext cx="3000000" cy="3879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![](https://wikidocs.net/images/page/31379/transformer2.PNG)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위의 그림은 인코더와 디코더가 6개씩 존재하는 트랜스포머의 구조를 보여줍니다.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 인코더와 디코더가 각각 여러 개 쌓여있다는 의미를 사용할 때는 알파벳 s를 뒤에 붙여 encoders, decoders라고 표현하겠습니다.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2"/>
          <p:cNvSpPr txBox="1"/>
          <p:nvPr/>
        </p:nvSpPr>
        <p:spPr>
          <a:xfrm>
            <a:off x="0" y="0"/>
            <a:ext cx="3000000" cy="56106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a:t>
            </a:r>
            <a:endParaRPr sz="1500">
              <a:solidFill>
                <a:srgbClr val="0000FF"/>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![](https://wikidocs.net/images/page/31379/transformer4_final_final_final.PNG)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위의 그림은 인코더로부터 정보를 전달받아 디코더가 출력 결과를 만들어내는 트랜스포머 구조.</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b="1" lang="ko" sz="1500">
                <a:solidFill>
                  <a:schemeClr val="dk1"/>
                </a:solidFill>
                <a:highlight>
                  <a:srgbClr val="F7F7F7"/>
                </a:highlight>
                <a:latin typeface="Consolas"/>
                <a:ea typeface="Consolas"/>
                <a:cs typeface="Consolas"/>
                <a:sym typeface="Consolas"/>
              </a:rPr>
              <a:t>**디코더**</a:t>
            </a:r>
            <a:r>
              <a:rPr lang="ko" sz="1500">
                <a:solidFill>
                  <a:schemeClr val="dk1"/>
                </a:solidFill>
                <a:highlight>
                  <a:srgbClr val="F7F7F7"/>
                </a:highlight>
                <a:latin typeface="Consolas"/>
                <a:ea typeface="Consolas"/>
                <a:cs typeface="Consolas"/>
                <a:sym typeface="Consolas"/>
              </a:rPr>
              <a:t>는</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마치 기존의 seq2seq 구조처럼 시작 심볼 </a:t>
            </a:r>
            <a:r>
              <a:rPr lang="ko" sz="1500">
                <a:solidFill>
                  <a:srgbClr val="A31515"/>
                </a:solidFill>
                <a:highlight>
                  <a:srgbClr val="F7F7F7"/>
                </a:highlight>
                <a:latin typeface="Consolas"/>
                <a:ea typeface="Consolas"/>
                <a:cs typeface="Consolas"/>
                <a:sym typeface="Consolas"/>
              </a:rPr>
              <a:t>&amp;lt;</a:t>
            </a:r>
            <a:r>
              <a:rPr lang="ko" sz="1500">
                <a:solidFill>
                  <a:schemeClr val="dk1"/>
                </a:solidFill>
                <a:highlight>
                  <a:srgbClr val="F7F7F7"/>
                </a:highlight>
                <a:latin typeface="Consolas"/>
                <a:ea typeface="Consolas"/>
                <a:cs typeface="Consolas"/>
                <a:sym typeface="Consolas"/>
              </a:rPr>
              <a:t>sos</a:t>
            </a:r>
            <a:r>
              <a:rPr lang="ko" sz="1500">
                <a:solidFill>
                  <a:srgbClr val="A31515"/>
                </a:solidFill>
                <a:highlight>
                  <a:srgbClr val="F7F7F7"/>
                </a:highlight>
                <a:latin typeface="Consolas"/>
                <a:ea typeface="Consolas"/>
                <a:cs typeface="Consolas"/>
                <a:sym typeface="Consolas"/>
              </a:rPr>
              <a:t>&amp;gt;</a:t>
            </a:r>
            <a:r>
              <a:rPr lang="ko" sz="1500">
                <a:solidFill>
                  <a:schemeClr val="dk1"/>
                </a:solidFill>
                <a:highlight>
                  <a:srgbClr val="F7F7F7"/>
                </a:highlight>
                <a:latin typeface="Consolas"/>
                <a:ea typeface="Consolas"/>
                <a:cs typeface="Consolas"/>
                <a:sym typeface="Consolas"/>
              </a:rPr>
              <a:t> 를 입력으로 받아</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종료 심볼 </a:t>
            </a:r>
            <a:r>
              <a:rPr lang="ko" sz="1500">
                <a:solidFill>
                  <a:srgbClr val="A31515"/>
                </a:solidFill>
                <a:highlight>
                  <a:srgbClr val="F7F7F7"/>
                </a:highlight>
                <a:latin typeface="Consolas"/>
                <a:ea typeface="Consolas"/>
                <a:cs typeface="Consolas"/>
                <a:sym typeface="Consolas"/>
              </a:rPr>
              <a:t>&amp;lt;</a:t>
            </a:r>
            <a:r>
              <a:rPr lang="ko" sz="1500">
                <a:solidFill>
                  <a:schemeClr val="dk1"/>
                </a:solidFill>
                <a:highlight>
                  <a:srgbClr val="F7F7F7"/>
                </a:highlight>
                <a:latin typeface="Consolas"/>
                <a:ea typeface="Consolas"/>
                <a:cs typeface="Consolas"/>
                <a:sym typeface="Consolas"/>
              </a:rPr>
              <a:t>eos</a:t>
            </a:r>
            <a:r>
              <a:rPr lang="ko" sz="1500">
                <a:solidFill>
                  <a:srgbClr val="A31515"/>
                </a:solidFill>
                <a:highlight>
                  <a:srgbClr val="F7F7F7"/>
                </a:highlight>
                <a:latin typeface="Consolas"/>
                <a:ea typeface="Consolas"/>
                <a:cs typeface="Consolas"/>
                <a:sym typeface="Consolas"/>
              </a:rPr>
              <a:t>&amp;gt;</a:t>
            </a:r>
            <a:r>
              <a:rPr lang="ko" sz="1500">
                <a:solidFill>
                  <a:schemeClr val="dk1"/>
                </a:solidFill>
                <a:highlight>
                  <a:srgbClr val="F7F7F7"/>
                </a:highlight>
                <a:latin typeface="Consolas"/>
                <a:ea typeface="Consolas"/>
                <a:cs typeface="Consolas"/>
                <a:sym typeface="Consolas"/>
              </a:rPr>
              <a:t>가 나올 때까지 연산을 진행합니다.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이는 RNN은 사용되지 않지만 여전히 인코더-디코더의 구조는 유지되고 있음을 보여준다.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3"/>
          <p:cNvSpPr txBox="1"/>
          <p:nvPr/>
        </p:nvSpPr>
        <p:spPr>
          <a:xfrm>
            <a:off x="0" y="0"/>
            <a:ext cx="3000000" cy="21471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b="1" lang="ko" sz="1500">
                <a:solidFill>
                  <a:schemeClr val="dk1"/>
                </a:solidFill>
                <a:highlight>
                  <a:srgbClr val="F7F7F7"/>
                </a:highlight>
                <a:latin typeface="Consolas"/>
                <a:ea typeface="Consolas"/>
                <a:cs typeface="Consolas"/>
                <a:sym typeface="Consolas"/>
              </a:rPr>
              <a:t>**트랜스포머의 입력**</a:t>
            </a:r>
            <a:endParaRPr b="1"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트랜스포머의 인코더와 디코더는 단순히 각 단어의 임베딩 벡터들을 입력받는 것이 아니라</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b="1" lang="ko" sz="1500">
                <a:solidFill>
                  <a:schemeClr val="dk1"/>
                </a:solidFill>
                <a:highlight>
                  <a:srgbClr val="F7F7F7"/>
                </a:highlight>
                <a:latin typeface="Consolas"/>
                <a:ea typeface="Consolas"/>
                <a:cs typeface="Consolas"/>
                <a:sym typeface="Consolas"/>
              </a:rPr>
              <a:t>**임베딩 벡터에서 '조정된 값'을 입력**</a:t>
            </a:r>
            <a:r>
              <a:rPr lang="ko" sz="1500">
                <a:solidFill>
                  <a:schemeClr val="dk1"/>
                </a:solidFill>
                <a:highlight>
                  <a:srgbClr val="F7F7F7"/>
                </a:highlight>
                <a:latin typeface="Consolas"/>
                <a:ea typeface="Consolas"/>
                <a:cs typeface="Consolas"/>
                <a:sym typeface="Consolas"/>
              </a:rPr>
              <a:t>받는다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nvSpPr>
        <p:spPr>
          <a:xfrm>
            <a:off x="0" y="0"/>
            <a:ext cx="3000000" cy="27243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RNN 이 자연어 처리에서 유용했던 이유는?</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단어의 위치에 따라 단어를 순차적으로 입력받아서 처리하는 RNN의 특성으로 인해</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각 단어의 </a:t>
            </a:r>
            <a:r>
              <a:rPr b="1" lang="ko" sz="1500">
                <a:solidFill>
                  <a:schemeClr val="dk1"/>
                </a:solidFill>
                <a:highlight>
                  <a:srgbClr val="F7F7F7"/>
                </a:highlight>
                <a:latin typeface="Consolas"/>
                <a:ea typeface="Consolas"/>
                <a:cs typeface="Consolas"/>
                <a:sym typeface="Consolas"/>
              </a:rPr>
              <a:t>**위치 정보(position information)**</a:t>
            </a:r>
            <a:r>
              <a:rPr lang="ko" sz="1500">
                <a:solidFill>
                  <a:schemeClr val="dk1"/>
                </a:solidFill>
                <a:highlight>
                  <a:srgbClr val="F7F7F7"/>
                </a:highlight>
                <a:latin typeface="Consolas"/>
                <a:ea typeface="Consolas"/>
                <a:cs typeface="Consolas"/>
                <a:sym typeface="Consolas"/>
              </a:rPr>
              <a:t>를 가질 수 있다는 점!!  </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5"/>
          <p:cNvSpPr txBox="1"/>
          <p:nvPr/>
        </p:nvSpPr>
        <p:spPr>
          <a:xfrm>
            <a:off x="0" y="0"/>
            <a:ext cx="3000000" cy="41676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하지만 트랜스포머는 단어 입력을 순차적으로 받는 방식이 아니므로,</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단어의 위치 정보를 다른 방식으로 알려줄 필요가 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트랜스포머는 단어의 위치 정보를 얻기 위해서</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각 단어의 </a:t>
            </a:r>
            <a:r>
              <a:rPr b="1" lang="ko" sz="1500">
                <a:solidFill>
                  <a:schemeClr val="dk1"/>
                </a:solidFill>
                <a:highlight>
                  <a:srgbClr val="F7F7F7"/>
                </a:highlight>
                <a:latin typeface="Consolas"/>
                <a:ea typeface="Consolas"/>
                <a:cs typeface="Consolas"/>
                <a:sym typeface="Consolas"/>
              </a:rPr>
              <a:t>**'임베딩 벡터'**</a:t>
            </a:r>
            <a:r>
              <a:rPr lang="ko" sz="1500">
                <a:solidFill>
                  <a:schemeClr val="dk1"/>
                </a:solidFill>
                <a:highlight>
                  <a:srgbClr val="F7F7F7"/>
                </a:highlight>
                <a:latin typeface="Consolas"/>
                <a:ea typeface="Consolas"/>
                <a:cs typeface="Consolas"/>
                <a:sym typeface="Consolas"/>
              </a:rPr>
              <a:t> 에 </a:t>
            </a:r>
            <a:r>
              <a:rPr b="1" lang="ko" sz="1500">
                <a:solidFill>
                  <a:schemeClr val="dk1"/>
                </a:solidFill>
                <a:highlight>
                  <a:srgbClr val="F7F7F7"/>
                </a:highlight>
                <a:latin typeface="Consolas"/>
                <a:ea typeface="Consolas"/>
                <a:cs typeface="Consolas"/>
                <a:sym typeface="Consolas"/>
              </a:rPr>
              <a:t>**'위치 정보'**</a:t>
            </a:r>
            <a:r>
              <a:rPr lang="ko" sz="1500">
                <a:solidFill>
                  <a:schemeClr val="dk1"/>
                </a:solidFill>
                <a:highlight>
                  <a:srgbClr val="F7F7F7"/>
                </a:highlight>
                <a:latin typeface="Consolas"/>
                <a:ea typeface="Consolas"/>
                <a:cs typeface="Consolas"/>
                <a:sym typeface="Consolas"/>
              </a:rPr>
              <a:t>들을 더하여 모델의 입력으로 사용하는데,</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이를 </a:t>
            </a:r>
            <a:r>
              <a:rPr b="1" lang="ko" sz="1500">
                <a:solidFill>
                  <a:schemeClr val="dk1"/>
                </a:solidFill>
                <a:highlight>
                  <a:srgbClr val="F7F7F7"/>
                </a:highlight>
                <a:latin typeface="Consolas"/>
                <a:ea typeface="Consolas"/>
                <a:cs typeface="Consolas"/>
                <a:sym typeface="Consolas"/>
              </a:rPr>
              <a:t>**포지셔널 인코딩(positional encoding)**</a:t>
            </a:r>
            <a:r>
              <a:rPr lang="ko" sz="1500">
                <a:solidFill>
                  <a:schemeClr val="dk1"/>
                </a:solidFill>
                <a:highlight>
                  <a:srgbClr val="F7F7F7"/>
                </a:highlight>
                <a:latin typeface="Consolas"/>
                <a:ea typeface="Consolas"/>
                <a:cs typeface="Consolas"/>
                <a:sym typeface="Consolas"/>
              </a:rPr>
              <a:t>이라고 합니다.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6"/>
          <p:cNvSpPr txBox="1"/>
          <p:nvPr/>
        </p:nvSpPr>
        <p:spPr>
          <a:xfrm>
            <a:off x="0" y="0"/>
            <a:ext cx="3000000" cy="30129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![](https://wikidocs.net/images/page/31379/transformer5_final_final.PNG)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 위 그림은 입력으로 사용되는 임베딩 벡터들이 트랜스포머의 입력으로 사용되기 전에 포지셔널 인코딩의 값이 더해지는 것을 보여줍니다.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7"/>
          <p:cNvSpPr txBox="1"/>
          <p:nvPr/>
        </p:nvSpPr>
        <p:spPr>
          <a:xfrm>
            <a:off x="0" y="0"/>
            <a:ext cx="3000000" cy="21471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임베딩 벡터가 인코더의 입력으로 사용되기 전 포지셔널 인코딩값이 더해지는 과정을 시각화하면 아래와 같습니다.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![](https://wikidocs.net/images/page/31379/transformer6_final.PNG)</a:t>
            </a:r>
            <a:endParaRPr sz="1500">
              <a:solidFill>
                <a:srgbClr val="A31515"/>
              </a:solidFill>
              <a:highlight>
                <a:srgbClr val="F7F7F7"/>
              </a:highlight>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8"/>
          <p:cNvSpPr txBox="1"/>
          <p:nvPr/>
        </p:nvSpPr>
        <p:spPr>
          <a:xfrm>
            <a:off x="0" y="0"/>
            <a:ext cx="3000000" cy="41676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포지셔널 인코딩 값들은 어떤 값이기에 '위치 정보'를 반영해줄 수 있는 것일까요? 트랜스포머는 위치 정보를 가진 값을 만들기 위해서 아래의 두 개의 함수를 사용합니다.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$$PE</a:t>
            </a:r>
            <a:r>
              <a:rPr i="1" lang="ko" sz="1500">
                <a:solidFill>
                  <a:schemeClr val="dk1"/>
                </a:solidFill>
                <a:highlight>
                  <a:srgbClr val="F7F7F7"/>
                </a:highlight>
                <a:latin typeface="Consolas"/>
                <a:ea typeface="Consolas"/>
                <a:cs typeface="Consolas"/>
                <a:sym typeface="Consolas"/>
              </a:rPr>
              <a:t>_{(pos, 2i)} = sin(pos/10000^{2i/d_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$$PE</a:t>
            </a:r>
            <a:r>
              <a:rPr i="1" lang="ko" sz="1500">
                <a:solidFill>
                  <a:schemeClr val="dk1"/>
                </a:solidFill>
                <a:highlight>
                  <a:srgbClr val="F7F7F7"/>
                </a:highlight>
                <a:latin typeface="Consolas"/>
                <a:ea typeface="Consolas"/>
                <a:cs typeface="Consolas"/>
                <a:sym typeface="Consolas"/>
              </a:rPr>
              <a:t>_{(pos, 2i+1)} = cos(pos/10000^{2i/d_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9"/>
          <p:cNvSpPr txBox="1"/>
          <p:nvPr/>
        </p:nvSpPr>
        <p:spPr>
          <a:xfrm>
            <a:off x="0" y="0"/>
            <a:ext cx="3000000" cy="21471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사인 함수와 코사인 함수의 그래프를 상기해보면 요동치는 값의 형태를 생각해볼 수 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트랜스포머는 사인 함수와 코사인 함수의 값을 임베딩 벡터에 더해주므로서 단어의 '순서 정보'를 더하여 준다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0"/>
          <p:cNvSpPr txBox="1"/>
          <p:nvPr/>
        </p:nvSpPr>
        <p:spPr>
          <a:xfrm>
            <a:off x="0" y="0"/>
            <a:ext cx="3000000" cy="47448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그런데 위의 두 함수에는 $pos$, $i$, $d_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 등의 생소한 변수들이 있습니다.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위의 함수를 이해하기 위해서는 위에서 본 임베딩 벡터와 포지셔널 인코딩의 덧셈은 사실 </a:t>
            </a:r>
            <a:r>
              <a:rPr b="1" lang="ko" sz="1500">
                <a:solidFill>
                  <a:schemeClr val="dk1"/>
                </a:solidFill>
                <a:highlight>
                  <a:srgbClr val="F7F7F7"/>
                </a:highlight>
                <a:latin typeface="Consolas"/>
                <a:ea typeface="Consolas"/>
                <a:cs typeface="Consolas"/>
                <a:sym typeface="Consolas"/>
              </a:rPr>
              <a:t>**임베딩 벡터가 모여 만들어진 문장 행렬**</a:t>
            </a:r>
            <a:r>
              <a:rPr lang="ko" sz="1500">
                <a:solidFill>
                  <a:schemeClr val="dk1"/>
                </a:solidFill>
                <a:highlight>
                  <a:srgbClr val="F7F7F7"/>
                </a:highlight>
                <a:latin typeface="Consolas"/>
                <a:ea typeface="Consolas"/>
                <a:cs typeface="Consolas"/>
                <a:sym typeface="Consolas"/>
              </a:rPr>
              <a:t> 과 </a:t>
            </a:r>
            <a:r>
              <a:rPr b="1" lang="ko" sz="1500">
                <a:solidFill>
                  <a:schemeClr val="dk1"/>
                </a:solidFill>
                <a:highlight>
                  <a:srgbClr val="F7F7F7"/>
                </a:highlight>
                <a:latin typeface="Consolas"/>
                <a:ea typeface="Consolas"/>
                <a:cs typeface="Consolas"/>
                <a:sym typeface="Consolas"/>
              </a:rPr>
              <a:t>**포지셔널 인코딩 행렬**</a:t>
            </a:r>
            <a:r>
              <a:rPr lang="ko" sz="1500">
                <a:solidFill>
                  <a:schemeClr val="dk1"/>
                </a:solidFill>
                <a:highlight>
                  <a:srgbClr val="F7F7F7"/>
                </a:highlight>
                <a:latin typeface="Consolas"/>
                <a:ea typeface="Consolas"/>
                <a:cs typeface="Consolas"/>
                <a:sym typeface="Consolas"/>
              </a:rPr>
              <a:t>의 덧셈 연산을 통해 이루어진다는 점을 이해해야 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![](https://wikidocs.net/images/page/31379/transformer7.PNG)</a:t>
            </a:r>
            <a:endParaRPr sz="1500">
              <a:solidFill>
                <a:srgbClr val="A31515"/>
              </a:solidFill>
              <a:highlight>
                <a:srgbClr val="F7F7F7"/>
              </a:highlight>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1"/>
          <p:cNvSpPr txBox="1"/>
          <p:nvPr/>
        </p:nvSpPr>
        <p:spPr>
          <a:xfrm>
            <a:off x="0" y="0"/>
            <a:ext cx="3000000" cy="47448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$pos$ 는 입력 문장에서의 </a:t>
            </a:r>
            <a:r>
              <a:rPr b="1" lang="ko" sz="1500">
                <a:solidFill>
                  <a:schemeClr val="dk1"/>
                </a:solidFill>
                <a:highlight>
                  <a:srgbClr val="F7F7F7"/>
                </a:highlight>
                <a:latin typeface="Consolas"/>
                <a:ea typeface="Consolas"/>
                <a:cs typeface="Consolas"/>
                <a:sym typeface="Consolas"/>
              </a:rPr>
              <a:t>**임베딩 벡터의 위치**</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$i$ 는 임베딩 벡터 내의 </a:t>
            </a:r>
            <a:r>
              <a:rPr b="1" lang="ko" sz="1500">
                <a:solidFill>
                  <a:schemeClr val="dk1"/>
                </a:solidFill>
                <a:highlight>
                  <a:srgbClr val="F7F7F7"/>
                </a:highlight>
                <a:latin typeface="Consolas"/>
                <a:ea typeface="Consolas"/>
                <a:cs typeface="Consolas"/>
                <a:sym typeface="Consolas"/>
              </a:rPr>
              <a:t>**차원의 인덱스**</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위의 식에 따르면 임베딩 벡터 내의 각 차원의 인덱스 $i$ 가</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짝수인 경우에는 사인 함수의 값을 사용</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홀수인 경우에는 코사인 함수의 값을 사용</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즉! 위의 수식에서</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$(pos, 2i)$ 일 때는 사인 함수를 사용!</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$(pos, 2i+1)$일 때는 코사인 함수를 사용!</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2"/>
          <p:cNvSpPr txBox="1"/>
          <p:nvPr/>
        </p:nvSpPr>
        <p:spPr>
          <a:xfrm>
            <a:off x="0" y="0"/>
            <a:ext cx="3000000" cy="47448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위의 식에서 $d_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은 트랜스포머의 </a:t>
            </a:r>
            <a:r>
              <a:rPr b="1" lang="ko" sz="1500">
                <a:solidFill>
                  <a:schemeClr val="dk1"/>
                </a:solidFill>
                <a:highlight>
                  <a:srgbClr val="F7F7F7"/>
                </a:highlight>
                <a:latin typeface="Consolas"/>
                <a:ea typeface="Consolas"/>
                <a:cs typeface="Consolas"/>
                <a:sym typeface="Consolas"/>
              </a:rPr>
              <a:t>**모든 층의 출력 차원**</a:t>
            </a:r>
            <a:r>
              <a:rPr lang="ko" sz="1500">
                <a:solidFill>
                  <a:schemeClr val="dk1"/>
                </a:solidFill>
                <a:highlight>
                  <a:srgbClr val="F7F7F7"/>
                </a:highlight>
                <a:latin typeface="Consolas"/>
                <a:ea typeface="Consolas"/>
                <a:cs typeface="Consolas"/>
                <a:sym typeface="Consolas"/>
              </a:rPr>
              <a:t>을 의미하는 트랜스포머의 하이퍼파라미터 라고 했습니다.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앞으로 보게 될 트랜스포머의 각종 구조에서</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chemeClr val="dk1"/>
                </a:solidFill>
                <a:highlight>
                  <a:srgbClr val="F7F7F7"/>
                </a:highlight>
                <a:latin typeface="Consolas"/>
                <a:ea typeface="Consolas"/>
                <a:cs typeface="Consolas"/>
                <a:sym typeface="Consolas"/>
              </a:rPr>
              <a:t>$d_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 값이 계속해서 등장하는 이유입니다.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임베딩 벡터 또한 $d_</a:t>
            </a:r>
            <a:r>
              <a:rPr lang="ko" sz="1500">
                <a:solidFill>
                  <a:srgbClr val="A31515"/>
                </a:solidFill>
                <a:highlight>
                  <a:srgbClr val="F7F7F7"/>
                </a:highlight>
                <a:latin typeface="Consolas"/>
                <a:ea typeface="Consolas"/>
                <a:cs typeface="Consolas"/>
                <a:sym typeface="Consolas"/>
              </a:rPr>
              <a:t>{model}</a:t>
            </a:r>
            <a:r>
              <a:rPr lang="ko" sz="1500">
                <a:solidFill>
                  <a:schemeClr val="dk1"/>
                </a:solidFill>
                <a:highlight>
                  <a:srgbClr val="F7F7F7"/>
                </a:highlight>
                <a:latin typeface="Consolas"/>
                <a:ea typeface="Consolas"/>
                <a:cs typeface="Consolas"/>
                <a:sym typeface="Consolas"/>
              </a:rPr>
              <a:t>$의 차원을 가지는데 위의 그림에서는 4로 표현되었지만 실제 논문에서는 512의 값을 가집니다.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3"/>
          <p:cNvSpPr txBox="1"/>
          <p:nvPr/>
        </p:nvSpPr>
        <p:spPr>
          <a:xfrm>
            <a:off x="0" y="0"/>
            <a:ext cx="3000000" cy="41676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위와 같은 포지셔널 인코딩 방법을 사용하면 </a:t>
            </a:r>
            <a:r>
              <a:rPr b="1" lang="ko" sz="1500">
                <a:solidFill>
                  <a:schemeClr val="dk1"/>
                </a:solidFill>
                <a:highlight>
                  <a:srgbClr val="F7F7F7"/>
                </a:highlight>
                <a:latin typeface="Consolas"/>
                <a:ea typeface="Consolas"/>
                <a:cs typeface="Consolas"/>
                <a:sym typeface="Consolas"/>
              </a:rPr>
              <a:t>**순서 정보**</a:t>
            </a:r>
            <a:r>
              <a:rPr lang="ko" sz="1500">
                <a:solidFill>
                  <a:schemeClr val="dk1"/>
                </a:solidFill>
                <a:highlight>
                  <a:srgbClr val="F7F7F7"/>
                </a:highlight>
                <a:latin typeface="Consolas"/>
                <a:ea typeface="Consolas"/>
                <a:cs typeface="Consolas"/>
                <a:sym typeface="Consolas"/>
              </a:rPr>
              <a:t>가 보존된다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예를 들어 각 임베딩 벡터에 포지셔널 인코딩의 값을 더하면 '같은 단어'라고 하더라도 '문장 내의 위치'에 따라서 트랜스포머의 입력으로 들어가는 임베딩 벡터의 값이 달라진다.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이에 따라 </a:t>
            </a:r>
            <a:r>
              <a:rPr b="1" lang="ko" sz="1500">
                <a:solidFill>
                  <a:schemeClr val="dk1"/>
                </a:solidFill>
                <a:highlight>
                  <a:srgbClr val="F7F7F7"/>
                </a:highlight>
                <a:latin typeface="Consolas"/>
                <a:ea typeface="Consolas"/>
                <a:cs typeface="Consolas"/>
                <a:sym typeface="Consolas"/>
              </a:rPr>
              <a:t>**트랜스포머의 입력**</a:t>
            </a:r>
            <a:r>
              <a:rPr lang="ko" sz="1500">
                <a:solidFill>
                  <a:schemeClr val="dk1"/>
                </a:solidFill>
                <a:highlight>
                  <a:srgbClr val="F7F7F7"/>
                </a:highlight>
                <a:latin typeface="Consolas"/>
                <a:ea typeface="Consolas"/>
                <a:cs typeface="Consolas"/>
                <a:sym typeface="Consolas"/>
              </a:rPr>
              <a:t>은 </a:t>
            </a:r>
            <a:r>
              <a:rPr b="1" lang="ko" sz="1500">
                <a:solidFill>
                  <a:schemeClr val="dk1"/>
                </a:solidFill>
                <a:highlight>
                  <a:srgbClr val="F7F7F7"/>
                </a:highlight>
                <a:latin typeface="Consolas"/>
                <a:ea typeface="Consolas"/>
                <a:cs typeface="Consolas"/>
                <a:sym typeface="Consolas"/>
              </a:rPr>
              <a:t>**순서 정보가 고려된 임베딩 벡터**</a:t>
            </a:r>
            <a:r>
              <a:rPr lang="ko" sz="1500">
                <a:solidFill>
                  <a:schemeClr val="dk1"/>
                </a:solidFill>
                <a:highlight>
                  <a:srgbClr val="F7F7F7"/>
                </a:highlight>
                <a:latin typeface="Consolas"/>
                <a:ea typeface="Consolas"/>
                <a:cs typeface="Consolas"/>
                <a:sym typeface="Consolas"/>
              </a:rPr>
              <a:t>가 됩니다.</a:t>
            </a:r>
            <a:endParaRPr sz="1500">
              <a:solidFill>
                <a:schemeClr val="dk1"/>
              </a:solidFill>
              <a:highlight>
                <a:srgbClr val="F7F7F7"/>
              </a:highlight>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4"/>
          <p:cNvSpPr txBox="1"/>
          <p:nvPr/>
        </p:nvSpPr>
        <p:spPr>
          <a:xfrm>
            <a:off x="0" y="0"/>
            <a:ext cx="3000000" cy="18585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008000"/>
                </a:solidFill>
                <a:highlight>
                  <a:srgbClr val="F7F7F7"/>
                </a:highlight>
                <a:latin typeface="Consolas"/>
                <a:ea typeface="Consolas"/>
                <a:cs typeface="Consolas"/>
                <a:sym typeface="Consolas"/>
              </a:rPr>
              <a:t># 동작 확인</a:t>
            </a:r>
            <a:endParaRPr sz="1500">
              <a:solidFill>
                <a:srgbClr val="00800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8000"/>
                </a:solidFill>
                <a:highlight>
                  <a:srgbClr val="F7F7F7"/>
                </a:highlight>
                <a:latin typeface="Consolas"/>
                <a:ea typeface="Consolas"/>
                <a:cs typeface="Consolas"/>
                <a:sym typeface="Consolas"/>
              </a:rPr>
              <a:t>#   50 x 128 크기를 가지는 포지셔널 인코딩 행렬 시각화.</a:t>
            </a:r>
            <a:endParaRPr sz="1500">
              <a:solidFill>
                <a:srgbClr val="00800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8000"/>
                </a:solidFill>
                <a:highlight>
                  <a:srgbClr val="F7F7F7"/>
                </a:highlight>
                <a:latin typeface="Consolas"/>
                <a:ea typeface="Consolas"/>
                <a:cs typeface="Consolas"/>
                <a:sym typeface="Consolas"/>
              </a:rPr>
              <a:t>#   문장의 단어가 50개,  각 단어의 표현은 128개 임베딩 벡터.</a:t>
            </a:r>
            <a:endParaRPr sz="1500">
              <a:solidFill>
                <a:srgbClr val="008000"/>
              </a:solidFill>
              <a:highlight>
                <a:srgbClr val="F7F7F7"/>
              </a:highlight>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5"/>
          <p:cNvSpPr txBox="1"/>
          <p:nvPr/>
        </p:nvSpPr>
        <p:spPr>
          <a:xfrm>
            <a:off x="0" y="0"/>
            <a:ext cx="3000000" cy="11094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![](https://wikidocs.net/images/page/31379/attention.PNG)</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b="1" lang="ko" sz="1500">
                <a:solidFill>
                  <a:schemeClr val="dk1"/>
                </a:solidFill>
                <a:highlight>
                  <a:srgbClr val="F7F7F7"/>
                </a:highlight>
                <a:latin typeface="Consolas"/>
                <a:ea typeface="Consolas"/>
                <a:cs typeface="Consolas"/>
                <a:sym typeface="Consolas"/>
              </a:rPr>
              <a:t>**Encoder Self-Attention**</a:t>
            </a:r>
            <a:r>
              <a:rPr lang="ko" sz="1500">
                <a:solidFill>
                  <a:schemeClr val="dk1"/>
                </a:solidFill>
                <a:highlight>
                  <a:srgbClr val="F7F7F7"/>
                </a:highlight>
                <a:latin typeface="Consolas"/>
                <a:ea typeface="Consolas"/>
                <a:cs typeface="Consolas"/>
                <a:sym typeface="Consolas"/>
              </a:rPr>
              <a:t> 는 '인코더'에서 이루어진다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b="1" lang="ko" sz="1500">
                <a:solidFill>
                  <a:schemeClr val="dk1"/>
                </a:solidFill>
                <a:highlight>
                  <a:srgbClr val="F7F7F7"/>
                </a:highlight>
                <a:latin typeface="Consolas"/>
                <a:ea typeface="Consolas"/>
                <a:cs typeface="Consolas"/>
                <a:sym typeface="Consolas"/>
              </a:rPr>
              <a:t>**Masked Decoder Self-Attention**</a:t>
            </a:r>
            <a:r>
              <a:rPr lang="ko" sz="1500">
                <a:solidFill>
                  <a:schemeClr val="dk1"/>
                </a:solidFill>
                <a:highlight>
                  <a:srgbClr val="F7F7F7"/>
                </a:highlight>
                <a:latin typeface="Consolas"/>
                <a:ea typeface="Consolas"/>
                <a:cs typeface="Consolas"/>
                <a:sym typeface="Consolas"/>
              </a:rPr>
              <a:t> 과 </a:t>
            </a:r>
            <a:r>
              <a:rPr b="1" lang="ko" sz="1500">
                <a:solidFill>
                  <a:schemeClr val="dk1"/>
                </a:solidFill>
                <a:highlight>
                  <a:srgbClr val="F7F7F7"/>
                </a:highlight>
                <a:latin typeface="Consolas"/>
                <a:ea typeface="Consolas"/>
                <a:cs typeface="Consolas"/>
                <a:sym typeface="Consolas"/>
              </a:rPr>
              <a:t>**Encoder-Decoder Attention**</a:t>
            </a:r>
            <a:r>
              <a:rPr lang="ko" sz="1500">
                <a:solidFill>
                  <a:schemeClr val="dk1"/>
                </a:solidFill>
                <a:highlight>
                  <a:srgbClr val="F7F7F7"/>
                </a:highlight>
                <a:latin typeface="Consolas"/>
                <a:ea typeface="Consolas"/>
                <a:cs typeface="Consolas"/>
                <a:sym typeface="Consolas"/>
              </a:rPr>
              <a:t>은 '디코더'에서 이루어진다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b="1" lang="ko" sz="1500">
                <a:solidFill>
                  <a:schemeClr val="dk1"/>
                </a:solidFill>
                <a:highlight>
                  <a:srgbClr val="F7F7F7"/>
                </a:highlight>
                <a:latin typeface="Consolas"/>
                <a:ea typeface="Consolas"/>
                <a:cs typeface="Consolas"/>
                <a:sym typeface="Consolas"/>
              </a:rPr>
              <a:t>**XXX Self-Attention**</a:t>
            </a:r>
            <a:r>
              <a:rPr lang="ko" sz="1500">
                <a:solidFill>
                  <a:schemeClr val="dk1"/>
                </a:solidFill>
                <a:highlight>
                  <a:srgbClr val="F7F7F7"/>
                </a:highlight>
                <a:latin typeface="Consolas"/>
                <a:ea typeface="Consolas"/>
                <a:cs typeface="Consolas"/>
                <a:sym typeface="Consolas"/>
              </a:rPr>
              <a:t> 은 본질적으로 Query, Key, Value 가 '동일'한 출처인 경우를 말합니다.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여기서 '동일' 하다는 뜻은 벡터의 값이 같다는 뜻이 아니라, </a:t>
            </a:r>
            <a:r>
              <a:rPr b="1" lang="ko" sz="1500">
                <a:solidFill>
                  <a:schemeClr val="dk1"/>
                </a:solidFill>
                <a:highlight>
                  <a:srgbClr val="F7F7F7"/>
                </a:highlight>
                <a:latin typeface="Consolas"/>
                <a:ea typeface="Consolas"/>
                <a:cs typeface="Consolas"/>
                <a:sym typeface="Consolas"/>
              </a:rPr>
              <a:t>**벡터의 출처가 같다는 의미**</a:t>
            </a:r>
            <a:r>
              <a:rPr lang="ko" sz="1500">
                <a:solidFill>
                  <a:schemeClr val="dk1"/>
                </a:solidFill>
                <a:highlight>
                  <a:srgbClr val="F7F7F7"/>
                </a:highlight>
                <a:latin typeface="Consolas"/>
                <a:ea typeface="Consolas"/>
                <a:cs typeface="Consolas"/>
                <a:sym typeface="Consolas"/>
              </a:rPr>
              <a:t>!</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반면, 세번째 그림 </a:t>
            </a:r>
            <a:r>
              <a:rPr b="1" lang="ko" sz="1500">
                <a:solidFill>
                  <a:schemeClr val="dk1"/>
                </a:solidFill>
                <a:highlight>
                  <a:srgbClr val="F7F7F7"/>
                </a:highlight>
                <a:latin typeface="Consolas"/>
                <a:ea typeface="Consolas"/>
                <a:cs typeface="Consolas"/>
                <a:sym typeface="Consolas"/>
              </a:rPr>
              <a:t>**Encoder-Decoder Attention**</a:t>
            </a:r>
            <a:r>
              <a:rPr lang="ko" sz="1500">
                <a:solidFill>
                  <a:schemeClr val="dk1"/>
                </a:solidFill>
                <a:highlight>
                  <a:srgbClr val="F7F7F7"/>
                </a:highlight>
                <a:latin typeface="Consolas"/>
                <a:ea typeface="Consolas"/>
                <a:cs typeface="Consolas"/>
                <a:sym typeface="Consolas"/>
              </a:rPr>
              <a:t> 에서는</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Query가 '디코더의 벡터'인 반면에</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 </a:t>
            </a:r>
            <a:r>
              <a:rPr lang="ko" sz="1500">
                <a:solidFill>
                  <a:schemeClr val="dk1"/>
                </a:solidFill>
                <a:highlight>
                  <a:srgbClr val="F7F7F7"/>
                </a:highlight>
                <a:latin typeface="Consolas"/>
                <a:ea typeface="Consolas"/>
                <a:cs typeface="Consolas"/>
                <a:sym typeface="Consolas"/>
              </a:rPr>
              <a:t>Key와 Value가 '인코더의 벡터'이므로 셀프 어텐션이라고 부르지 않습니다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00FF"/>
                </a:solidFill>
                <a:highlight>
                  <a:srgbClr val="F7F7F7"/>
                </a:highlight>
                <a:latin typeface="Consolas"/>
                <a:ea typeface="Consolas"/>
                <a:cs typeface="Consolas"/>
                <a:sym typeface="Consolas"/>
              </a:rPr>
              <a:t>- </a:t>
            </a:r>
            <a:r>
              <a:rPr lang="ko" sz="1500">
                <a:solidFill>
                  <a:schemeClr val="dk1"/>
                </a:solidFill>
                <a:highlight>
                  <a:srgbClr val="F7F7F7"/>
                </a:highlight>
                <a:latin typeface="Consolas"/>
                <a:ea typeface="Consolas"/>
                <a:cs typeface="Consolas"/>
                <a:sym typeface="Consolas"/>
              </a:rPr>
              <a:t>정리하면 다음과 같다</a:t>
            </a:r>
            <a:endParaRPr sz="1500">
              <a:solidFill>
                <a:schemeClr val="dk1"/>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a:t>
            </a:r>
            <a:endParaRPr sz="1500">
              <a:solidFill>
                <a:srgbClr val="A31515"/>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1080"/>
                </a:solidFill>
                <a:highlight>
                  <a:srgbClr val="F7F7F7"/>
                </a:highlight>
                <a:latin typeface="Consolas"/>
                <a:ea typeface="Consolas"/>
                <a:cs typeface="Consolas"/>
                <a:sym typeface="Consolas"/>
              </a:rPr>
              <a:t>인코더의 셀프 어텐션 : Query = Key = Value</a:t>
            </a:r>
            <a:endParaRPr sz="1500">
              <a:solidFill>
                <a:srgbClr val="00108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1080"/>
                </a:solidFill>
                <a:highlight>
                  <a:srgbClr val="F7F7F7"/>
                </a:highlight>
                <a:latin typeface="Consolas"/>
                <a:ea typeface="Consolas"/>
                <a:cs typeface="Consolas"/>
                <a:sym typeface="Consolas"/>
              </a:rPr>
              <a:t>디코더의 마스크드 셀프 어텐션 : Query = Key = Value</a:t>
            </a:r>
            <a:endParaRPr sz="1500">
              <a:solidFill>
                <a:srgbClr val="00108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001080"/>
                </a:solidFill>
                <a:highlight>
                  <a:srgbClr val="F7F7F7"/>
                </a:highlight>
                <a:latin typeface="Consolas"/>
                <a:ea typeface="Consolas"/>
                <a:cs typeface="Consolas"/>
                <a:sym typeface="Consolas"/>
              </a:rPr>
              <a:t>디코더의 인코더-디코더 어텐션 : Query : 디코더 벡터 / Key = Value : 인코더 벡터</a:t>
            </a:r>
            <a:endParaRPr sz="1500">
              <a:solidFill>
                <a:srgbClr val="001080"/>
              </a:solidFill>
              <a:highlight>
                <a:srgbClr val="F7F7F7"/>
              </a:highlight>
              <a:latin typeface="Consolas"/>
              <a:ea typeface="Consolas"/>
              <a:cs typeface="Consolas"/>
              <a:sym typeface="Consolas"/>
            </a:endParaRPr>
          </a:p>
          <a:p>
            <a:pPr indent="0" lvl="0" marL="0" rtl="0" algn="l">
              <a:lnSpc>
                <a:spcPct val="125000"/>
              </a:lnSpc>
              <a:spcBef>
                <a:spcPts val="0"/>
              </a:spcBef>
              <a:spcAft>
                <a:spcPts val="0"/>
              </a:spcAft>
              <a:buNone/>
            </a:pPr>
            <a:r>
              <a:rPr lang="ko" sz="1500">
                <a:solidFill>
                  <a:srgbClr val="A31515"/>
                </a:solidFill>
                <a:highlight>
                  <a:srgbClr val="F7F7F7"/>
                </a:highlight>
                <a:latin typeface="Consolas"/>
                <a:ea typeface="Consolas"/>
                <a:cs typeface="Consolas"/>
                <a:sym typeface="Consolas"/>
              </a:rPr>
              <a:t>```</a:t>
            </a:r>
            <a:endParaRPr sz="1500">
              <a:solidFill>
                <a:srgbClr val="A31515"/>
              </a:solidFill>
              <a:highlight>
                <a:srgbClr val="F7F7F7"/>
              </a:highlight>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
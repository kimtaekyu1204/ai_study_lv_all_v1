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658ec6b8b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658ec6b8b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658ec6b8ba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658ec6b8b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658ec6b8ba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658ec6b8b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658ec6b8ba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658ec6b8ba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658ec6b8ba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658ec6b8ba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58ec6b8ba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658ec6b8ba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658ec6b8ba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658ec6b8ba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658ec6b8ba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658ec6b8ba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658ec6b8ba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658ec6b8ba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658ec6b8ba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658ec6b8ba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658ec6b8ba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658ec6b8ba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658ec6b8ba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658ec6b8ba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658ec6b8ba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658ec6b8ba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658ec6b8ba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658ec6b8ba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658ec6b8ba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658ec6b8ba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658ec6b8ba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658ec6b8ba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658ec6b8ba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658ec6b8ba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658ec6b8ba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658ec6b8ba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658ec6b8ba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658ec6b8ba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658ec6b8ba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658ec6b8ba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658ec6b8ba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658ec6b8ba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658ec6b8ba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658ec6b8ba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658ec6b8ba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658ec6b8ba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658ec6b8ba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658ec6b8ba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658ec6b8ba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658ec6b8ba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658ec6b8ba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658ec6b8ba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58ec6b8ba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58ec6b8ba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658ec6b8ba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658ec6b8ba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658ec6b8ba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658ec6b8ba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658ec6b8ba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658ec6b8ba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658ec6b8ba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658ec6b8ba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658ec6b8ba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658ec6b8ba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658ec6b8ba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658ec6b8ba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658ec6b8ba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658ec6b8ba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658ec6b8ba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658ec6b8ba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658ec6b8ba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658ec6b8ba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658ec6b8ba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658ec6b8ba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658ec6b8ba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658ec6b8ba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658ec6b8ba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658ec6b8ba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658ec6b8ba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658ec6b8ba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658ec6b8ba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658ec6b8ba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658ec6b8ba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658ec6b8ba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658ec6b8ba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658ec6b8ba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658ec6b8ba_0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658ec6b8ba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658ec6b8ba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658ec6b8ba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s://python.langchain.com/api_reference/core/prompts/langchain_core.prompts.chat.ChatPromptTemplate.html" TargetMode="Externa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0" y="0"/>
            <a:ext cx="30000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df['시도'] = df['주소'].str.split(' ').str[0]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df.loc[(df['가입상태'] == 2) &amp; (df['탈퇴일자_연도'] == 2025) &amp; (df['시도'].apply(lambda x: len(x.strip())) &gt; 0), '시도'].value_counts().plot(kind='bar')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plt.title('시도별 탈퇴 기업 수')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plt.xticks(rotation=60)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plt.show()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0" y="0"/>
            <a:ext cx="30000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코드를 입력해 주세요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cond1 = (df['가입상태'] == 2) &amp; (df['탈퇴일자_연도'] &gt;= 2017) &amp; (df['탈퇴일자_연도'] &lt;= 2025)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tmp = df.loc[cond1].copy()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tmp['반기'] = np.where(tmp['탈퇴일자_월'] &lt;= 6, '상반기', '하반기')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tmp['탈퇴일자_연도'] = tmp['탈퇴일자_연도'].astype('int')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sns.countplot(x='탈퇴일자_연도', hue='반기', data=tmp)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df = df.drop(['탈퇴일자_연도', '탈퇴일자_월','시도'], axis=1)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plt.show()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/>
        </p:nvSpPr>
        <p:spPr>
          <a:xfrm>
            <a:off x="0" y="0"/>
            <a:ext cx="3000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코드를 입력해 주세요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df = df.loc[df['가입상태'] == 1].drop(['가입상태', '탈퇴일자'], axis=1).reset_index(drop=True)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print(f'shape: {df.shape[0]} 행')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df.head()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/>
        </p:nvSpPr>
        <p:spPr>
          <a:xfrm>
            <a:off x="0" y="0"/>
            <a:ext cx="3000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수도권(서울, 경기도) 소재의 기업을 대상으로 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`가입자수`를 기준으로 내림차순 정렬하여 bar 그래프를 출력합니다.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출력되는 사업장명은 상위 20개만 출력합니다.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/>
        </p:nvSpPr>
        <p:spPr>
          <a:xfrm>
            <a:off x="0" y="0"/>
            <a:ext cx="30000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코드를 입력해 주세요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plt.figure(figsize=(8, 10))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tmp = df.loc[df['시도코드'].isin([11, 41]), ['사업장명', '가입자수']].sort_values('가입자수', ascending=False).head(20).reset_index()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sns.barplot(y='사업장명', x='가입자수', data=tmp)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plt.xticks(rotation=30)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plt.title('수도권 소재 기업별 가입자수')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plt.show()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/>
        </p:nvSpPr>
        <p:spPr>
          <a:xfrm>
            <a:off x="0" y="0"/>
            <a:ext cx="3000000" cy="49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### 국민연금 납부액으로 기업별 평균 연봉 추정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국민연금 보험률은 9%입니다. 쉽게 이야기 하면 급여(신고소득월액)의 9%를 국민연금으로 내는 것입니다.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하지만 이를 절반으로 나누어 **4.5%는 회사가, 나머지 절반은 개인이 부담하는 구조**입니다. 회사는 급여 외에 추가로 금액을 부담합니다.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국민연금 보험료는 **소득 상한선과 하한선이 설정되어 있어 소득 전체가 아닌 일부 소득에만 부과**됩니다.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이를 역산하면 신고소득월액의 계산이 가능합니다. 하지만 **상한선과 하한선이 설정되어 있어 실제보다 과소계산**될 수 있습니다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/>
          <p:nvPr/>
        </p:nvSpPr>
        <p:spPr>
          <a:xfrm>
            <a:off x="0" y="0"/>
            <a:ext cx="30000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[수식]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인당금액 = 금액 / 가입자수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월급여추정 = 인당금액 / 9% * 100%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연간급여추정 = 임직원 평균 월급 * 12개월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/>
          <p:nvPr/>
        </p:nvSpPr>
        <p:spPr>
          <a:xfrm>
            <a:off x="0" y="0"/>
            <a:ext cx="30000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금액을 가입자수로 나눈 금액을 산출하여 `인당금액`을 먼저 산출합니다.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`월급여추정`은 `인당금액` / 9% * 100% 한 값입니다.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`월급여추정`을 x12한 값을 `연간급여추정`에 대입합니다.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`가입자수` 기준 1000명을 초과하는 기업(중견기업)을 필터링 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출력시 `사업장명`, `가입자수`, `월급여추정`, `연간급여추정` 컬럼만 출력합니다.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`연간급여추정`와 `가입자수`를 기준으로 내림차순하여 상위 10개 기업을 출력합니다.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/>
          <p:nvPr/>
        </p:nvSpPr>
        <p:spPr>
          <a:xfrm>
            <a:off x="0" y="0"/>
            <a:ext cx="30000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코드를 입력해 주세요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df['인당금액'] = df['금액'] / df['가입자수']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df['월급여추정'] =  df['인당금액'] / 9 * 100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df['연간급여추정'] = df['월급여추정'] * 12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cond = (df['가입자수'] &gt; 1000)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df.sort_values(['연간급여추정', '가입자수'], ascending=False).loc[cond, ['사업장명', '가입자수', '월급여추정', '연간급여추정']].head(10)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/>
        </p:nvSpPr>
        <p:spPr>
          <a:xfrm>
            <a:off x="0" y="0"/>
            <a:ext cx="30000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### 업종별 가입자수 순유입 산정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`순유입`은 `신규` - `상실` 로 정의합니다.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`업종코드명`별 순유입의 합산을 구한 후 상위 20개 `업종코드명`에 대하여 bar 그래프로 출력합니다.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`순유입` 기준으로 내림차순 정렬합니다.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3"/>
          <p:cNvSpPr txBox="1"/>
          <p:nvPr/>
        </p:nvSpPr>
        <p:spPr>
          <a:xfrm>
            <a:off x="0" y="0"/>
            <a:ext cx="30000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코드를 입력해 주세요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plt.figure(figsize=(8, 10))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df['순유입'] = df['신규'] - df['상실']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df.groupby('업종코드명')['순유입'].sum().sort_values(ascending=False).head(20).sort_values().plot(kind='barh')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plt.title('업종별 순유입 순')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plt.show()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4"/>
          <p:cNvSpPr txBox="1"/>
          <p:nvPr/>
        </p:nvSpPr>
        <p:spPr>
          <a:xfrm>
            <a:off x="0" y="0"/>
            <a:ext cx="3000000" cy="3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사업자명을 검색한 후 결과를 return하는 함수를 완성합니다.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함수명은 `find_company` 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매개변수 contains: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  True인 경우: string의 `contains`를 사용하여 포함하는 모든 회사를 찾습니다.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  False인 경우: 정확히 일치하는 사업장명만 찾습니다.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`def find_company(company_name, contains)`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`['사업장명', '월급여추정', '연간급여추정', '업종코드']` 정보를 보여주는 DataFrame을 return 합니다.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5"/>
          <p:cNvSpPr txBox="1"/>
          <p:nvPr/>
        </p:nvSpPr>
        <p:spPr>
          <a:xfrm>
            <a:off x="0" y="0"/>
            <a:ext cx="3000000" cy="42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코드를 입력해 주세요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def find_company(company_name, contains):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if contains: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return df.loc[df['사업장명'].str.contains(company_name), ['사업장명', '월급여추정', '연간급여추정', '업종코드', '가입자수']]\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      .sort_values('가입자수', ascending=False)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else: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return df.loc[df['사업장명']==company_name, ['사업장명', '월급여추정', '연간급여추정', '업종코드', '가입자수']]\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      .sort_values('가입자수', ascending=False)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6"/>
          <p:cNvSpPr txBox="1"/>
          <p:nvPr/>
        </p:nvSpPr>
        <p:spPr>
          <a:xfrm>
            <a:off x="0" y="0"/>
            <a:ext cx="3000000" cy="68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사업장명을 입력하면 사업장명과 정확히 일치하는 회사를 찾습니다. (find_company 함수 사용)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함수명은 `compare_company` 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매개변수명은 `company_name` 으로 지정하세요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`def compare_company(company_name)`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기능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find_company로 부터 return 된 DataFrame의 업종코드와 동일한 회사를 모두 찾습니다.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동일한 회사의 `월급여추정`, `연간급여추정`에 대한 ['mean', 'count', 'min', 'max']를 산출합니다.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return 되는 DataFrame은 다음과 같이 구성합니다.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index: `월급여추정` -&gt; `업종_월급여추정`, `연간급여추정` -&gt; `업종_연간급여추정`으로 변경합니다.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컬럼은 평균, 개수, 최소, 최대로 컬럼명을 변경 후 맨 끝열에는 찾은 회사명 컬럼을 추가하고, `월급여추정`, `연간급여추정` 데이터를 기입합니다.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7"/>
          <p:cNvSpPr txBox="1"/>
          <p:nvPr/>
        </p:nvSpPr>
        <p:spPr>
          <a:xfrm>
            <a:off x="0" y="0"/>
            <a:ext cx="30000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def company_info(company_name):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company = find_company(company_name, True)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return df.loc[company.iloc[0].name]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8"/>
          <p:cNvSpPr txBox="1"/>
          <p:nvPr/>
        </p:nvSpPr>
        <p:spPr>
          <a:xfrm>
            <a:off x="0" y="0"/>
            <a:ext cx="3000000" cy="57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코드를 입력해 주세요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def compare_company(company_name):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company = find_company(company_name, True)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code = company['업종코드'].iloc[0]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df1 =df.loc[df['업종코드'] == code, ['월급여추정', '연간급여추정']].agg(['mean', 'count', 'min', 'max'])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df1.columns = ['업종_월급여추정', '업종_연간급여추정']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df1 = df1.T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df1.columns = ['평균', '개수', '최소', '최대']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df1.loc['업종_월급여추정', company_name] = company['월급여추정'].values[0]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df1.loc['업종_연간급여추정', company_name] = company['연간급여추정'].values[0]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return df1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9"/>
          <p:cNvSpPr txBox="1"/>
          <p:nvPr/>
        </p:nvSpPr>
        <p:spPr>
          <a:xfrm>
            <a:off x="0" y="0"/>
            <a:ext cx="3000000" cy="77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fig, ax = plt.subplots(1, 2)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p1 = ax[0].bar(x=['평균', '에스케이텔레콤'], height=(result.iloc[0, 0], info['월급여추정']), width=0.7)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ax[0].bar_label(p1, fmt='%d')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p1[0].set_color('black')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p1[1].set_color('red')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ax[0].ticklabel_format(style='plain', axis='y')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ax[0].set_title('월급여 비교')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p2 = ax[1].bar(x=['평균', '에스케이텔레콤'], height=(result.iloc[1, 0], info['연간급여추정']), width=0.7)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p2[0].set_color('black')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p2[1].set_color('red')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ax[1].bar_label(p2, fmt='%d')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ax[1].ticklabel_format(style='plain', axis='y')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ax[1].set_title('연봉 비교')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ax[0].tick_params(axis='both', which='major', labelsize=8, rotation=0)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ax[0].tick_params(axis='both', which='minor', labelsize=6)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ax[1].tick_params(axis='both', which='major', labelsize=8)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ax[1].tick_params(axis='both', which='minor', labelsize=6)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plt.tight_layout()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0"/>
          <p:cNvSpPr txBox="1"/>
          <p:nvPr/>
        </p:nvSpPr>
        <p:spPr>
          <a:xfrm>
            <a:off x="0" y="0"/>
            <a:ext cx="3000000" cy="398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os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warnings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numpy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np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pandas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pd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matplotlib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matplotlib.pyplot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plt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from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matplotlib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font_manager, rc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platform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seaborn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sns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re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import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streamlit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한글폰트 설정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try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: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platform.system() == 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'Windows'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윈도우인 경우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font_name = font_manager.FontProperties(fname=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"c:/Windows/Fonts/malgun.ttf"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).get_name()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rc(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'font'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family=font_name)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    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Mac 인 경우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rc(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'font'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family=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'AppleGothic'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except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: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pass</a:t>
            </a:r>
            <a:endParaRPr sz="1050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matplotlib.rcParams[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'axes.unicode_minus'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 =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False</a:t>
            </a:r>
            <a:endParaRPr sz="1050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PensionData():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생성자: 데이터파일 읽어온후 전처리 수행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__init__(self, filepath):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warnings.simplefilter(action=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'ignore'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category=pd.errors.DtypeWarning)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.df = pd.read_csv(os.path.join(filepath), encoding=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'cp949'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.pattern1 =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</a:t>
            </a:r>
            <a:r>
              <a:rPr lang="ko" sz="1050">
                <a:solidFill>
                  <a:srgbClr val="811F3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'(\([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^</a:t>
            </a:r>
            <a:r>
              <a:rPr lang="ko" sz="1050">
                <a:solidFill>
                  <a:srgbClr val="811F3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)]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ko" sz="1050">
                <a:solidFill>
                  <a:srgbClr val="811F3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\))'</a:t>
            </a:r>
            <a:endParaRPr sz="1050">
              <a:solidFill>
                <a:srgbClr val="811F3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.pattern2 =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</a:t>
            </a:r>
            <a:r>
              <a:rPr lang="ko" sz="1050">
                <a:solidFill>
                  <a:srgbClr val="811F3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'(\[[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^</a:t>
            </a:r>
            <a:r>
              <a:rPr lang="ko" sz="1050">
                <a:solidFill>
                  <a:srgbClr val="811F3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)]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ko" sz="1050">
                <a:solidFill>
                  <a:srgbClr val="811F3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\])'</a:t>
            </a:r>
            <a:endParaRPr sz="1050">
              <a:solidFill>
                <a:srgbClr val="811F3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.pattern3 =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</a:t>
            </a:r>
            <a:r>
              <a:rPr lang="ko" sz="1050">
                <a:solidFill>
                  <a:srgbClr val="811F3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'[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^</a:t>
            </a:r>
            <a:r>
              <a:rPr lang="ko" sz="1050">
                <a:solidFill>
                  <a:srgbClr val="811F3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A-Za-z0-9가-힣]'</a:t>
            </a:r>
            <a:endParaRPr sz="1050">
              <a:solidFill>
                <a:srgbClr val="811F3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.preprocess()  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전처리  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preprocess(self):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'사업장업종코드' 컬럼값이 빈 문자열인것들은 제거한다.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mask =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.df[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'사업장업종코드'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].replace({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</a:t>
            </a:r>
            <a:r>
              <a:rPr lang="ko" sz="1050">
                <a:solidFill>
                  <a:srgbClr val="811F3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'^\s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+</a:t>
            </a:r>
            <a:r>
              <a:rPr lang="ko" sz="1050">
                <a:solidFill>
                  <a:srgbClr val="811F3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$'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 pd.NA}, regex=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).isna()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.df =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.df[~mask]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.df[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'사업장업종코드'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 =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.df[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'사업장업종코드'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].astype(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'int32'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컬럼명들을 재정의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.df.columns = [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'자료생성년월'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'사업장명'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'사업자등록번호'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'가입상태'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'우편번호'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'사업장지번상세주소'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'주소'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'고객법정동주소코드'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'고객행정동주소코드'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'시도코드'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'시군구코드'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'읍면동코드'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'사업장형태구분코드 1 법인 2 개인'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'업종코드'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'업종코드명'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'적용일자'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'재등록일자'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'탈퇴일자'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'가입자수'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'금액'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'신규'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'상실'</a:t>
            </a:r>
            <a:endParaRPr sz="105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]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불필요한 컬럼 제거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df =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.df.drop([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'자료생성년월'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'우편번호'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'사업장지번상세주소'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'고객법정동주소코드'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'고객행정동주소코드'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'사업장형태구분코드 1 법인 2 개인'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'적용일자'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'재등록일자'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], axis=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사업장명 cleasing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df[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'사업장명'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 = df[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'사업장명'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].apply(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.preprocessing)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'탈퇴일자_연도', '탈퇴일자_월' 컬럼 추가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df[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'탈퇴일자_연도'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 =  pd.to_datetime(df[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'탈퇴일자'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]).dt.year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df[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'탈퇴일자_월'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 =  pd.to_datetime(df[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'탈퇴일자'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]).dt.month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'주소' 컬럼에서 '시도' 부분만 새 컬럼으로 추가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df[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'시도'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 = df[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'주소'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].str.split(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 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).str[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탈퇴한 기업들은 drop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df = df.loc[df[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'가입상태'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 == 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].drop([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'가입상태'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'탈퇴일자'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], axis=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).reset_index(drop=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분석하고자 하는 컬럼들 추가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df[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'인당금액'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 = df[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'금액'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 / df[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'가입자수'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df[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'월급여추정'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 =  df[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'인당금액'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 / 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9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* 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100</a:t>
            </a:r>
            <a:endParaRPr sz="1050">
              <a:solidFill>
                <a:srgbClr val="098658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df[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'연간급여추정'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 = df[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'월급여추정'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 * 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12</a:t>
            </a:r>
            <a:endParaRPr sz="1050">
              <a:solidFill>
                <a:srgbClr val="098658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.df = df  </a:t>
            </a: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원본 변경하기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사업장명 정제를 위한 함수    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preprocessing(self, x):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특수 문자들 제거.   "(주)", "[주]" ...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x = re.sub(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.pattern1, 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x)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x = re.sub(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.pattern2, 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x)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x = re.sub(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.pattern3, 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 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x)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x = re.sub(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 +'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 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x)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x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주어진 'company_name' 으로 기업 검색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find_company(self, company_name):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가입자수가 많은 순으로 정렬하여 리턴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.df.loc[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.df[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'사업장명'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].str.contains(company_name), [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'사업장명'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'월급여추정'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'연간급여추정'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'업종코드'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'가입자수'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]]\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    .sort_values(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'가입자수'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ascending=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주어진 'company_name' 으로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동종업계 정보 (월급여 추정액, 연간급여추정액 ) 비교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compare_company(self, company_name):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company =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.find_company(company_name)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code = company[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'업종코드'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].iloc[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df1 =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.df.loc[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.df[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'업종코드'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 == code, [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'월급여추정'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'연간급여추정'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]].agg([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'mean'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'count'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'min'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'max'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df1.columns = [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'업종_월급여추정'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'업종_연간급여추정'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df1 = df1.T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df1.columns = [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'평균'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'개수'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'최소'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'최대'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df1.loc[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'업종_월급여추정'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company_name] = company[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'월급여추정'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].values[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df1.loc[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'업종_연간급여추정'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company_name] = company[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'연간급여추정'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].values[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df1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검색 기업 정보 출력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company_info(self, company_name):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company =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.find_company(company_name)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.df.loc[company.iloc[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].name]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 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def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get_data(self):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self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.df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1"/>
          <p:cNvSpPr txBox="1"/>
          <p:nvPr/>
        </p:nvSpPr>
        <p:spPr>
          <a:xfrm>
            <a:off x="0" y="0"/>
            <a:ext cx="3000000" cy="12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file_path =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</a:t>
            </a:r>
            <a:r>
              <a:rPr lang="ko" sz="1050">
                <a:solidFill>
                  <a:srgbClr val="811F3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'https://www.dropbox.com/scl/fi/2v4676nsnjf3tx0jrkq26/nlp_company_20250123.csv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?</a:t>
            </a:r>
            <a:r>
              <a:rPr lang="ko" sz="1050">
                <a:solidFill>
                  <a:srgbClr val="811F3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rlkey=m78skae6r03yd4g6xu1lopdo6&amp;st=o3jmgbqj&amp;dl=1'</a:t>
            </a:r>
            <a:endParaRPr sz="1050">
              <a:solidFill>
                <a:srgbClr val="811F3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2"/>
          <p:cNvSpPr txBox="1"/>
          <p:nvPr/>
        </p:nvSpPr>
        <p:spPr>
          <a:xfrm>
            <a:off x="0" y="0"/>
            <a:ext cx="3000000" cy="10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처음 실행할때는 호출되겠지만,  두번째부터는 cache 된 결과로 리턴된다.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                </a:t>
            </a: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단 호출시 매개변수가 다르면 호출된다.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3"/>
          <p:cNvSpPr txBox="1"/>
          <p:nvPr/>
        </p:nvSpPr>
        <p:spPr>
          <a:xfrm>
            <a:off x="0" y="0"/>
            <a:ext cx="3000000" cy="78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st.markdown(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"""</a:t>
            </a:r>
            <a:endParaRPr sz="105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- `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{info[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'주소'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]}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`</a:t>
            </a:r>
            <a:endParaRPr sz="105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- 업종코드명 `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{info[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'업종코드명'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]}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`</a:t>
            </a:r>
            <a:endParaRPr sz="105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- 총 근무자 `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{int(info[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'가입자수'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:,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` 명</a:t>
            </a:r>
            <a:endParaRPr sz="105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- 신규 입사자 `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{info[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'신규'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:,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` 명</a:t>
            </a:r>
            <a:endParaRPr sz="105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- 퇴사자 `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{info[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'상실'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:,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` 명</a:t>
            </a:r>
            <a:endParaRPr sz="105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"""</a:t>
            </a:r>
            <a:endParaRPr sz="105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)        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col1, col2, col3 = st.columns(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col1.text(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'월급여 추정'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col1.markdown(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"`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{int(output.iloc[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][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'월급여추정'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:,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` 원"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col2.text(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'연봉 추정'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col2.markdown(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"`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{int(output.iloc[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][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'연간급여추정'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:,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` 원"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col3.text(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'가입자수 추정'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col3.markdown(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"`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{int(output.iloc[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][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'가입자수'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:,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` 명"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find_company() 로 사용자가 입력한 검색어로 검색한 결과들을 전부 출력.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st.dataframe(output.round(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), use_container_width=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4"/>
          <p:cNvSpPr txBox="1"/>
          <p:nvPr/>
        </p:nvSpPr>
        <p:spPr>
          <a:xfrm>
            <a:off x="0" y="0"/>
            <a:ext cx="3000000" cy="163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st.markdown(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'### 업종 평균 VS 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{company_name}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비교'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검색은 회사의 '월급여추정'액과 업종평균을 비교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percent_value = info[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'월급여추정'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 / comp_output.iloc[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 * 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- 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100</a:t>
            </a:r>
            <a:endParaRPr sz="1050">
              <a:solidFill>
                <a:srgbClr val="098658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diff_month = abs(comp_output.iloc[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 - info[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'월급여추정'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  </a:t>
            </a: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월급여추정 액의 차이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diff_year = abs(comp_output.iloc[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 - info[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'연간급여추정'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  </a:t>
            </a: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연간급여추정 액의 차이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upordown = 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'높은'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percent_value &gt; 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'낮은'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%값이 높은지 낮은지에 따른 문구 선택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위 결과로 아래에 markdown 으로 출력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st.markdown(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"""</a:t>
            </a:r>
            <a:endParaRPr sz="105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- 업종 **평균 월급여**는 `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{int(comp_output.iloc[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:,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` 원, **평균 연봉**은 `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{int(comp_output.iloc[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:,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` 원 입니다.</a:t>
            </a:r>
            <a:endParaRPr sz="105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- `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{company_name}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`는 평균 보다 `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{int(diff_month)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:,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` 원, :red[약 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{percent_value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:.2f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%] `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{upordown}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` `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{int(info[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'월급여추정'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:,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` 원을 **월 평균 급여**를 받는 것으로 추정합니다.</a:t>
            </a:r>
            <a:endParaRPr sz="105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- `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{company_name}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`는 평균 보다 `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{int(diff_year)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:,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` 원 `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{upordown}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` `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{int(info[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'연간급여추정'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:,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` 원을 **연봉**을 받는 것으로 추정합니다.</a:t>
            </a:r>
            <a:endParaRPr sz="1050">
              <a:solidFill>
                <a:srgbClr val="A31515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"""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 ----------------------------------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ko" sz="1050">
                <a:solidFill>
                  <a:srgbClr val="008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#  비교표를 시각화</a:t>
            </a:r>
            <a:endParaRPr sz="1050">
              <a:solidFill>
                <a:srgbClr val="008000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fig, ax = plt.subplots(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p1 = ax[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].bar(x=[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"Average"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"Your Company"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], height=(comp_output.iloc[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], info[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'월급여추정'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]), width=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0.7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ax[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].bar_label(p1, fmt=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'%d'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p1[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].set_color(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'black'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p1[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].set_color(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'red'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ax[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].set_title(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'Monthly Salary'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p2 = ax[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].bar(x=[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"Average"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"Your Company"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], height=(comp_output.iloc[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], info[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'연간급여추정'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]), width=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0.7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p2[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].set_color(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'black'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p2[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].set_color(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'red'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ax[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].bar_label(p2, fmt=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'%d'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ax[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].set_title(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'Yearly Salary'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ax[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].tick_params(axis=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'both'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which=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'major'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labelsize=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8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rotation=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ax[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].tick_params(axis=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'both'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which=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'minor'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labelsize=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6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ax[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].tick_params(axis=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'both'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which=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'major'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labelsize=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8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ax[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].tick_params(axis=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'both'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which=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'minor'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labelsize=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6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st.pyplot(fig)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5"/>
          <p:cNvSpPr txBox="1"/>
          <p:nvPr/>
        </p:nvSpPr>
        <p:spPr>
          <a:xfrm>
            <a:off x="0" y="0"/>
            <a:ext cx="3000000" cy="23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st.dataframe(df.loc[df[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'업종코드'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 == info[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'업종코드'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], [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'사업장명'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'월급여추정'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'연간급여추정'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'가입자수'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]]\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.sort_values(</a:t>
            </a:r>
            <a:r>
              <a:rPr lang="ko" sz="1050">
                <a:solidFill>
                  <a:srgbClr val="A3151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'연간급여추정'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ascending=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).head(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).round(</a:t>
            </a:r>
            <a:r>
              <a:rPr lang="ko" sz="1050">
                <a:solidFill>
                  <a:srgbClr val="098658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),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    use_container_width=</a:t>
            </a:r>
            <a:r>
              <a:rPr lang="ko" sz="105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True</a:t>
            </a:r>
            <a:endParaRPr sz="1050">
              <a:solidFill>
                <a:srgbClr val="0000FF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 )</a:t>
            </a:r>
            <a:endParaRPr sz="105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"/>
          <p:cNvSpPr txBox="1"/>
          <p:nvPr/>
        </p:nvSpPr>
        <p:spPr>
          <a:xfrm>
            <a:off x="0" y="0"/>
            <a:ext cx="3000000" cy="113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LangChain  관련 주요 링크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 Python Langchain 공식 홈:  https://python.langchain.com/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 API 레퍼런스 홈: https://python.langchain.com/api_reference/reference.html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## Langchain 의 패키지 구성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### Base Packages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[Core: langchain-core](https://python.langchain.com/api_reference/core)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[Langchain: langchain](https://python.langchain.com/api_reference/langchain)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[Test Splitters: langchain-text-splitters](https://python.langchain.com/api_reference/text_splitters)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[Community: langchain-community](https://python.langchain.com/api_reference/community)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[Experimental: langchain-experimental](https://python.langchain.com/api_reference/experimental)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### Integrations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랭체인은 수많은 LLM 모델들과 커뮤니티, 벡터스토어, 데이터베이스, 툴 들과 함께 사용할수 있도록 제공되는 패키지들이 많다 (앞으로 더 많아 질거다)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[OpanAI: langchain-openai](https://python.langchain.com/api_reference/openai)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[Huggingface: langchain-huggingface](https://python.langchain.com/api_reference/huggingface)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[MistalAI: langchain-mistralai](https://python.langchain.com/api_reference/mistralai)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그밖에도 많이 있다 ...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7"/>
          <p:cNvSpPr txBox="1"/>
          <p:nvPr/>
        </p:nvSpPr>
        <p:spPr>
          <a:xfrm>
            <a:off x="0" y="0"/>
            <a:ext cx="3000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print(f'{os.environ['OPENAI_API_KEY'][:20]}...')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print(f'{os.getenv('OPENAI_API_KEY')[:20]}...')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8"/>
          <p:cNvSpPr txBox="1"/>
          <p:nvPr/>
        </p:nvSpPr>
        <p:spPr>
          <a:xfrm>
            <a:off x="0" y="0"/>
            <a:ext cx="3000000" cy="271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■ LLM vs. Chat model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LangChain 은 LLM 과 Chat model 두가지를 지원합니다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`LLM`(Large Language Model)과 `Chat Model`은 비슷한 역할을 하지만, 약간의 차이점이 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이는 주로 **모델의 입력 및 상호작용 방식**에서 나타난다.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### 1. LLM (Large Language Model)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**특징**: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- 일반적으로 **텍스트 입력**을 받고, 이에 대한 텍스트 출력을 생성합니다.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- 단순한 프롬프트 기반 입력/출력을 처리하기 위한 모델입니다.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- 사용자가 제공한 입력 텍스트를 분석하고, 그에 대한 결과를 한 번에 출력합니다.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**입력 형식**: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```plaintext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"Tell me a summary of the benefits of LangChain."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```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**출력 형식**: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```plaintext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"LangChain is a framework designed to simplify the development of applications powered by large language models, making it easier to manage prompts, chains, and integrations."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```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**주요 사용 사례**: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- 단일 질문-답변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- 텍스트 생성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- 간단한 프롬프트 처리를 위한 작업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### 2. Chat Model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**특징**: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- **대화 형식**으로 설계된 모델로, 다중 턴 대화를 처리할 수 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- 입력 형식이 **메시지 Message**로 구성되며, 각 메시지는 사용자의 메시지 (User Message)와 시스템의 메시지(System Message)로 나뉜다.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- '문맥'을 이해하고 '대화의 흐름'을 유지하는 데 최적화되어 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**입력 형식**: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메시지 객체를 전달해야 하며, 보통 아래와 같은 구조입니다.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```python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[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{"role": "system", "content": "You are an assistant who helps with Python programming."},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{"role": "user", "content": "Can you explain the difference between LLM and chat models in LangChain?"}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```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**출력 형식**: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```python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{"role": "assistant", "content": "Sure! LLM and Chat Models differ in their input and interaction styles..."}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```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**주요 사용 사례**: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- 다중 턴 대화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- 문맥 추적 및 유지 (대화 히스토리 반영)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- 대화 기반 챗봇, FAQ 시스템 등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### 3. 주요 차이점 요약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| **특징**        | **LLM**                                                | **Chat Model**                                        |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|-----------------|------------------------------------------------------|----------------------------------------------------|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| **입력 형식**   | 단일 텍스트 입력                                         | 역할 기반의 대화 메시지 객체 (role: system, user, assistant) |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| **대화 히스토리**| 문맥 추적 불가능 (단일 요청 처리)                          | 대화 히스토리를 통해 문맥을 유지하고 반영                 |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| **사용 목적**   | 텍스트 생성, 요약, 단순 질의응답                             | 대화형 인터페이스, 챗봇, 다중 턴 질의응답               |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| **응용 사례**   | 단일 질문-답변, 텍스트 생성                                | 고객 지원 챗봇, 인터랙티브 Q&amp;A, 멀티턴 대화 시스템          |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### 5. 언제 어떤 것을 선택해야 할까요?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**단일 작업이나 간단한 텍스트 생성**: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- `LLM`을 사용하는 것이 적합합니다.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**대화 기반 애플리케이션이나 문맥을 유지해야 하는 작업**: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- `Chat Model`을 사용하는 것이 더 적합합니다.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9"/>
          <p:cNvSpPr txBox="1"/>
          <p:nvPr/>
        </p:nvSpPr>
        <p:spPr>
          <a:xfrm>
            <a:off x="0" y="0"/>
            <a:ext cx="3000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랭체인을 사용하면!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각 model 들의 API 을 따로따로 공부하고 알아야 할 필요없다.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또한 각 model api 제공자가 제공하는 Python package 를 다운로드 할 필요도 없다.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0"/>
          <p:cNvSpPr txBox="1"/>
          <p:nvPr/>
        </p:nvSpPr>
        <p:spPr>
          <a:xfrm>
            <a:off x="0" y="0"/>
            <a:ext cx="3000000" cy="81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## 한글 or 영어 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챗 GPT의 언어 처리 능력은 인공지능 기술의 훌륭한 발전을 보여줍니다. 하지만 사용자가 받는 답변의 품질은 제출하는 언어에 따라 약간의 차이가 있을 수 있습니다. 이런 차이는 챗 GPT가 학습하는 과정에서 다양한 언어의 데이터 양과 품질, 그리고 언어별 특성을 얼마나 잘 처리하는지에 따라 결정됩니다.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OpenAI의 언어 모델, 특히 GPT 시리즈는 다양한 데이터 소스에서 얻은 대량의 데이터로 학습됩니다. 이 데이터는 주로 영어를 비롯한 여러 언어에서 수집되며, 학습 데이터의 구성은 모델의 성능과 일반화 능력에 큰 영향을 미칩니다.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영어는 전세계적으로 많이 사용되며*, 인터넷 상의 데이터도 영어가 많아서 챗 GPT는 영어 질문에 대해 더 정확하고 자연스러운 답변을 제공할 확률이 높습니다. 그러나 한국어와 같은 다른 언어는 상대적으로 데이터가 부족하거나, 언어의 복잡성 때문에 처리가 더 어려울 수 있어, 이로 인해 답변의 품질에 차이가 나타날 수 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참고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https://fastcampus.co.kr/gov_review_insightGPTlang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1"/>
          <p:cNvSpPr txBox="1"/>
          <p:nvPr/>
        </p:nvSpPr>
        <p:spPr>
          <a:xfrm>
            <a:off x="0" y="0"/>
            <a:ext cx="30000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## 사용량 확인 해보기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이쯤에서 openai 페이지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DASHBOARD &gt; Usage &gt; Activity 를 확인해보자.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사용한 양이 표시될거다.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https://platform.openai.com/usage/activity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2"/>
          <p:cNvSpPr txBox="1"/>
          <p:nvPr/>
        </p:nvSpPr>
        <p:spPr>
          <a:xfrm>
            <a:off x="0" y="0"/>
            <a:ext cx="30000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Chat Model 은 '질문'만 받는게 아니라 '대화' 도 할수 있다 (Message 를 보낼수도 있다)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'대화(conversation)' 은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   : 여러 메세지 묶음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   : 상대의 대화의 맥락에 맞게 대답할수 있다.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3"/>
          <p:cNvSpPr txBox="1"/>
          <p:nvPr/>
        </p:nvSpPr>
        <p:spPr>
          <a:xfrm>
            <a:off x="0" y="0"/>
            <a:ext cx="3000000" cy="77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https://python.langchain.com/docs/integrations/chat/openai/#instantiation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레퍼런스 : https://python.langchain.com/api_reference/openai/chat_models/langchain_openai.chat_models.base.ChatOpenAI.html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"""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chat = ChatOpenAI(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model="gpt-4o",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temperature=0,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# 모델의 응답 다양성을 제어하는 역할을 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# 이는 OpenAI의 GPT 모델에서 사용하는 매개변수로,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#  생성되는 텍스트의 창의성과 확률적 다양성(랜덤성을 조정합니다)ㄴ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#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max_tokens=None,  # model 리 리턴하는 결과의 최대 token 개수지정.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timeout=None,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max_retries=2,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# api_key="...",  # if you prefer to pass api key in directly instaed of using env vars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# base_url="...",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# organization="...",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# other params...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"""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None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4"/>
          <p:cNvSpPr txBox="1"/>
          <p:nvPr/>
        </p:nvSpPr>
        <p:spPr>
          <a:xfrm>
            <a:off x="0" y="0"/>
            <a:ext cx="3000000" cy="70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v0.3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from langchain_core.messages.human import HumanMessage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https://python.langchain.com/api_reference/core/messages/langchain_core.messages.human.HumanMessage.html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from langchain_core.messages.system import SystemMessage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https://python.langchain.com/api_reference/core/messages/langchain_core.messages.system.SystemMessage.html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from langchain_core.messages.ai import AIMessage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https://python.langchain.com/api_reference/core/messages/langchain_core.messages.ai.AIMessage.html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HumanMessage : 사람이 AI 에 보내는 Message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SystemMessage : LLM 에 설정들을 제공하기 위한 Message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AIMessage: AI 에 의해 리턴되는 Message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5"/>
          <p:cNvSpPr txBox="1"/>
          <p:nvPr/>
        </p:nvSpPr>
        <p:spPr>
          <a:xfrm>
            <a:off x="0" y="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You are a geography expert. And your only reply in Korean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6"/>
          <p:cNvSpPr txBox="1"/>
          <p:nvPr/>
        </p:nvSpPr>
        <p:spPr>
          <a:xfrm>
            <a:off x="0" y="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What is the distance between Mexico and Thailand.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7"/>
          <p:cNvSpPr txBox="1"/>
          <p:nvPr/>
        </p:nvSpPr>
        <p:spPr>
          <a:xfrm>
            <a:off x="0" y="0"/>
            <a:ext cx="3000000" cy="241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## Prompt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↑ messages 를 prompt 라고도 함 (?)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모델에 입력으로 제공되는 텍스트나 데이터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모델에게 작업을 수행하도록 지시하거나, 모델이 생성할 텍스트의 컨텍스트를 제공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LLM 과 의사소통하기 위한 방법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LLM(대형 언어 모델)에서 **프롬프트 prompt**란 모델에 **입력**으로 제공되는 텍스트나 데이터입니다. 이는 모델에게 작업을 수행하도록 지시하거나, 모델이 생성할 텍스트의 컨텍스트를 제공합니다. 프롬프트는 모델의 출력을 결정하는 중요한 역할을 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### 프롬프트의 역할: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1. **모델에 대한 지시**: 프롬프트는 모델에게 무엇을 해야 할지 알려주는 역할을 합니다. 예를 들어, 사용자가 모델에게 질문을 하거나, 특정 스타일의 텍스트를 생성하도록 요청할 때 프롬프트가 필요합니다.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2. **컨텍스트 제공**: 모델이 적절한 응답을 생성할 수 있도록 필요한 배경 정보나 문맥을 제공합니다. 예를 들어, 어떤 주제에 대한 질문을 할 때, 관련 배경 정보를 제공하여 모델이 더 정확한 답을 할 수 있게 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3. **모델의 출력 유도**: 프롬프트가 모델의 출력을 유도하고, 생성되는 텍스트의 스타일, 내용, 형식 등을 결정하는 데 중요한 영향을 미칩니다.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### 예시: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1. **질문 응답**: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- **프롬프트**: "What is the capital of France?"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- **출력**: "The capital of France is Paris."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2. **창의적 글쓰기**: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- **프롬프트**: "Write a short story about a dragon and a knight."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- **출력**: 모델이 창의적으로 드래곤과 기사에 관한 이야기를 생성합니다.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3. **번역**: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- **프롬프트**: "Translate the following sentence to Spanish: 'Hello, how are you?'"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- **출력**: "Hola, ¿cómo estás?"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### 프롬프트의 종류: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**단순한 질문**: 사용자가 단순히 궁금한 점을 묻는 형태.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**지시문**: 특정 작업을 수행하도록 지시하는 형태.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**형식화된 입력**: 특정 형식이나 구조를 갖춘 입력(예: 텍스트 요약, 번역, 코드 작성 등).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### 프롬프트 설계의 중요성: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**정확한 결과**를 얻기 위해서는 **프롬프트의 설계**가 매우 중요합니다. 프롬프트가 모호하거나 불완전하면 모델이 원하는 출력을 생성하기 어렵습니다.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다양한 프롬프트를 실험하면서 모델의 반응을 관찰하고, 가장 적합한 프롬프트를 찾는 것이 중요합니다.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### 프롬프트 설계 팁: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1. **명확하고 구체적인 지시**: 무엇을 원하는지 정확하게 전달하세요. 예를 들어, "Explain quantum mechanics"보다는 "Explain quantum mechanics in simple terms for a high school student"와 같이 구체적인 요구를 하는 것이 좋습니다.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2. **적절한 컨텍스트 제공**: 필요한 배경 정보나 문맥을 제공하면 모델이 더 정확한 답변을 생성할 수 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3. **다양한 실험**: 프롬프트를 조금씩 바꿔가며 테스트해 보면서 최적의 응답을 유도할 수 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### 결론: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프롬프트는 대형 언어 모델에게 작업을 지시하는 중요한 입력으로, 모델이 수행할 작업의 방향을 결정짓는 요소입니다. 프롬프트를 잘 설계하는 것이 LLM을 효과적으로 활용하는 데 큰 도움이 됩니다.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8"/>
          <p:cNvSpPr txBox="1"/>
          <p:nvPr/>
        </p:nvSpPr>
        <p:spPr>
          <a:xfrm>
            <a:off x="0" y="0"/>
            <a:ext cx="3000000" cy="9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Prompt 성능이 좋다면 LLM 답변의 성능도 좋을 것입니다.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모든 웹 사이트들은 상황에 맞는 뛰어는 성능의 prompt 를 제작하는데 전념함.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LangChain 은 prompt 를 공유하기 위한 커뮤니티도 형성되고 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산업 전체 전반적으로 각 분야별 prompt 를 만들어 내고 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예를 들면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| 플랫폼               | 기능              | URL                                                             |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| ----------------- | --------------- | --------------------------------------------------------------- |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| **LangChain Hub** | 프롬프트 및 체인 공유    | [smith.langchain.com/hub](https://smith.langchain.com/hub)      |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| **Discord**       | 커뮤니티, 프롬프트 논의   | [discord.gg/langchain](https://discord.gg/langchain)            |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| **GitHub**        | 코드 예제, 프롬프트 활용법 | [LangChain Examples](https://github.com/langchain-ai/langchain) |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그래서, LangChain 프레임워크의 많은 부분이 prompt 에 집중되어 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prompt 끼리 결함도 할수 있고, 저장하거나 불러올수도 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변수 설정 도중에 검증도 할수 있다.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9"/>
          <p:cNvSpPr txBox="1"/>
          <p:nvPr/>
        </p:nvSpPr>
        <p:spPr>
          <a:xfrm>
            <a:off x="0" y="0"/>
            <a:ext cx="3000000" cy="53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v0.3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from langchain_core.prompts.prompt import PromptTemplate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https://python.langchain.com/api_reference/core/prompts/langchain_core.prompts.prompt.PromptTemplate.html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from langchain_core.prompts.chat import ChatMessagePromptTemplate, ChatPromptTemplate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</a:t>
            </a:r>
            <a:r>
              <a:rPr lang="ko" u="sng">
                <a:solidFill>
                  <a:schemeClr val="hlink"/>
                </a:solidFill>
                <a:hlinkClick r:id="rId3"/>
              </a:rPr>
              <a:t>https://python.langchain.com/api_reference/core/prompts/langchain_core.prompts.chat.ChatPromptTemplate.html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https://python.langchain.com/api_reference/core/prompts/langchain_core.prompts.chat.ChatMessagePromptTemplate.html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50"/>
          <p:cNvSpPr txBox="1"/>
          <p:nvPr/>
        </p:nvSpPr>
        <p:spPr>
          <a:xfrm>
            <a:off x="0" y="0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# placeholder {...} 사용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"What is the distance between {country_a} and {country_b}"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51"/>
          <p:cNvSpPr txBox="1"/>
          <p:nvPr/>
        </p:nvSpPr>
        <p:spPr>
          <a:xfrm>
            <a:off x="0" y="0"/>
            <a:ext cx="30000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# SystemMessage 튜플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("system", "You are a geography expert. And your only reply in {language}"),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# AIMessage 튜플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("ai", "안녕, 내 이름은 {name} 야"),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# HumanMessage 튜플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("human", """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What is the distance between {country_a} and {country_b}.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Also, what is your name?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"""),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52"/>
          <p:cNvSpPr txBox="1"/>
          <p:nvPr/>
        </p:nvSpPr>
        <p:spPr>
          <a:xfrm>
            <a:off x="0" y="0"/>
            <a:ext cx="3000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language="Korean",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name="뽀로로",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country_a="Canada",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country_b="Japan",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53"/>
          <p:cNvSpPr txBox="1"/>
          <p:nvPr/>
        </p:nvSpPr>
        <p:spPr>
          <a:xfrm>
            <a:off x="0" y="0"/>
            <a:ext cx="3000000" cy="57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## Output Parser 란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LLM(대형 언어 모델)에서 생성된 출력을 처리하고 '원하는 형식으로 변환'하는 데 사용되는 유틸리티입니다. 이를 통해 모델이 생성하는 텍스트를 '구조화된 데이터로 변환'하거나, '특정 규칙에 따라 데이터를 추출'할 수 있습니다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1. 출력 구조화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- 모델의 텍스트 응답을 파싱하여 JSON, 딕셔너리, 목록 등과 같은 프로그래밍에서 사용 가능한 구조화된 데이터로 변환합니다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1. 출력 검증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- 모델이 예상치 못한 출력을 반환할 경우 적절한 에러 메시지를 제공하거나 기본값을 반환하도록 처리할 수 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1. 출력 표준화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- 언어 모델의 출력이 항상 일관된 형식으로 제공되도록 보장합니다.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54"/>
          <p:cNvSpPr txBox="1"/>
          <p:nvPr/>
        </p:nvSpPr>
        <p:spPr>
          <a:xfrm>
            <a:off x="0" y="0"/>
            <a:ext cx="30000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v0.3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from langchain_core.output_parsers.base import BaseOutputParser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https://python.langchain.com/api_reference/core/output_parsers/langchain_core.output_parsers.base.BaseOutputParser.html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 ↓ 이를 상속 받아 OutputParser 를 만든다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55"/>
          <p:cNvSpPr txBox="1"/>
          <p:nvPr/>
        </p:nvSpPr>
        <p:spPr>
          <a:xfrm>
            <a:off x="0" y="0"/>
            <a:ext cx="30000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("system", """You are a list generating machine.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Everything you are asked will be answered with a list of max {max_items}.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  Do NOT reply with anything else."""),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  ("human", "{question}")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56"/>
          <p:cNvSpPr txBox="1"/>
          <p:nvPr/>
        </p:nvSpPr>
        <p:spPr>
          <a:xfrm>
            <a:off x="0" y="0"/>
            <a:ext cx="30000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"""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template -&gt; format -&gt; invoke -&gt; parser ...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너무 단계가 많아 보인다..   이를 죄다 직접 하드 코딩하다니?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↓ LCEL 을 사용하면 위 과정들이 많~이 생략된다!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=&gt; 바로 chain 의 등장!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"""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None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57"/>
          <p:cNvSpPr txBox="1"/>
          <p:nvPr/>
        </p:nvSpPr>
        <p:spPr>
          <a:xfrm>
            <a:off x="0" y="0"/>
            <a:ext cx="30000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## Chain, LCEL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- LCEL (LangChain Expression Language: 랭체인 표현 언어)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- LCEL은 LangChain 내에서 복잡한 표현식을 처리하고,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- 모델과의 상호작용을 더 강력하고 유연하게 만드는 기능을 제공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- 코드양을 많이 줄여줌.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- 다양한 template 과 LLM 호출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- 서로 다른 응답(response) 를 함께 사용케 함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58"/>
          <p:cNvSpPr txBox="1"/>
          <p:nvPr/>
        </p:nvSpPr>
        <p:spPr>
          <a:xfrm>
            <a:off x="0" y="0"/>
            <a:ext cx="3000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"max_items": 5,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 "question": "What are the pokemons?",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
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5143500" cx="9144000"/>
  <p:notesSz cx="6858000" cy="9144000"/>
  <p:embeddedFontLst>
    <p:embeddedFont>
      <p:font typeface="Open Sans"/>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OpenSans-bold.fntdata"/><Relationship Id="rId10" Type="http://schemas.openxmlformats.org/officeDocument/2006/relationships/slide" Target="slides/slide5.xml"/><Relationship Id="rId32" Type="http://schemas.openxmlformats.org/officeDocument/2006/relationships/font" Target="fonts/OpenSans-regular.fntdata"/><Relationship Id="rId13" Type="http://schemas.openxmlformats.org/officeDocument/2006/relationships/slide" Target="slides/slide8.xml"/><Relationship Id="rId35" Type="http://schemas.openxmlformats.org/officeDocument/2006/relationships/font" Target="fonts/OpenSans-boldItalic.fntdata"/><Relationship Id="rId12" Type="http://schemas.openxmlformats.org/officeDocument/2006/relationships/slide" Target="slides/slide7.xml"/><Relationship Id="rId34" Type="http://schemas.openxmlformats.org/officeDocument/2006/relationships/font" Target="fonts/OpenSans-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602e56352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602e56352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602e56352c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602e56352c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602e56352c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602e56352c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602e56352c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602e56352c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602e56352c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602e56352c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602e56352c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602e56352c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602e56352c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602e56352c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602e56352c_1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602e56352c_1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602e56352c_1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602e56352c_1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602e56352c_1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602e56352c_1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602e56352c_1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602e56352c_1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602e56352c_1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602e56352c_1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602e56352c_1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602e56352c_1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602e56352c_1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602e56352c_1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602e56352c_1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602e56352c_1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602e56352c_1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602e56352c_1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602e56352c_1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602e56352c_1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602e56352c_1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602e56352c_1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602e56352c_1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602e56352c_1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602e56352c_1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602e56352c_1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602e56352c_1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602e56352c_1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602e56352c_1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602e56352c_1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602e56352c_1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602e56352c_1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602e56352c_1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602e56352c_1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602e56352c_1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602e56352c_1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ko"/>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hyperlink" Target="https://guide.ncloud-docs.com/docs/clovastudio-info#%ED%8C%8C%EB%9D%BC%EB%AF%B8%ED%84%B0"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hyperlink" Target="https://www.ncloud.com/product/aiService/clovaStudio?region=KR#pricing"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hyperlink" Target="https://api.ncloud-docs.com/docs/clovastudio-chatcompletion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0" y="0"/>
            <a:ext cx="3000000" cy="29784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ko" sz="1050">
                <a:solidFill>
                  <a:srgbClr val="008000"/>
                </a:solidFill>
                <a:highlight>
                  <a:srgbClr val="FFFFFF"/>
                </a:highlight>
                <a:latin typeface="Consolas"/>
                <a:ea typeface="Consolas"/>
                <a:cs typeface="Consolas"/>
                <a:sym typeface="Consolas"/>
              </a:rPr>
              <a:t># &lt;확인&gt;</a:t>
            </a:r>
            <a:endParaRPr sz="10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8000"/>
                </a:solidFill>
                <a:highlight>
                  <a:srgbClr val="FFFFFF"/>
                </a:highlight>
                <a:latin typeface="Consolas"/>
                <a:ea typeface="Consolas"/>
                <a:cs typeface="Consolas"/>
                <a:sym typeface="Consolas"/>
              </a:rPr>
              <a:t># message 를 입력하면,  추가 되는것이 아니라, update 가 된다..</a:t>
            </a:r>
            <a:endParaRPr sz="10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8000"/>
                </a:solidFill>
                <a:highlight>
                  <a:srgbClr val="FFFFFF"/>
                </a:highlight>
                <a:latin typeface="Consolas"/>
                <a:ea typeface="Consolas"/>
                <a:cs typeface="Consolas"/>
                <a:sym typeface="Consolas"/>
              </a:rPr>
              <a:t># 사용자가 무엇을 입력해도 비워지지 않고 남아있어야 한다!  어케 하나?</a:t>
            </a:r>
            <a:endParaRPr sz="10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8000"/>
                </a:solidFill>
                <a:highlight>
                  <a:srgbClr val="FFFFFF"/>
                </a:highlight>
                <a:latin typeface="Consolas"/>
                <a:ea typeface="Consolas"/>
                <a:cs typeface="Consolas"/>
                <a:sym typeface="Consolas"/>
              </a:rPr>
              <a:t># 코드가 다시 실행되더라도 말이다.</a:t>
            </a:r>
            <a:endParaRPr sz="10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8000"/>
                </a:solidFill>
                <a:highlight>
                  <a:srgbClr val="FFFFFF"/>
                </a:highlight>
                <a:latin typeface="Consolas"/>
                <a:ea typeface="Consolas"/>
                <a:cs typeface="Consolas"/>
                <a:sym typeface="Consolas"/>
              </a:rPr>
              <a:t># refresh 되더라도 상태값을 기억하도록</a:t>
            </a:r>
            <a:endParaRPr sz="10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8000"/>
                </a:solidFill>
                <a:highlight>
                  <a:srgbClr val="FFFFFF"/>
                </a:highlight>
                <a:latin typeface="Consolas"/>
                <a:ea typeface="Consolas"/>
                <a:cs typeface="Consolas"/>
                <a:sym typeface="Consolas"/>
              </a:rPr>
              <a:t># streamlit 에서는 session state 제공.</a:t>
            </a:r>
            <a:endParaRPr sz="10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8000"/>
                </a:solidFill>
                <a:highlight>
                  <a:srgbClr val="FFFFFF"/>
                </a:highlight>
                <a:latin typeface="Consolas"/>
                <a:ea typeface="Consolas"/>
                <a:cs typeface="Consolas"/>
                <a:sym typeface="Consolas"/>
              </a:rPr>
              <a:t># session state 는 여러번 재실행해도 data 가 보존될수 있도록 해준다.</a:t>
            </a:r>
            <a:endParaRPr sz="1050">
              <a:solidFill>
                <a:srgbClr val="008000"/>
              </a:solidFill>
              <a:highlight>
                <a:srgbClr val="FFFFFF"/>
              </a:highlight>
              <a:latin typeface="Consolas"/>
              <a:ea typeface="Consolas"/>
              <a:cs typeface="Consolas"/>
              <a:sym typeface="Consola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nvSpPr>
        <p:spPr>
          <a:xfrm>
            <a:off x="0" y="0"/>
            <a:ext cx="3000000" cy="102168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ko" sz="1050">
                <a:solidFill>
                  <a:srgbClr val="0000FF"/>
                </a:solidFill>
                <a:highlight>
                  <a:srgbClr val="FFFFFF"/>
                </a:highlight>
                <a:latin typeface="Consolas"/>
                <a:ea typeface="Consolas"/>
                <a:cs typeface="Consolas"/>
                <a:sym typeface="Consolas"/>
              </a:rPr>
              <a:t>import</a:t>
            </a:r>
            <a:r>
              <a:rPr lang="ko" sz="1050">
                <a:solidFill>
                  <a:schemeClr val="dk1"/>
                </a:solidFill>
                <a:highlight>
                  <a:srgbClr val="FFFFFF"/>
                </a:highlight>
                <a:latin typeface="Consolas"/>
                <a:ea typeface="Consolas"/>
                <a:cs typeface="Consolas"/>
                <a:sym typeface="Consolas"/>
              </a:rPr>
              <a:t> streamlit </a:t>
            </a:r>
            <a:r>
              <a:rPr lang="ko" sz="1050">
                <a:solidFill>
                  <a:srgbClr val="0000FF"/>
                </a:solidFill>
                <a:highlight>
                  <a:srgbClr val="FFFFFF"/>
                </a:highlight>
                <a:latin typeface="Consolas"/>
                <a:ea typeface="Consolas"/>
                <a:cs typeface="Consolas"/>
                <a:sym typeface="Consolas"/>
              </a:rPr>
              <a:t>as</a:t>
            </a:r>
            <a:r>
              <a:rPr lang="ko" sz="1050">
                <a:solidFill>
                  <a:schemeClr val="dk1"/>
                </a:solidFill>
                <a:highlight>
                  <a:srgbClr val="FFFFFF"/>
                </a:highlight>
                <a:latin typeface="Consolas"/>
                <a:ea typeface="Consolas"/>
                <a:cs typeface="Consolas"/>
                <a:sym typeface="Consolas"/>
              </a:rPr>
              <a:t> st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00FF"/>
                </a:solidFill>
                <a:highlight>
                  <a:srgbClr val="FFFFFF"/>
                </a:highlight>
                <a:latin typeface="Consolas"/>
                <a:ea typeface="Consolas"/>
                <a:cs typeface="Consolas"/>
                <a:sym typeface="Consolas"/>
              </a:rPr>
              <a:t>import</a:t>
            </a:r>
            <a:r>
              <a:rPr lang="ko" sz="1050">
                <a:solidFill>
                  <a:schemeClr val="dk1"/>
                </a:solidFill>
                <a:highlight>
                  <a:srgbClr val="FFFFFF"/>
                </a:highlight>
                <a:latin typeface="Consolas"/>
                <a:ea typeface="Consolas"/>
                <a:cs typeface="Consolas"/>
                <a:sym typeface="Consolas"/>
              </a:rPr>
              <a:t> time</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st.set_page_config(</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page_title=</a:t>
            </a:r>
            <a:r>
              <a:rPr lang="ko" sz="1050">
                <a:solidFill>
                  <a:srgbClr val="A31515"/>
                </a:solidFill>
                <a:highlight>
                  <a:srgbClr val="FFFFFF"/>
                </a:highlight>
                <a:latin typeface="Consolas"/>
                <a:ea typeface="Consolas"/>
                <a:cs typeface="Consolas"/>
                <a:sym typeface="Consolas"/>
              </a:rPr>
              <a:t>"DocumentGPT5"</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page_icon=</a:t>
            </a:r>
            <a:r>
              <a:rPr lang="ko" sz="1050">
                <a:solidFill>
                  <a:srgbClr val="A31515"/>
                </a:solidFill>
                <a:highlight>
                  <a:srgbClr val="FFFFFF"/>
                </a:highlight>
                <a:latin typeface="Consolas"/>
                <a:ea typeface="Consolas"/>
                <a:cs typeface="Consolas"/>
                <a:sym typeface="Consolas"/>
              </a:rPr>
              <a:t>"👀"</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st.title(</a:t>
            </a:r>
            <a:r>
              <a:rPr lang="ko" sz="1050">
                <a:solidFill>
                  <a:srgbClr val="A31515"/>
                </a:solidFill>
                <a:highlight>
                  <a:srgbClr val="FFFFFF"/>
                </a:highlight>
                <a:latin typeface="Consolas"/>
                <a:ea typeface="Consolas"/>
                <a:cs typeface="Consolas"/>
                <a:sym typeface="Consolas"/>
              </a:rPr>
              <a:t>"Document GPT5"</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00FF"/>
                </a:solidFill>
                <a:highlight>
                  <a:srgbClr val="FFFFFF"/>
                </a:highlight>
                <a:latin typeface="Consolas"/>
                <a:ea typeface="Consolas"/>
                <a:cs typeface="Consolas"/>
                <a:sym typeface="Consolas"/>
              </a:rPr>
              <a:t>if</a:t>
            </a:r>
            <a:r>
              <a:rPr lang="ko" sz="1050">
                <a:solidFill>
                  <a:schemeClr val="dk1"/>
                </a:solidFill>
                <a:highlight>
                  <a:srgbClr val="FFFFFF"/>
                </a:highlight>
                <a:latin typeface="Consolas"/>
                <a:ea typeface="Consolas"/>
                <a:cs typeface="Consolas"/>
                <a:sym typeface="Consolas"/>
              </a:rPr>
              <a:t> </a:t>
            </a:r>
            <a:r>
              <a:rPr lang="ko" sz="1050">
                <a:solidFill>
                  <a:srgbClr val="A31515"/>
                </a:solidFill>
                <a:highlight>
                  <a:srgbClr val="FFFFFF"/>
                </a:highlight>
                <a:latin typeface="Consolas"/>
                <a:ea typeface="Consolas"/>
                <a:cs typeface="Consolas"/>
                <a:sym typeface="Consolas"/>
              </a:rPr>
              <a:t>'messages'</a:t>
            </a:r>
            <a:r>
              <a:rPr lang="ko" sz="1050">
                <a:solidFill>
                  <a:schemeClr val="dk1"/>
                </a:solidFill>
                <a:highlight>
                  <a:srgbClr val="FFFFFF"/>
                </a:highlight>
                <a:latin typeface="Consolas"/>
                <a:ea typeface="Consolas"/>
                <a:cs typeface="Consolas"/>
                <a:sym typeface="Consolas"/>
              </a:rPr>
              <a:t> </a:t>
            </a:r>
            <a:r>
              <a:rPr lang="ko" sz="1050">
                <a:solidFill>
                  <a:srgbClr val="0000FF"/>
                </a:solidFill>
                <a:highlight>
                  <a:srgbClr val="FFFFFF"/>
                </a:highlight>
                <a:latin typeface="Consolas"/>
                <a:ea typeface="Consolas"/>
                <a:cs typeface="Consolas"/>
                <a:sym typeface="Consolas"/>
              </a:rPr>
              <a:t>not</a:t>
            </a:r>
            <a:r>
              <a:rPr lang="ko" sz="1050">
                <a:solidFill>
                  <a:schemeClr val="dk1"/>
                </a:solidFill>
                <a:highlight>
                  <a:srgbClr val="FFFFFF"/>
                </a:highlight>
                <a:latin typeface="Consolas"/>
                <a:ea typeface="Consolas"/>
                <a:cs typeface="Consolas"/>
                <a:sym typeface="Consolas"/>
              </a:rPr>
              <a:t> </a:t>
            </a:r>
            <a:r>
              <a:rPr lang="ko" sz="1050">
                <a:solidFill>
                  <a:srgbClr val="0000FF"/>
                </a:solidFill>
                <a:highlight>
                  <a:srgbClr val="FFFFFF"/>
                </a:highlight>
                <a:latin typeface="Consolas"/>
                <a:ea typeface="Consolas"/>
                <a:cs typeface="Consolas"/>
                <a:sym typeface="Consolas"/>
              </a:rPr>
              <a:t>in</a:t>
            </a:r>
            <a:r>
              <a:rPr lang="ko" sz="1050">
                <a:solidFill>
                  <a:schemeClr val="dk1"/>
                </a:solidFill>
                <a:highlight>
                  <a:srgbClr val="FFFFFF"/>
                </a:highlight>
                <a:latin typeface="Consolas"/>
                <a:ea typeface="Consolas"/>
                <a:cs typeface="Consolas"/>
                <a:sym typeface="Consolas"/>
              </a:rPr>
              <a:t> st.session_state:</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st.session_state[</a:t>
            </a:r>
            <a:r>
              <a:rPr lang="ko" sz="1050">
                <a:solidFill>
                  <a:srgbClr val="A31515"/>
                </a:solidFill>
                <a:highlight>
                  <a:srgbClr val="FFFFFF"/>
                </a:highlight>
                <a:latin typeface="Consolas"/>
                <a:ea typeface="Consolas"/>
                <a:cs typeface="Consolas"/>
                <a:sym typeface="Consolas"/>
              </a:rPr>
              <a:t>'messages'</a:t>
            </a:r>
            <a:r>
              <a:rPr lang="ko" sz="1050">
                <a:solidFill>
                  <a:schemeClr val="dk1"/>
                </a:solidFill>
                <a:highlight>
                  <a:srgbClr val="FFFFFF"/>
                </a:highlight>
                <a:latin typeface="Consolas"/>
                <a:ea typeface="Consolas"/>
                <a:cs typeface="Consolas"/>
                <a:sym typeface="Consolas"/>
              </a:rPr>
              <a:t>] =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8000"/>
                </a:solidFill>
                <a:highlight>
                  <a:srgbClr val="FFFFFF"/>
                </a:highlight>
                <a:latin typeface="Consolas"/>
                <a:ea typeface="Consolas"/>
                <a:cs typeface="Consolas"/>
                <a:sym typeface="Consolas"/>
              </a:rPr>
              <a:t># st.write(st.session_state['messages'])</a:t>
            </a:r>
            <a:endParaRPr sz="10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message = st.chat_input(placeholder=</a:t>
            </a:r>
            <a:r>
              <a:rPr lang="ko" sz="1050">
                <a:solidFill>
                  <a:srgbClr val="A31515"/>
                </a:solidFill>
                <a:highlight>
                  <a:srgbClr val="FFFFFF"/>
                </a:highlight>
                <a:latin typeface="Consolas"/>
                <a:ea typeface="Consolas"/>
                <a:cs typeface="Consolas"/>
                <a:sym typeface="Consolas"/>
              </a:rPr>
              <a:t>"Send a message to AI"</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00FF"/>
                </a:solidFill>
                <a:highlight>
                  <a:srgbClr val="FFFFFF"/>
                </a:highlight>
                <a:latin typeface="Consolas"/>
                <a:ea typeface="Consolas"/>
                <a:cs typeface="Consolas"/>
                <a:sym typeface="Consolas"/>
              </a:rPr>
              <a:t>def</a:t>
            </a:r>
            <a:r>
              <a:rPr lang="ko" sz="1050">
                <a:solidFill>
                  <a:schemeClr val="dk1"/>
                </a:solidFill>
                <a:highlight>
                  <a:srgbClr val="FFFFFF"/>
                </a:highlight>
                <a:latin typeface="Consolas"/>
                <a:ea typeface="Consolas"/>
                <a:cs typeface="Consolas"/>
                <a:sym typeface="Consolas"/>
              </a:rPr>
              <a:t> send_message(message, role, save=</a:t>
            </a:r>
            <a:r>
              <a:rPr lang="ko" sz="1050">
                <a:solidFill>
                  <a:srgbClr val="0000FF"/>
                </a:solidFill>
                <a:highlight>
                  <a:srgbClr val="FFFFFF"/>
                </a:highlight>
                <a:latin typeface="Consolas"/>
                <a:ea typeface="Consolas"/>
                <a:cs typeface="Consolas"/>
                <a:sym typeface="Consolas"/>
              </a:rPr>
              <a:t>True</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0000FF"/>
                </a:solidFill>
                <a:highlight>
                  <a:srgbClr val="FFFFFF"/>
                </a:highlight>
                <a:latin typeface="Consolas"/>
                <a:ea typeface="Consolas"/>
                <a:cs typeface="Consolas"/>
                <a:sym typeface="Consolas"/>
              </a:rPr>
              <a:t>with</a:t>
            </a:r>
            <a:r>
              <a:rPr lang="ko" sz="1050">
                <a:solidFill>
                  <a:schemeClr val="dk1"/>
                </a:solidFill>
                <a:highlight>
                  <a:srgbClr val="FFFFFF"/>
                </a:highlight>
                <a:latin typeface="Consolas"/>
                <a:ea typeface="Consolas"/>
                <a:cs typeface="Consolas"/>
                <a:sym typeface="Consolas"/>
              </a:rPr>
              <a:t> st.chat_message(role):</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st.write(message)</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0000FF"/>
                </a:solidFill>
                <a:highlight>
                  <a:srgbClr val="FFFFFF"/>
                </a:highlight>
                <a:latin typeface="Consolas"/>
                <a:ea typeface="Consolas"/>
                <a:cs typeface="Consolas"/>
                <a:sym typeface="Consolas"/>
              </a:rPr>
              <a:t>if</a:t>
            </a:r>
            <a:r>
              <a:rPr lang="ko" sz="1050">
                <a:solidFill>
                  <a:schemeClr val="dk1"/>
                </a:solidFill>
                <a:highlight>
                  <a:srgbClr val="FFFFFF"/>
                </a:highlight>
                <a:latin typeface="Consolas"/>
                <a:ea typeface="Consolas"/>
                <a:cs typeface="Consolas"/>
                <a:sym typeface="Consolas"/>
              </a:rPr>
              <a:t> save:</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st.session_state[</a:t>
            </a:r>
            <a:r>
              <a:rPr lang="ko" sz="1050">
                <a:solidFill>
                  <a:srgbClr val="A31515"/>
                </a:solidFill>
                <a:highlight>
                  <a:srgbClr val="FFFFFF"/>
                </a:highlight>
                <a:latin typeface="Consolas"/>
                <a:ea typeface="Consolas"/>
                <a:cs typeface="Consolas"/>
                <a:sym typeface="Consolas"/>
              </a:rPr>
              <a:t>'messages'</a:t>
            </a:r>
            <a:r>
              <a:rPr lang="ko" sz="1050">
                <a:solidFill>
                  <a:schemeClr val="dk1"/>
                </a:solidFill>
                <a:highlight>
                  <a:srgbClr val="FFFFFF"/>
                </a:highlight>
                <a:latin typeface="Consolas"/>
                <a:ea typeface="Consolas"/>
                <a:cs typeface="Consolas"/>
                <a:sym typeface="Consolas"/>
              </a:rPr>
              <a:t>].append({</a:t>
            </a:r>
            <a:r>
              <a:rPr lang="ko" sz="1050">
                <a:solidFill>
                  <a:srgbClr val="A31515"/>
                </a:solidFill>
                <a:highlight>
                  <a:srgbClr val="FFFFFF"/>
                </a:highlight>
                <a:latin typeface="Consolas"/>
                <a:ea typeface="Consolas"/>
                <a:cs typeface="Consolas"/>
                <a:sym typeface="Consolas"/>
              </a:rPr>
              <a:t>'message'</a:t>
            </a:r>
            <a:r>
              <a:rPr lang="ko" sz="1050">
                <a:solidFill>
                  <a:schemeClr val="dk1"/>
                </a:solidFill>
                <a:highlight>
                  <a:srgbClr val="FFFFFF"/>
                </a:highlight>
                <a:latin typeface="Consolas"/>
                <a:ea typeface="Consolas"/>
                <a:cs typeface="Consolas"/>
                <a:sym typeface="Consolas"/>
              </a:rPr>
              <a:t>: message, </a:t>
            </a:r>
            <a:r>
              <a:rPr lang="ko" sz="1050">
                <a:solidFill>
                  <a:srgbClr val="A31515"/>
                </a:solidFill>
                <a:highlight>
                  <a:srgbClr val="FFFFFF"/>
                </a:highlight>
                <a:latin typeface="Consolas"/>
                <a:ea typeface="Consolas"/>
                <a:cs typeface="Consolas"/>
                <a:sym typeface="Consolas"/>
              </a:rPr>
              <a:t>'role'</a:t>
            </a:r>
            <a:r>
              <a:rPr lang="ko" sz="1050">
                <a:solidFill>
                  <a:schemeClr val="dk1"/>
                </a:solidFill>
                <a:highlight>
                  <a:srgbClr val="FFFFFF"/>
                </a:highlight>
                <a:latin typeface="Consolas"/>
                <a:ea typeface="Consolas"/>
                <a:cs typeface="Consolas"/>
                <a:sym typeface="Consolas"/>
              </a:rPr>
              <a:t>: role})</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00FF"/>
                </a:solidFill>
                <a:highlight>
                  <a:srgbClr val="FFFFFF"/>
                </a:highlight>
                <a:latin typeface="Consolas"/>
                <a:ea typeface="Consolas"/>
                <a:cs typeface="Consolas"/>
                <a:sym typeface="Consolas"/>
              </a:rPr>
              <a:t>for</a:t>
            </a:r>
            <a:r>
              <a:rPr lang="ko" sz="1050">
                <a:solidFill>
                  <a:schemeClr val="dk1"/>
                </a:solidFill>
                <a:highlight>
                  <a:srgbClr val="FFFFFF"/>
                </a:highlight>
                <a:latin typeface="Consolas"/>
                <a:ea typeface="Consolas"/>
                <a:cs typeface="Consolas"/>
                <a:sym typeface="Consolas"/>
              </a:rPr>
              <a:t> msg </a:t>
            </a:r>
            <a:r>
              <a:rPr lang="ko" sz="1050">
                <a:solidFill>
                  <a:srgbClr val="0000FF"/>
                </a:solidFill>
                <a:highlight>
                  <a:srgbClr val="FFFFFF"/>
                </a:highlight>
                <a:latin typeface="Consolas"/>
                <a:ea typeface="Consolas"/>
                <a:cs typeface="Consolas"/>
                <a:sym typeface="Consolas"/>
              </a:rPr>
              <a:t>in</a:t>
            </a:r>
            <a:r>
              <a:rPr lang="ko" sz="1050">
                <a:solidFill>
                  <a:schemeClr val="dk1"/>
                </a:solidFill>
                <a:highlight>
                  <a:srgbClr val="FFFFFF"/>
                </a:highlight>
                <a:latin typeface="Consolas"/>
                <a:ea typeface="Consolas"/>
                <a:cs typeface="Consolas"/>
                <a:sym typeface="Consolas"/>
              </a:rPr>
              <a:t> st.session_state[</a:t>
            </a:r>
            <a:r>
              <a:rPr lang="ko" sz="1050">
                <a:solidFill>
                  <a:srgbClr val="A31515"/>
                </a:solidFill>
                <a:highlight>
                  <a:srgbClr val="FFFFFF"/>
                </a:highlight>
                <a:latin typeface="Consolas"/>
                <a:ea typeface="Consolas"/>
                <a:cs typeface="Consolas"/>
                <a:sym typeface="Consolas"/>
              </a:rPr>
              <a:t>'messages'</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send_message(msg[</a:t>
            </a:r>
            <a:r>
              <a:rPr lang="ko" sz="1050">
                <a:solidFill>
                  <a:srgbClr val="A31515"/>
                </a:solidFill>
                <a:highlight>
                  <a:srgbClr val="FFFFFF"/>
                </a:highlight>
                <a:latin typeface="Consolas"/>
                <a:ea typeface="Consolas"/>
                <a:cs typeface="Consolas"/>
                <a:sym typeface="Consolas"/>
              </a:rPr>
              <a:t>'message'</a:t>
            </a:r>
            <a:r>
              <a:rPr lang="ko" sz="1050">
                <a:solidFill>
                  <a:schemeClr val="dk1"/>
                </a:solidFill>
                <a:highlight>
                  <a:srgbClr val="FFFFFF"/>
                </a:highlight>
                <a:latin typeface="Consolas"/>
                <a:ea typeface="Consolas"/>
                <a:cs typeface="Consolas"/>
                <a:sym typeface="Consolas"/>
              </a:rPr>
              <a:t>], msg[</a:t>
            </a:r>
            <a:r>
              <a:rPr lang="ko" sz="1050">
                <a:solidFill>
                  <a:srgbClr val="A31515"/>
                </a:solidFill>
                <a:highlight>
                  <a:srgbClr val="FFFFFF"/>
                </a:highlight>
                <a:latin typeface="Consolas"/>
                <a:ea typeface="Consolas"/>
                <a:cs typeface="Consolas"/>
                <a:sym typeface="Consolas"/>
              </a:rPr>
              <a:t>'role'</a:t>
            </a:r>
            <a:r>
              <a:rPr lang="ko" sz="1050">
                <a:solidFill>
                  <a:schemeClr val="dk1"/>
                </a:solidFill>
                <a:highlight>
                  <a:srgbClr val="FFFFFF"/>
                </a:highlight>
                <a:latin typeface="Consolas"/>
                <a:ea typeface="Consolas"/>
                <a:cs typeface="Consolas"/>
                <a:sym typeface="Consolas"/>
              </a:rPr>
              <a:t>], save=</a:t>
            </a:r>
            <a:r>
              <a:rPr lang="ko" sz="1050">
                <a:solidFill>
                  <a:srgbClr val="0000FF"/>
                </a:solidFill>
                <a:highlight>
                  <a:srgbClr val="FFFFFF"/>
                </a:highlight>
                <a:latin typeface="Consolas"/>
                <a:ea typeface="Consolas"/>
                <a:cs typeface="Consolas"/>
                <a:sym typeface="Consolas"/>
              </a:rPr>
              <a:t>False</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00FF"/>
                </a:solidFill>
                <a:highlight>
                  <a:srgbClr val="FFFFFF"/>
                </a:highlight>
                <a:latin typeface="Consolas"/>
                <a:ea typeface="Consolas"/>
                <a:cs typeface="Consolas"/>
                <a:sym typeface="Consolas"/>
              </a:rPr>
              <a:t>if</a:t>
            </a:r>
            <a:r>
              <a:rPr lang="ko" sz="1050">
                <a:solidFill>
                  <a:schemeClr val="dk1"/>
                </a:solidFill>
                <a:highlight>
                  <a:srgbClr val="FFFFFF"/>
                </a:highlight>
                <a:latin typeface="Consolas"/>
                <a:ea typeface="Consolas"/>
                <a:cs typeface="Consolas"/>
                <a:sym typeface="Consolas"/>
              </a:rPr>
              <a:t> message:</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send_message(message, </a:t>
            </a:r>
            <a:r>
              <a:rPr lang="ko" sz="1050">
                <a:solidFill>
                  <a:srgbClr val="A31515"/>
                </a:solidFill>
                <a:highlight>
                  <a:srgbClr val="FFFFFF"/>
                </a:highlight>
                <a:latin typeface="Consolas"/>
                <a:ea typeface="Consolas"/>
                <a:cs typeface="Consolas"/>
                <a:sym typeface="Consolas"/>
              </a:rPr>
              <a:t>'human'</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time.sleep(</a:t>
            </a:r>
            <a:r>
              <a:rPr lang="ko" sz="1050">
                <a:solidFill>
                  <a:srgbClr val="098658"/>
                </a:solidFill>
                <a:highlight>
                  <a:srgbClr val="FFFFFF"/>
                </a:highlight>
                <a:latin typeface="Consolas"/>
                <a:ea typeface="Consolas"/>
                <a:cs typeface="Consolas"/>
                <a:sym typeface="Consolas"/>
              </a:rPr>
              <a:t>2</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send_message(</a:t>
            </a:r>
            <a:r>
              <a:rPr lang="ko" sz="1050">
                <a:solidFill>
                  <a:srgbClr val="0000FF"/>
                </a:solidFill>
                <a:highlight>
                  <a:srgbClr val="FFFFFF"/>
                </a:highlight>
                <a:latin typeface="Consolas"/>
                <a:ea typeface="Consolas"/>
                <a:cs typeface="Consolas"/>
                <a:sym typeface="Consolas"/>
              </a:rPr>
              <a:t>f</a:t>
            </a:r>
            <a:r>
              <a:rPr lang="ko" sz="1050">
                <a:solidFill>
                  <a:srgbClr val="A31515"/>
                </a:solidFill>
                <a:highlight>
                  <a:srgbClr val="FFFFFF"/>
                </a:highlight>
                <a:latin typeface="Consolas"/>
                <a:ea typeface="Consolas"/>
                <a:cs typeface="Consolas"/>
                <a:sym typeface="Consolas"/>
              </a:rPr>
              <a:t>'You said: </a:t>
            </a:r>
            <a:r>
              <a:rPr lang="ko" sz="1050">
                <a:solidFill>
                  <a:schemeClr val="dk1"/>
                </a:solidFill>
                <a:highlight>
                  <a:srgbClr val="FFFFFF"/>
                </a:highlight>
                <a:latin typeface="Consolas"/>
                <a:ea typeface="Consolas"/>
                <a:cs typeface="Consolas"/>
                <a:sym typeface="Consolas"/>
              </a:rPr>
              <a:t>{message}</a:t>
            </a:r>
            <a:r>
              <a:rPr lang="ko" sz="1050">
                <a:solidFill>
                  <a:srgbClr val="A31515"/>
                </a:solidFill>
                <a:highlight>
                  <a:srgbClr val="FFFFFF"/>
                </a:highlight>
                <a:latin typeface="Consolas"/>
                <a:ea typeface="Consolas"/>
                <a:cs typeface="Consolas"/>
                <a:sym typeface="Consolas"/>
              </a:rPr>
              <a:t>'</a:t>
            </a:r>
            <a:r>
              <a:rPr lang="ko" sz="1050">
                <a:solidFill>
                  <a:schemeClr val="dk1"/>
                </a:solidFill>
                <a:highlight>
                  <a:srgbClr val="FFFFFF"/>
                </a:highlight>
                <a:latin typeface="Consolas"/>
                <a:ea typeface="Consolas"/>
                <a:cs typeface="Consolas"/>
                <a:sym typeface="Consolas"/>
              </a:rPr>
              <a:t>, </a:t>
            </a:r>
            <a:r>
              <a:rPr lang="ko" sz="1050">
                <a:solidFill>
                  <a:srgbClr val="A31515"/>
                </a:solidFill>
                <a:highlight>
                  <a:srgbClr val="FFFFFF"/>
                </a:highlight>
                <a:latin typeface="Consolas"/>
                <a:ea typeface="Consolas"/>
                <a:cs typeface="Consolas"/>
                <a:sym typeface="Consolas"/>
              </a:rPr>
              <a:t>'ai'</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008000"/>
                </a:solidFill>
                <a:highlight>
                  <a:srgbClr val="FFFFFF"/>
                </a:highlight>
                <a:latin typeface="Consolas"/>
                <a:ea typeface="Consolas"/>
                <a:cs typeface="Consolas"/>
                <a:sym typeface="Consolas"/>
              </a:rPr>
              <a:t># session_state 에 있는 내용을 sidebar 에 그려보자</a:t>
            </a:r>
            <a:endParaRPr sz="10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0000FF"/>
                </a:solidFill>
                <a:highlight>
                  <a:srgbClr val="FFFFFF"/>
                </a:highlight>
                <a:latin typeface="Consolas"/>
                <a:ea typeface="Consolas"/>
                <a:cs typeface="Consolas"/>
                <a:sym typeface="Consolas"/>
              </a:rPr>
              <a:t>with</a:t>
            </a:r>
            <a:r>
              <a:rPr lang="ko" sz="1050">
                <a:solidFill>
                  <a:schemeClr val="dk1"/>
                </a:solidFill>
                <a:highlight>
                  <a:srgbClr val="FFFFFF"/>
                </a:highlight>
                <a:latin typeface="Consolas"/>
                <a:ea typeface="Consolas"/>
                <a:cs typeface="Consolas"/>
                <a:sym typeface="Consolas"/>
              </a:rPr>
              <a:t> st.sidebar:</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st.write(st.session_state)</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5"/>
          <p:cNvSpPr txBox="1"/>
          <p:nvPr/>
        </p:nvSpPr>
        <p:spPr>
          <a:xfrm>
            <a:off x="0" y="0"/>
            <a:ext cx="3000000" cy="104361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ko" sz="1050">
                <a:solidFill>
                  <a:srgbClr val="008000"/>
                </a:solidFill>
                <a:highlight>
                  <a:srgbClr val="FFFFFF"/>
                </a:highlight>
                <a:latin typeface="Consolas"/>
                <a:ea typeface="Consolas"/>
                <a:cs typeface="Consolas"/>
                <a:sym typeface="Consolas"/>
              </a:rPr>
              <a:t># Chart elements</a:t>
            </a:r>
            <a:endParaRPr sz="10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8000"/>
                </a:solidFill>
                <a:highlight>
                  <a:srgbClr val="FFFFFF"/>
                </a:highlight>
                <a:latin typeface="Consolas"/>
                <a:ea typeface="Consolas"/>
                <a:cs typeface="Consolas"/>
                <a:sym typeface="Consolas"/>
              </a:rPr>
              <a:t>#  그래프, 차트 그리기</a:t>
            </a:r>
            <a:endParaRPr sz="10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8000"/>
                </a:solidFill>
                <a:highlight>
                  <a:srgbClr val="FFFFFF"/>
                </a:highlight>
                <a:latin typeface="Consolas"/>
                <a:ea typeface="Consolas"/>
                <a:cs typeface="Consolas"/>
                <a:sym typeface="Consolas"/>
              </a:rPr>
              <a:t>#  https://docs.streamlit.io/develop/api-reference/charts</a:t>
            </a:r>
            <a:endParaRPr sz="10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00FF"/>
                </a:solidFill>
                <a:highlight>
                  <a:srgbClr val="FFFFFF"/>
                </a:highlight>
                <a:latin typeface="Consolas"/>
                <a:ea typeface="Consolas"/>
                <a:cs typeface="Consolas"/>
                <a:sym typeface="Consolas"/>
              </a:rPr>
              <a:t>import</a:t>
            </a:r>
            <a:r>
              <a:rPr lang="ko" sz="1050">
                <a:solidFill>
                  <a:schemeClr val="dk1"/>
                </a:solidFill>
                <a:highlight>
                  <a:srgbClr val="FFFFFF"/>
                </a:highlight>
                <a:latin typeface="Consolas"/>
                <a:ea typeface="Consolas"/>
                <a:cs typeface="Consolas"/>
                <a:sym typeface="Consolas"/>
              </a:rPr>
              <a:t> streamlit </a:t>
            </a:r>
            <a:r>
              <a:rPr lang="ko" sz="1050">
                <a:solidFill>
                  <a:srgbClr val="0000FF"/>
                </a:solidFill>
                <a:highlight>
                  <a:srgbClr val="FFFFFF"/>
                </a:highlight>
                <a:latin typeface="Consolas"/>
                <a:ea typeface="Consolas"/>
                <a:cs typeface="Consolas"/>
                <a:sym typeface="Consolas"/>
              </a:rPr>
              <a:t>as</a:t>
            </a:r>
            <a:r>
              <a:rPr lang="ko" sz="1050">
                <a:solidFill>
                  <a:schemeClr val="dk1"/>
                </a:solidFill>
                <a:highlight>
                  <a:srgbClr val="FFFFFF"/>
                </a:highlight>
                <a:latin typeface="Consolas"/>
                <a:ea typeface="Consolas"/>
                <a:cs typeface="Consolas"/>
                <a:sym typeface="Consolas"/>
              </a:rPr>
              <a:t> st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00FF"/>
                </a:solidFill>
                <a:highlight>
                  <a:srgbClr val="FFFFFF"/>
                </a:highlight>
                <a:latin typeface="Consolas"/>
                <a:ea typeface="Consolas"/>
                <a:cs typeface="Consolas"/>
                <a:sym typeface="Consolas"/>
              </a:rPr>
              <a:t>import</a:t>
            </a:r>
            <a:r>
              <a:rPr lang="ko" sz="1050">
                <a:solidFill>
                  <a:schemeClr val="dk1"/>
                </a:solidFill>
                <a:highlight>
                  <a:srgbClr val="FFFFFF"/>
                </a:highlight>
                <a:latin typeface="Consolas"/>
                <a:ea typeface="Consolas"/>
                <a:cs typeface="Consolas"/>
                <a:sym typeface="Consolas"/>
              </a:rPr>
              <a:t> pandas </a:t>
            </a:r>
            <a:r>
              <a:rPr lang="ko" sz="1050">
                <a:solidFill>
                  <a:srgbClr val="0000FF"/>
                </a:solidFill>
                <a:highlight>
                  <a:srgbClr val="FFFFFF"/>
                </a:highlight>
                <a:latin typeface="Consolas"/>
                <a:ea typeface="Consolas"/>
                <a:cs typeface="Consolas"/>
                <a:sym typeface="Consolas"/>
              </a:rPr>
              <a:t>as</a:t>
            </a:r>
            <a:r>
              <a:rPr lang="ko" sz="1050">
                <a:solidFill>
                  <a:schemeClr val="dk1"/>
                </a:solidFill>
                <a:highlight>
                  <a:srgbClr val="FFFFFF"/>
                </a:highlight>
                <a:latin typeface="Consolas"/>
                <a:ea typeface="Consolas"/>
                <a:cs typeface="Consolas"/>
                <a:sym typeface="Consolas"/>
              </a:rPr>
              <a:t> pd</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00FF"/>
                </a:solidFill>
                <a:highlight>
                  <a:srgbClr val="FFFFFF"/>
                </a:highlight>
                <a:latin typeface="Consolas"/>
                <a:ea typeface="Consolas"/>
                <a:cs typeface="Consolas"/>
                <a:sym typeface="Consolas"/>
              </a:rPr>
              <a:t>import</a:t>
            </a:r>
            <a:r>
              <a:rPr lang="ko" sz="1050">
                <a:solidFill>
                  <a:schemeClr val="dk1"/>
                </a:solidFill>
                <a:highlight>
                  <a:srgbClr val="FFFFFF"/>
                </a:highlight>
                <a:latin typeface="Consolas"/>
                <a:ea typeface="Consolas"/>
                <a:cs typeface="Consolas"/>
                <a:sym typeface="Consolas"/>
              </a:rPr>
              <a:t> matplotlib.pyplot </a:t>
            </a:r>
            <a:r>
              <a:rPr lang="ko" sz="1050">
                <a:solidFill>
                  <a:srgbClr val="0000FF"/>
                </a:solidFill>
                <a:highlight>
                  <a:srgbClr val="FFFFFF"/>
                </a:highlight>
                <a:latin typeface="Consolas"/>
                <a:ea typeface="Consolas"/>
                <a:cs typeface="Consolas"/>
                <a:sym typeface="Consolas"/>
              </a:rPr>
              <a:t>as</a:t>
            </a:r>
            <a:r>
              <a:rPr lang="ko" sz="1050">
                <a:solidFill>
                  <a:schemeClr val="dk1"/>
                </a:solidFill>
                <a:highlight>
                  <a:srgbClr val="FFFFFF"/>
                </a:highlight>
                <a:latin typeface="Consolas"/>
                <a:ea typeface="Consolas"/>
                <a:cs typeface="Consolas"/>
                <a:sym typeface="Consolas"/>
              </a:rPr>
              <a:t> plt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00FF"/>
                </a:solidFill>
                <a:highlight>
                  <a:srgbClr val="FFFFFF"/>
                </a:highlight>
                <a:latin typeface="Consolas"/>
                <a:ea typeface="Consolas"/>
                <a:cs typeface="Consolas"/>
                <a:sym typeface="Consolas"/>
              </a:rPr>
              <a:t>import</a:t>
            </a:r>
            <a:r>
              <a:rPr lang="ko" sz="1050">
                <a:solidFill>
                  <a:schemeClr val="dk1"/>
                </a:solidFill>
                <a:highlight>
                  <a:srgbClr val="FFFFFF"/>
                </a:highlight>
                <a:latin typeface="Consolas"/>
                <a:ea typeface="Consolas"/>
                <a:cs typeface="Consolas"/>
                <a:sym typeface="Consolas"/>
              </a:rPr>
              <a:t> seaborn </a:t>
            </a:r>
            <a:r>
              <a:rPr lang="ko" sz="1050">
                <a:solidFill>
                  <a:srgbClr val="0000FF"/>
                </a:solidFill>
                <a:highlight>
                  <a:srgbClr val="FFFFFF"/>
                </a:highlight>
                <a:latin typeface="Consolas"/>
                <a:ea typeface="Consolas"/>
                <a:cs typeface="Consolas"/>
                <a:sym typeface="Consolas"/>
              </a:rPr>
              <a:t>as</a:t>
            </a:r>
            <a:r>
              <a:rPr lang="ko" sz="1050">
                <a:solidFill>
                  <a:schemeClr val="dk1"/>
                </a:solidFill>
                <a:highlight>
                  <a:srgbClr val="FFFFFF"/>
                </a:highlight>
                <a:latin typeface="Consolas"/>
                <a:ea typeface="Consolas"/>
                <a:cs typeface="Consolas"/>
                <a:sym typeface="Consolas"/>
              </a:rPr>
              <a:t> sns</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00FF"/>
                </a:solidFill>
                <a:highlight>
                  <a:srgbClr val="FFFFFF"/>
                </a:highlight>
                <a:latin typeface="Consolas"/>
                <a:ea typeface="Consolas"/>
                <a:cs typeface="Consolas"/>
                <a:sym typeface="Consolas"/>
              </a:rPr>
              <a:t>import</a:t>
            </a:r>
            <a:r>
              <a:rPr lang="ko" sz="1050">
                <a:solidFill>
                  <a:schemeClr val="dk1"/>
                </a:solidFill>
                <a:highlight>
                  <a:srgbClr val="FFFFFF"/>
                </a:highlight>
                <a:latin typeface="Consolas"/>
                <a:ea typeface="Consolas"/>
                <a:cs typeface="Consolas"/>
                <a:sym typeface="Consolas"/>
              </a:rPr>
              <a:t> numpy </a:t>
            </a:r>
            <a:r>
              <a:rPr lang="ko" sz="1050">
                <a:solidFill>
                  <a:srgbClr val="0000FF"/>
                </a:solidFill>
                <a:highlight>
                  <a:srgbClr val="FFFFFF"/>
                </a:highlight>
                <a:latin typeface="Consolas"/>
                <a:ea typeface="Consolas"/>
                <a:cs typeface="Consolas"/>
                <a:sym typeface="Consolas"/>
              </a:rPr>
              <a:t>as</a:t>
            </a:r>
            <a:r>
              <a:rPr lang="ko" sz="1050">
                <a:solidFill>
                  <a:schemeClr val="dk1"/>
                </a:solidFill>
                <a:highlight>
                  <a:srgbClr val="FFFFFF"/>
                </a:highlight>
                <a:latin typeface="Consolas"/>
                <a:ea typeface="Consolas"/>
                <a:cs typeface="Consolas"/>
                <a:sym typeface="Consolas"/>
              </a:rPr>
              <a:t> np</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8000"/>
                </a:solidFill>
                <a:highlight>
                  <a:srgbClr val="FFFFFF"/>
                </a:highlight>
                <a:latin typeface="Consolas"/>
                <a:ea typeface="Consolas"/>
                <a:cs typeface="Consolas"/>
                <a:sym typeface="Consolas"/>
              </a:rPr>
              <a:t># 한글폰트 설정</a:t>
            </a:r>
            <a:endParaRPr sz="10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00FF"/>
                </a:solidFill>
                <a:highlight>
                  <a:srgbClr val="FFFFFF"/>
                </a:highlight>
                <a:latin typeface="Consolas"/>
                <a:ea typeface="Consolas"/>
                <a:cs typeface="Consolas"/>
                <a:sym typeface="Consolas"/>
              </a:rPr>
              <a:t>from</a:t>
            </a:r>
            <a:r>
              <a:rPr lang="ko" sz="1050">
                <a:solidFill>
                  <a:schemeClr val="dk1"/>
                </a:solidFill>
                <a:highlight>
                  <a:srgbClr val="FFFFFF"/>
                </a:highlight>
                <a:latin typeface="Consolas"/>
                <a:ea typeface="Consolas"/>
                <a:cs typeface="Consolas"/>
                <a:sym typeface="Consolas"/>
              </a:rPr>
              <a:t> matplotlib </a:t>
            </a:r>
            <a:r>
              <a:rPr lang="ko" sz="1050">
                <a:solidFill>
                  <a:srgbClr val="0000FF"/>
                </a:solidFill>
                <a:highlight>
                  <a:srgbClr val="FFFFFF"/>
                </a:highlight>
                <a:latin typeface="Consolas"/>
                <a:ea typeface="Consolas"/>
                <a:cs typeface="Consolas"/>
                <a:sym typeface="Consolas"/>
              </a:rPr>
              <a:t>import</a:t>
            </a:r>
            <a:r>
              <a:rPr lang="ko" sz="1050">
                <a:solidFill>
                  <a:schemeClr val="dk1"/>
                </a:solidFill>
                <a:highlight>
                  <a:srgbClr val="FFFFFF"/>
                </a:highlight>
                <a:latin typeface="Consolas"/>
                <a:ea typeface="Consolas"/>
                <a:cs typeface="Consolas"/>
                <a:sym typeface="Consolas"/>
              </a:rPr>
              <a:t> font_manager, rc</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00FF"/>
                </a:solidFill>
                <a:highlight>
                  <a:srgbClr val="FFFFFF"/>
                </a:highlight>
                <a:latin typeface="Consolas"/>
                <a:ea typeface="Consolas"/>
                <a:cs typeface="Consolas"/>
                <a:sym typeface="Consolas"/>
              </a:rPr>
              <a:t>import</a:t>
            </a:r>
            <a:r>
              <a:rPr lang="ko" sz="1050">
                <a:solidFill>
                  <a:schemeClr val="dk1"/>
                </a:solidFill>
                <a:highlight>
                  <a:srgbClr val="FFFFFF"/>
                </a:highlight>
                <a:latin typeface="Consolas"/>
                <a:ea typeface="Consolas"/>
                <a:cs typeface="Consolas"/>
                <a:sym typeface="Consolas"/>
              </a:rPr>
              <a:t> platform</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00FF"/>
                </a:solidFill>
                <a:highlight>
                  <a:srgbClr val="FFFFFF"/>
                </a:highlight>
                <a:latin typeface="Consolas"/>
                <a:ea typeface="Consolas"/>
                <a:cs typeface="Consolas"/>
                <a:sym typeface="Consolas"/>
              </a:rPr>
              <a:t>try</a:t>
            </a:r>
            <a:r>
              <a:rPr lang="ko" sz="1050">
                <a:solidFill>
                  <a:schemeClr val="dk1"/>
                </a:solidFill>
                <a:highlight>
                  <a:srgbClr val="FFFFFF"/>
                </a:highlight>
                <a:latin typeface="Consolas"/>
                <a:ea typeface="Consolas"/>
                <a:cs typeface="Consolas"/>
                <a:sym typeface="Consolas"/>
              </a:rPr>
              <a:t>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0000FF"/>
                </a:solidFill>
                <a:highlight>
                  <a:srgbClr val="FFFFFF"/>
                </a:highlight>
                <a:latin typeface="Consolas"/>
                <a:ea typeface="Consolas"/>
                <a:cs typeface="Consolas"/>
                <a:sym typeface="Consolas"/>
              </a:rPr>
              <a:t>if</a:t>
            </a:r>
            <a:r>
              <a:rPr lang="ko" sz="1050">
                <a:solidFill>
                  <a:schemeClr val="dk1"/>
                </a:solidFill>
                <a:highlight>
                  <a:srgbClr val="FFFFFF"/>
                </a:highlight>
                <a:latin typeface="Consolas"/>
                <a:ea typeface="Consolas"/>
                <a:cs typeface="Consolas"/>
                <a:sym typeface="Consolas"/>
              </a:rPr>
              <a:t> platform.system() == </a:t>
            </a:r>
            <a:r>
              <a:rPr lang="ko" sz="1050">
                <a:solidFill>
                  <a:srgbClr val="A31515"/>
                </a:solidFill>
                <a:highlight>
                  <a:srgbClr val="FFFFFF"/>
                </a:highlight>
                <a:latin typeface="Consolas"/>
                <a:ea typeface="Consolas"/>
                <a:cs typeface="Consolas"/>
                <a:sym typeface="Consolas"/>
              </a:rPr>
              <a:t>'Windows'</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008000"/>
                </a:solidFill>
                <a:highlight>
                  <a:srgbClr val="FFFFFF"/>
                </a:highlight>
                <a:latin typeface="Consolas"/>
                <a:ea typeface="Consolas"/>
                <a:cs typeface="Consolas"/>
                <a:sym typeface="Consolas"/>
              </a:rPr>
              <a:t># 윈도우인 경우</a:t>
            </a:r>
            <a:endParaRPr sz="10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font_name = font_manager.FontProperties(fname=</a:t>
            </a:r>
            <a:r>
              <a:rPr lang="ko" sz="1050">
                <a:solidFill>
                  <a:srgbClr val="A31515"/>
                </a:solidFill>
                <a:highlight>
                  <a:srgbClr val="FFFFFF"/>
                </a:highlight>
                <a:latin typeface="Consolas"/>
                <a:ea typeface="Consolas"/>
                <a:cs typeface="Consolas"/>
                <a:sym typeface="Consolas"/>
              </a:rPr>
              <a:t>"c:/Windows/Fonts/malgun.ttf"</a:t>
            </a:r>
            <a:r>
              <a:rPr lang="ko" sz="1050">
                <a:solidFill>
                  <a:schemeClr val="dk1"/>
                </a:solidFill>
                <a:highlight>
                  <a:srgbClr val="FFFFFF"/>
                </a:highlight>
                <a:latin typeface="Consolas"/>
                <a:ea typeface="Consolas"/>
                <a:cs typeface="Consolas"/>
                <a:sym typeface="Consolas"/>
              </a:rPr>
              <a:t>).get_name()</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rc(</a:t>
            </a:r>
            <a:r>
              <a:rPr lang="ko" sz="1050">
                <a:solidFill>
                  <a:srgbClr val="A31515"/>
                </a:solidFill>
                <a:highlight>
                  <a:srgbClr val="FFFFFF"/>
                </a:highlight>
                <a:latin typeface="Consolas"/>
                <a:ea typeface="Consolas"/>
                <a:cs typeface="Consolas"/>
                <a:sym typeface="Consolas"/>
              </a:rPr>
              <a:t>'font'</a:t>
            </a:r>
            <a:r>
              <a:rPr lang="ko" sz="1050">
                <a:solidFill>
                  <a:schemeClr val="dk1"/>
                </a:solidFill>
                <a:highlight>
                  <a:srgbClr val="FFFFFF"/>
                </a:highlight>
                <a:latin typeface="Consolas"/>
                <a:ea typeface="Consolas"/>
                <a:cs typeface="Consolas"/>
                <a:sym typeface="Consolas"/>
              </a:rPr>
              <a:t>, family=font_name)</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0000FF"/>
                </a:solidFill>
                <a:highlight>
                  <a:srgbClr val="FFFFFF"/>
                </a:highlight>
                <a:latin typeface="Consolas"/>
                <a:ea typeface="Consolas"/>
                <a:cs typeface="Consolas"/>
                <a:sym typeface="Consolas"/>
              </a:rPr>
              <a:t>else</a:t>
            </a:r>
            <a:r>
              <a:rPr lang="ko" sz="1050">
                <a:solidFill>
                  <a:schemeClr val="dk1"/>
                </a:solidFill>
                <a:highlight>
                  <a:srgbClr val="FFFFFF"/>
                </a:highlight>
                <a:latin typeface="Consolas"/>
                <a:ea typeface="Consolas"/>
                <a:cs typeface="Consolas"/>
                <a:sym typeface="Consolas"/>
              </a:rPr>
              <a:t>: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008000"/>
                </a:solidFill>
                <a:highlight>
                  <a:srgbClr val="FFFFFF"/>
                </a:highlight>
                <a:latin typeface="Consolas"/>
                <a:ea typeface="Consolas"/>
                <a:cs typeface="Consolas"/>
                <a:sym typeface="Consolas"/>
              </a:rPr>
              <a:t># Mac 인 경우</a:t>
            </a:r>
            <a:endParaRPr sz="10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rc(</a:t>
            </a:r>
            <a:r>
              <a:rPr lang="ko" sz="1050">
                <a:solidFill>
                  <a:srgbClr val="A31515"/>
                </a:solidFill>
                <a:highlight>
                  <a:srgbClr val="FFFFFF"/>
                </a:highlight>
                <a:latin typeface="Consolas"/>
                <a:ea typeface="Consolas"/>
                <a:cs typeface="Consolas"/>
                <a:sym typeface="Consolas"/>
              </a:rPr>
              <a:t>'font'</a:t>
            </a:r>
            <a:r>
              <a:rPr lang="ko" sz="1050">
                <a:solidFill>
                  <a:schemeClr val="dk1"/>
                </a:solidFill>
                <a:highlight>
                  <a:srgbClr val="FFFFFF"/>
                </a:highlight>
                <a:latin typeface="Consolas"/>
                <a:ea typeface="Consolas"/>
                <a:cs typeface="Consolas"/>
                <a:sym typeface="Consolas"/>
              </a:rPr>
              <a:t>, family=</a:t>
            </a:r>
            <a:r>
              <a:rPr lang="ko" sz="1050">
                <a:solidFill>
                  <a:srgbClr val="A31515"/>
                </a:solidFill>
                <a:highlight>
                  <a:srgbClr val="FFFFFF"/>
                </a:highlight>
                <a:latin typeface="Consolas"/>
                <a:ea typeface="Consolas"/>
                <a:cs typeface="Consolas"/>
                <a:sym typeface="Consolas"/>
              </a:rPr>
              <a:t>'AppleGothic'</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00FF"/>
                </a:solidFill>
                <a:highlight>
                  <a:srgbClr val="FFFFFF"/>
                </a:highlight>
                <a:latin typeface="Consolas"/>
                <a:ea typeface="Consolas"/>
                <a:cs typeface="Consolas"/>
                <a:sym typeface="Consolas"/>
              </a:rPr>
              <a:t>except</a:t>
            </a:r>
            <a:r>
              <a:rPr lang="ko" sz="1050">
                <a:solidFill>
                  <a:schemeClr val="dk1"/>
                </a:solidFill>
                <a:highlight>
                  <a:srgbClr val="FFFFFF"/>
                </a:highlight>
                <a:latin typeface="Consolas"/>
                <a:ea typeface="Consolas"/>
                <a:cs typeface="Consolas"/>
                <a:sym typeface="Consolas"/>
              </a:rPr>
              <a:t>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0000FF"/>
                </a:solidFill>
                <a:highlight>
                  <a:srgbClr val="FFFFFF"/>
                </a:highlight>
                <a:latin typeface="Consolas"/>
                <a:ea typeface="Consolas"/>
                <a:cs typeface="Consolas"/>
                <a:sym typeface="Consolas"/>
              </a:rPr>
              <a:t>pass</a:t>
            </a:r>
            <a:endParaRPr sz="1050">
              <a:solidFill>
                <a:srgbClr val="0000FF"/>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plt.rcParams[</a:t>
            </a:r>
            <a:r>
              <a:rPr lang="ko" sz="1050">
                <a:solidFill>
                  <a:srgbClr val="A31515"/>
                </a:solidFill>
                <a:highlight>
                  <a:srgbClr val="FFFFFF"/>
                </a:highlight>
                <a:latin typeface="Consolas"/>
                <a:ea typeface="Consolas"/>
                <a:cs typeface="Consolas"/>
                <a:sym typeface="Consolas"/>
              </a:rPr>
              <a:t>'axes.unicode_minus'</a:t>
            </a:r>
            <a:r>
              <a:rPr lang="ko" sz="1050">
                <a:solidFill>
                  <a:schemeClr val="dk1"/>
                </a:solidFill>
                <a:highlight>
                  <a:srgbClr val="FFFFFF"/>
                </a:highlight>
                <a:latin typeface="Consolas"/>
                <a:ea typeface="Consolas"/>
                <a:cs typeface="Consolas"/>
                <a:sym typeface="Consolas"/>
              </a:rPr>
              <a:t>] = </a:t>
            </a:r>
            <a:r>
              <a:rPr lang="ko" sz="1050">
                <a:solidFill>
                  <a:srgbClr val="0000FF"/>
                </a:solidFill>
                <a:highlight>
                  <a:srgbClr val="FFFFFF"/>
                </a:highlight>
                <a:latin typeface="Consolas"/>
                <a:ea typeface="Consolas"/>
                <a:cs typeface="Consolas"/>
                <a:sym typeface="Consolas"/>
              </a:rPr>
              <a:t>False</a:t>
            </a:r>
            <a:r>
              <a:rPr lang="ko" sz="1050">
                <a:solidFill>
                  <a:schemeClr val="dk1"/>
                </a:solidFill>
                <a:highlight>
                  <a:srgbClr val="FFFFFF"/>
                </a:highlight>
                <a:latin typeface="Consolas"/>
                <a:ea typeface="Consolas"/>
                <a:cs typeface="Consolas"/>
                <a:sym typeface="Consolas"/>
              </a:rPr>
              <a:t>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st.title(</a:t>
            </a:r>
            <a:r>
              <a:rPr lang="ko" sz="1050">
                <a:solidFill>
                  <a:srgbClr val="A31515"/>
                </a:solidFill>
                <a:highlight>
                  <a:srgbClr val="FFFFFF"/>
                </a:highlight>
                <a:latin typeface="Consolas"/>
                <a:ea typeface="Consolas"/>
                <a:cs typeface="Consolas"/>
                <a:sym typeface="Consolas"/>
              </a:rPr>
              <a:t>'Chart 그리기'</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8000"/>
                </a:solidFill>
                <a:highlight>
                  <a:srgbClr val="FFFFFF"/>
                </a:highlight>
                <a:latin typeface="Consolas"/>
                <a:ea typeface="Consolas"/>
                <a:cs typeface="Consolas"/>
                <a:sym typeface="Consolas"/>
              </a:rPr>
              <a:t># -------------------------------------------------</a:t>
            </a:r>
            <a:endParaRPr sz="10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8000"/>
                </a:solidFill>
                <a:highlight>
                  <a:srgbClr val="FFFFFF"/>
                </a:highlight>
                <a:latin typeface="Consolas"/>
                <a:ea typeface="Consolas"/>
                <a:cs typeface="Consolas"/>
                <a:sym typeface="Consolas"/>
              </a:rPr>
              <a:t># st.dataframe()</a:t>
            </a:r>
            <a:endParaRPr sz="10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8000"/>
                </a:solidFill>
                <a:highlight>
                  <a:srgbClr val="FFFFFF"/>
                </a:highlight>
                <a:latin typeface="Consolas"/>
                <a:ea typeface="Consolas"/>
                <a:cs typeface="Consolas"/>
                <a:sym typeface="Consolas"/>
              </a:rPr>
              <a:t># DataFrame 을 interactive table 로 그린다.</a:t>
            </a:r>
            <a:endParaRPr sz="10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data = pd.DataFrame({</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A31515"/>
                </a:solidFill>
                <a:highlight>
                  <a:srgbClr val="FFFFFF"/>
                </a:highlight>
                <a:latin typeface="Consolas"/>
                <a:ea typeface="Consolas"/>
                <a:cs typeface="Consolas"/>
                <a:sym typeface="Consolas"/>
              </a:rPr>
              <a:t>'이름'</a:t>
            </a:r>
            <a:r>
              <a:rPr lang="ko" sz="1050">
                <a:solidFill>
                  <a:schemeClr val="dk1"/>
                </a:solidFill>
                <a:highlight>
                  <a:srgbClr val="FFFFFF"/>
                </a:highlight>
                <a:latin typeface="Consolas"/>
                <a:ea typeface="Consolas"/>
                <a:cs typeface="Consolas"/>
                <a:sym typeface="Consolas"/>
              </a:rPr>
              <a:t>: [</a:t>
            </a:r>
            <a:r>
              <a:rPr lang="ko" sz="1050">
                <a:solidFill>
                  <a:srgbClr val="A31515"/>
                </a:solidFill>
                <a:highlight>
                  <a:srgbClr val="FFFFFF"/>
                </a:highlight>
                <a:latin typeface="Consolas"/>
                <a:ea typeface="Consolas"/>
                <a:cs typeface="Consolas"/>
                <a:sym typeface="Consolas"/>
              </a:rPr>
              <a:t>'영식'</a:t>
            </a:r>
            <a:r>
              <a:rPr lang="ko" sz="1050">
                <a:solidFill>
                  <a:schemeClr val="dk1"/>
                </a:solidFill>
                <a:highlight>
                  <a:srgbClr val="FFFFFF"/>
                </a:highlight>
                <a:latin typeface="Consolas"/>
                <a:ea typeface="Consolas"/>
                <a:cs typeface="Consolas"/>
                <a:sym typeface="Consolas"/>
              </a:rPr>
              <a:t>, </a:t>
            </a:r>
            <a:r>
              <a:rPr lang="ko" sz="1050">
                <a:solidFill>
                  <a:srgbClr val="A31515"/>
                </a:solidFill>
                <a:highlight>
                  <a:srgbClr val="FFFFFF"/>
                </a:highlight>
                <a:latin typeface="Consolas"/>
                <a:ea typeface="Consolas"/>
                <a:cs typeface="Consolas"/>
                <a:sym typeface="Consolas"/>
              </a:rPr>
              <a:t>'철수'</a:t>
            </a:r>
            <a:r>
              <a:rPr lang="ko" sz="1050">
                <a:solidFill>
                  <a:schemeClr val="dk1"/>
                </a:solidFill>
                <a:highlight>
                  <a:srgbClr val="FFFFFF"/>
                </a:highlight>
                <a:latin typeface="Consolas"/>
                <a:ea typeface="Consolas"/>
                <a:cs typeface="Consolas"/>
                <a:sym typeface="Consolas"/>
              </a:rPr>
              <a:t>, </a:t>
            </a:r>
            <a:r>
              <a:rPr lang="ko" sz="1050">
                <a:solidFill>
                  <a:srgbClr val="A31515"/>
                </a:solidFill>
                <a:highlight>
                  <a:srgbClr val="FFFFFF"/>
                </a:highlight>
                <a:latin typeface="Consolas"/>
                <a:ea typeface="Consolas"/>
                <a:cs typeface="Consolas"/>
                <a:sym typeface="Consolas"/>
              </a:rPr>
              <a:t>'영희'</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A31515"/>
                </a:solidFill>
                <a:highlight>
                  <a:srgbClr val="FFFFFF"/>
                </a:highlight>
                <a:latin typeface="Consolas"/>
                <a:ea typeface="Consolas"/>
                <a:cs typeface="Consolas"/>
                <a:sym typeface="Consolas"/>
              </a:rPr>
              <a:t>'나이'</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22</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31</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25</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A31515"/>
                </a:solidFill>
                <a:highlight>
                  <a:srgbClr val="FFFFFF"/>
                </a:highlight>
                <a:latin typeface="Consolas"/>
                <a:ea typeface="Consolas"/>
                <a:cs typeface="Consolas"/>
                <a:sym typeface="Consolas"/>
              </a:rPr>
              <a:t>'몸무게'</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75.5</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80.2</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55.1</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6"/>
          <p:cNvSpPr txBox="1"/>
          <p:nvPr/>
        </p:nvSpPr>
        <p:spPr>
          <a:xfrm>
            <a:off x="0" y="0"/>
            <a:ext cx="3000000" cy="23205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ko" sz="1050">
                <a:solidFill>
                  <a:srgbClr val="008000"/>
                </a:solidFill>
                <a:highlight>
                  <a:srgbClr val="FFFFFF"/>
                </a:highlight>
                <a:latin typeface="Consolas"/>
                <a:ea typeface="Consolas"/>
                <a:cs typeface="Consolas"/>
                <a:sym typeface="Consolas"/>
              </a:rPr>
              <a:t># -------------------------------------------------</a:t>
            </a:r>
            <a:endParaRPr sz="10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8000"/>
                </a:solidFill>
                <a:highlight>
                  <a:srgbClr val="FFFFFF"/>
                </a:highlight>
                <a:latin typeface="Consolas"/>
                <a:ea typeface="Consolas"/>
                <a:cs typeface="Consolas"/>
                <a:sym typeface="Consolas"/>
              </a:rPr>
              <a:t># st.pyplot(figure)</a:t>
            </a:r>
            <a:endParaRPr sz="10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8000"/>
                </a:solidFill>
                <a:highlight>
                  <a:srgbClr val="FFFFFF"/>
                </a:highlight>
                <a:latin typeface="Consolas"/>
                <a:ea typeface="Consolas"/>
                <a:cs typeface="Consolas"/>
                <a:sym typeface="Consolas"/>
              </a:rPr>
              <a:t>#  matplotlib.pyplot.fiture 를 그린다.</a:t>
            </a:r>
            <a:endParaRPr sz="10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8000"/>
                </a:solidFill>
                <a:highlight>
                  <a:srgbClr val="FFFFFF"/>
                </a:highlight>
                <a:latin typeface="Consolas"/>
                <a:ea typeface="Consolas"/>
                <a:cs typeface="Consolas"/>
                <a:sym typeface="Consolas"/>
              </a:rPr>
              <a:t>#  시각화 라이브러리로 matplotlib 이나 seaborn 을 사용하게 될텐데.</a:t>
            </a:r>
            <a:endParaRPr sz="10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8000"/>
                </a:solidFill>
                <a:highlight>
                  <a:srgbClr val="FFFFFF"/>
                </a:highlight>
                <a:latin typeface="Consolas"/>
                <a:ea typeface="Consolas"/>
                <a:cs typeface="Consolas"/>
                <a:sym typeface="Consolas"/>
              </a:rPr>
              <a:t>#  이 경우 pyplot() 을 사용하여 그리면 된다.</a:t>
            </a:r>
            <a:endParaRPr sz="10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fig, ax = plt.subplots()</a:t>
            </a:r>
            <a:endParaRPr sz="1050">
              <a:solidFill>
                <a:schemeClr val="dk1"/>
              </a:solidFill>
              <a:highlight>
                <a:srgbClr val="FFFFFF"/>
              </a:highlight>
              <a:latin typeface="Consolas"/>
              <a:ea typeface="Consolas"/>
              <a:cs typeface="Consolas"/>
              <a:sym typeface="Consola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7"/>
          <p:cNvSpPr txBox="1"/>
          <p:nvPr/>
        </p:nvSpPr>
        <p:spPr>
          <a:xfrm>
            <a:off x="0" y="0"/>
            <a:ext cx="3000000" cy="86814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ko" sz="1050">
                <a:solidFill>
                  <a:srgbClr val="008000"/>
                </a:solidFill>
                <a:highlight>
                  <a:srgbClr val="FFFFFF"/>
                </a:highlight>
                <a:latin typeface="Consolas"/>
                <a:ea typeface="Consolas"/>
                <a:cs typeface="Consolas"/>
                <a:sym typeface="Consolas"/>
              </a:rPr>
              <a:t>#############</a:t>
            </a:r>
            <a:endParaRPr sz="10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8000"/>
                </a:solidFill>
                <a:highlight>
                  <a:srgbClr val="FFFFFF"/>
                </a:highlight>
                <a:latin typeface="Consolas"/>
                <a:ea typeface="Consolas"/>
                <a:cs typeface="Consolas"/>
                <a:sym typeface="Consolas"/>
              </a:rPr>
              <a:t># matplotlit 의 gallery 에 많은 예제들</a:t>
            </a:r>
            <a:endParaRPr sz="10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8000"/>
                </a:solidFill>
                <a:highlight>
                  <a:srgbClr val="FFFFFF"/>
                </a:highlight>
                <a:latin typeface="Consolas"/>
                <a:ea typeface="Consolas"/>
                <a:cs typeface="Consolas"/>
                <a:sym typeface="Consolas"/>
              </a:rPr>
              <a:t># https://matplotlib.org/stable/gallery/index.html</a:t>
            </a:r>
            <a:endParaRPr sz="10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8000"/>
                </a:solidFill>
                <a:highlight>
                  <a:srgbClr val="FFFFFF"/>
                </a:highlight>
                <a:latin typeface="Consolas"/>
                <a:ea typeface="Consolas"/>
                <a:cs typeface="Consolas"/>
                <a:sym typeface="Consolas"/>
              </a:rPr>
              <a:t>#</a:t>
            </a:r>
            <a:endParaRPr sz="10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8000"/>
                </a:solidFill>
                <a:highlight>
                  <a:srgbClr val="FFFFFF"/>
                </a:highlight>
                <a:latin typeface="Consolas"/>
                <a:ea typeface="Consolas"/>
                <a:cs typeface="Consolas"/>
                <a:sym typeface="Consolas"/>
              </a:rPr>
              <a:t># 그 중에 하나 예시를 가져와보자.</a:t>
            </a:r>
            <a:endParaRPr sz="10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8000"/>
                </a:solidFill>
                <a:highlight>
                  <a:srgbClr val="FFFFFF"/>
                </a:highlight>
                <a:latin typeface="Consolas"/>
                <a:ea typeface="Consolas"/>
                <a:cs typeface="Consolas"/>
                <a:sym typeface="Consolas"/>
              </a:rPr>
              <a:t># Stacked bar chart</a:t>
            </a:r>
            <a:endParaRPr sz="10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8000"/>
                </a:solidFill>
                <a:highlight>
                  <a:srgbClr val="FFFFFF"/>
                </a:highlight>
                <a:latin typeface="Consolas"/>
                <a:ea typeface="Consolas"/>
                <a:cs typeface="Consolas"/>
                <a:sym typeface="Consolas"/>
              </a:rPr>
              <a:t># https://matplotlib.org/stable/gallery/lines_bars_and_markers/bar_stacked.html#sphx-glr-gallery-lines-bars-and-markers-bar-stacked-py</a:t>
            </a:r>
            <a:endParaRPr sz="10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species =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A31515"/>
                </a:solidFill>
                <a:highlight>
                  <a:srgbClr val="FFFFFF"/>
                </a:highlight>
                <a:latin typeface="Consolas"/>
                <a:ea typeface="Consolas"/>
                <a:cs typeface="Consolas"/>
                <a:sym typeface="Consolas"/>
              </a:rPr>
              <a:t>"Adelie\n $\\mu=$3700.66g"</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A31515"/>
                </a:solidFill>
                <a:highlight>
                  <a:srgbClr val="FFFFFF"/>
                </a:highlight>
                <a:latin typeface="Consolas"/>
                <a:ea typeface="Consolas"/>
                <a:cs typeface="Consolas"/>
                <a:sym typeface="Consolas"/>
              </a:rPr>
              <a:t>"Chinstrap\n $\\mu=$3733.09g"</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A31515"/>
                </a:solidFill>
                <a:highlight>
                  <a:srgbClr val="FFFFFF"/>
                </a:highlight>
                <a:latin typeface="Consolas"/>
                <a:ea typeface="Consolas"/>
                <a:cs typeface="Consolas"/>
                <a:sym typeface="Consolas"/>
              </a:rPr>
              <a:t>"Gentoo\n $\\mu=5076.02g$"</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weight_counts =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A31515"/>
                </a:solidFill>
                <a:highlight>
                  <a:srgbClr val="FFFFFF"/>
                </a:highlight>
                <a:latin typeface="Consolas"/>
                <a:ea typeface="Consolas"/>
                <a:cs typeface="Consolas"/>
                <a:sym typeface="Consolas"/>
              </a:rPr>
              <a:t>"Below"</a:t>
            </a:r>
            <a:r>
              <a:rPr lang="ko" sz="1050">
                <a:solidFill>
                  <a:schemeClr val="dk1"/>
                </a:solidFill>
                <a:highlight>
                  <a:srgbClr val="FFFFFF"/>
                </a:highlight>
                <a:latin typeface="Consolas"/>
                <a:ea typeface="Consolas"/>
                <a:cs typeface="Consolas"/>
                <a:sym typeface="Consolas"/>
              </a:rPr>
              <a:t>: np.array([</a:t>
            </a:r>
            <a:r>
              <a:rPr lang="ko" sz="1050">
                <a:solidFill>
                  <a:srgbClr val="098658"/>
                </a:solidFill>
                <a:highlight>
                  <a:srgbClr val="FFFFFF"/>
                </a:highlight>
                <a:latin typeface="Consolas"/>
                <a:ea typeface="Consolas"/>
                <a:cs typeface="Consolas"/>
                <a:sym typeface="Consolas"/>
              </a:rPr>
              <a:t>70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31</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58</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A31515"/>
                </a:solidFill>
                <a:highlight>
                  <a:srgbClr val="FFFFFF"/>
                </a:highlight>
                <a:latin typeface="Consolas"/>
                <a:ea typeface="Consolas"/>
                <a:cs typeface="Consolas"/>
                <a:sym typeface="Consolas"/>
              </a:rPr>
              <a:t>"Above"</a:t>
            </a:r>
            <a:r>
              <a:rPr lang="ko" sz="1050">
                <a:solidFill>
                  <a:schemeClr val="dk1"/>
                </a:solidFill>
                <a:highlight>
                  <a:srgbClr val="FFFFFF"/>
                </a:highlight>
                <a:latin typeface="Consolas"/>
                <a:ea typeface="Consolas"/>
                <a:cs typeface="Consolas"/>
                <a:sym typeface="Consolas"/>
              </a:rPr>
              <a:t>: np.array([</a:t>
            </a:r>
            <a:r>
              <a:rPr lang="ko" sz="1050">
                <a:solidFill>
                  <a:srgbClr val="098658"/>
                </a:solidFill>
                <a:highlight>
                  <a:srgbClr val="FFFFFF"/>
                </a:highlight>
                <a:latin typeface="Consolas"/>
                <a:ea typeface="Consolas"/>
                <a:cs typeface="Consolas"/>
                <a:sym typeface="Consolas"/>
              </a:rPr>
              <a:t>82</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37</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66</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width = </a:t>
            </a:r>
            <a:r>
              <a:rPr lang="ko" sz="1050">
                <a:solidFill>
                  <a:srgbClr val="098658"/>
                </a:solidFill>
                <a:highlight>
                  <a:srgbClr val="FFFFFF"/>
                </a:highlight>
                <a:latin typeface="Consolas"/>
                <a:ea typeface="Consolas"/>
                <a:cs typeface="Consolas"/>
                <a:sym typeface="Consolas"/>
              </a:rPr>
              <a:t>0.5</a:t>
            </a:r>
            <a:endParaRPr sz="1050">
              <a:solidFill>
                <a:srgbClr val="098658"/>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fig, ax = plt.subplots()</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bottom = np.zeros(</a:t>
            </a:r>
            <a:r>
              <a:rPr lang="ko" sz="1050">
                <a:solidFill>
                  <a:srgbClr val="098658"/>
                </a:solidFill>
                <a:highlight>
                  <a:srgbClr val="FFFFFF"/>
                </a:highlight>
                <a:latin typeface="Consolas"/>
                <a:ea typeface="Consolas"/>
                <a:cs typeface="Consolas"/>
                <a:sym typeface="Consolas"/>
              </a:rPr>
              <a:t>3</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00FF"/>
                </a:solidFill>
                <a:highlight>
                  <a:srgbClr val="FFFFFF"/>
                </a:highlight>
                <a:latin typeface="Consolas"/>
                <a:ea typeface="Consolas"/>
                <a:cs typeface="Consolas"/>
                <a:sym typeface="Consolas"/>
              </a:rPr>
              <a:t>for</a:t>
            </a:r>
            <a:r>
              <a:rPr lang="ko" sz="1050">
                <a:solidFill>
                  <a:schemeClr val="dk1"/>
                </a:solidFill>
                <a:highlight>
                  <a:srgbClr val="FFFFFF"/>
                </a:highlight>
                <a:latin typeface="Consolas"/>
                <a:ea typeface="Consolas"/>
                <a:cs typeface="Consolas"/>
                <a:sym typeface="Consolas"/>
              </a:rPr>
              <a:t> boolean, weight_count </a:t>
            </a:r>
            <a:r>
              <a:rPr lang="ko" sz="1050">
                <a:solidFill>
                  <a:srgbClr val="0000FF"/>
                </a:solidFill>
                <a:highlight>
                  <a:srgbClr val="FFFFFF"/>
                </a:highlight>
                <a:latin typeface="Consolas"/>
                <a:ea typeface="Consolas"/>
                <a:cs typeface="Consolas"/>
                <a:sym typeface="Consolas"/>
              </a:rPr>
              <a:t>in</a:t>
            </a:r>
            <a:r>
              <a:rPr lang="ko" sz="1050">
                <a:solidFill>
                  <a:schemeClr val="dk1"/>
                </a:solidFill>
                <a:highlight>
                  <a:srgbClr val="FFFFFF"/>
                </a:highlight>
                <a:latin typeface="Consolas"/>
                <a:ea typeface="Consolas"/>
                <a:cs typeface="Consolas"/>
                <a:sym typeface="Consolas"/>
              </a:rPr>
              <a:t> weight_counts.items():</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p = ax.bar(species, weight_count, width, label=boolean, bottom=bottom)</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bottom += weight_count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ax.set_title(</a:t>
            </a:r>
            <a:r>
              <a:rPr lang="ko" sz="1050">
                <a:solidFill>
                  <a:srgbClr val="A31515"/>
                </a:solidFill>
                <a:highlight>
                  <a:srgbClr val="FFFFFF"/>
                </a:highlight>
                <a:latin typeface="Consolas"/>
                <a:ea typeface="Consolas"/>
                <a:cs typeface="Consolas"/>
                <a:sym typeface="Consolas"/>
              </a:rPr>
              <a:t>"Number of penguins with above average body mass"</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ax.legend(loc=</a:t>
            </a:r>
            <a:r>
              <a:rPr lang="ko" sz="1050">
                <a:solidFill>
                  <a:srgbClr val="A31515"/>
                </a:solidFill>
                <a:highlight>
                  <a:srgbClr val="FFFFFF"/>
                </a:highlight>
                <a:latin typeface="Consolas"/>
                <a:ea typeface="Consolas"/>
                <a:cs typeface="Consolas"/>
                <a:sym typeface="Consolas"/>
              </a:rPr>
              <a:t>"upper right"</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8"/>
          <p:cNvSpPr txBox="1"/>
          <p:nvPr/>
        </p:nvSpPr>
        <p:spPr>
          <a:xfrm>
            <a:off x="0" y="0"/>
            <a:ext cx="3000000" cy="69264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ko" sz="1050">
                <a:solidFill>
                  <a:srgbClr val="008000"/>
                </a:solidFill>
                <a:highlight>
                  <a:srgbClr val="FFFFFF"/>
                </a:highlight>
                <a:latin typeface="Consolas"/>
                <a:ea typeface="Consolas"/>
                <a:cs typeface="Consolas"/>
                <a:sym typeface="Consolas"/>
              </a:rPr>
              <a:t>##### Barcode 생성예제</a:t>
            </a:r>
            <a:endParaRPr sz="10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8000"/>
                </a:solidFill>
                <a:highlight>
                  <a:srgbClr val="FFFFFF"/>
                </a:highlight>
                <a:latin typeface="Consolas"/>
                <a:ea typeface="Consolas"/>
                <a:cs typeface="Consolas"/>
                <a:sym typeface="Consolas"/>
              </a:rPr>
              <a:t># https://matplotlib.org/stable/gallery/images_contours_and_fields/barcode_demo.html</a:t>
            </a:r>
            <a:endParaRPr sz="10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code = np.array([</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pixel_per_bar = </a:t>
            </a:r>
            <a:r>
              <a:rPr lang="ko" sz="1050">
                <a:solidFill>
                  <a:srgbClr val="098658"/>
                </a:solidFill>
                <a:highlight>
                  <a:srgbClr val="FFFFFF"/>
                </a:highlight>
                <a:latin typeface="Consolas"/>
                <a:ea typeface="Consolas"/>
                <a:cs typeface="Consolas"/>
                <a:sym typeface="Consolas"/>
              </a:rPr>
              <a:t>4</a:t>
            </a:r>
            <a:endParaRPr sz="1050">
              <a:solidFill>
                <a:srgbClr val="098658"/>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dpi = </a:t>
            </a:r>
            <a:r>
              <a:rPr lang="ko" sz="1050">
                <a:solidFill>
                  <a:srgbClr val="098658"/>
                </a:solidFill>
                <a:highlight>
                  <a:srgbClr val="FFFFFF"/>
                </a:highlight>
                <a:latin typeface="Consolas"/>
                <a:ea typeface="Consolas"/>
                <a:cs typeface="Consolas"/>
                <a:sym typeface="Consolas"/>
              </a:rPr>
              <a:t>100</a:t>
            </a:r>
            <a:endParaRPr sz="1050">
              <a:solidFill>
                <a:srgbClr val="098658"/>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fig = plt.figure(figsize=(len(code) * pixel_per_bar / dpi, </a:t>
            </a:r>
            <a:r>
              <a:rPr lang="ko" sz="1050">
                <a:solidFill>
                  <a:srgbClr val="098658"/>
                </a:solidFill>
                <a:highlight>
                  <a:srgbClr val="FFFFFF"/>
                </a:highlight>
                <a:latin typeface="Consolas"/>
                <a:ea typeface="Consolas"/>
                <a:cs typeface="Consolas"/>
                <a:sym typeface="Consolas"/>
              </a:rPr>
              <a:t>2</a:t>
            </a:r>
            <a:r>
              <a:rPr lang="ko" sz="1050">
                <a:solidFill>
                  <a:schemeClr val="dk1"/>
                </a:solidFill>
                <a:highlight>
                  <a:srgbClr val="FFFFFF"/>
                </a:highlight>
                <a:latin typeface="Consolas"/>
                <a:ea typeface="Consolas"/>
                <a:cs typeface="Consolas"/>
                <a:sym typeface="Consolas"/>
              </a:rPr>
              <a:t>), dpi=dpi)</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ax = fig.add_axes([</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  </a:t>
            </a:r>
            <a:r>
              <a:rPr lang="ko" sz="1050">
                <a:solidFill>
                  <a:srgbClr val="008000"/>
                </a:solidFill>
                <a:highlight>
                  <a:srgbClr val="FFFFFF"/>
                </a:highlight>
                <a:latin typeface="Consolas"/>
                <a:ea typeface="Consolas"/>
                <a:cs typeface="Consolas"/>
                <a:sym typeface="Consolas"/>
              </a:rPr>
              <a:t># span the whole figure</a:t>
            </a:r>
            <a:endParaRPr sz="10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ax.set_axis_off()</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ax.imshow(code.reshape(</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 cmap=</a:t>
            </a:r>
            <a:r>
              <a:rPr lang="ko" sz="1050">
                <a:solidFill>
                  <a:srgbClr val="A31515"/>
                </a:solidFill>
                <a:highlight>
                  <a:srgbClr val="FFFFFF"/>
                </a:highlight>
                <a:latin typeface="Consolas"/>
                <a:ea typeface="Consolas"/>
                <a:cs typeface="Consolas"/>
                <a:sym typeface="Consolas"/>
              </a:rPr>
              <a:t>'binary'</a:t>
            </a:r>
            <a:r>
              <a:rPr lang="ko" sz="1050">
                <a:solidFill>
                  <a:schemeClr val="dk1"/>
                </a:solidFill>
                <a:highlight>
                  <a:srgbClr val="FFFFFF"/>
                </a:highlight>
                <a:latin typeface="Consolas"/>
                <a:ea typeface="Consolas"/>
                <a:cs typeface="Consolas"/>
                <a:sym typeface="Consolas"/>
              </a:rPr>
              <a:t>, aspect=</a:t>
            </a:r>
            <a:r>
              <a:rPr lang="ko" sz="1050">
                <a:solidFill>
                  <a:srgbClr val="A31515"/>
                </a:solidFill>
                <a:highlight>
                  <a:srgbClr val="FFFFFF"/>
                </a:highlight>
                <a:latin typeface="Consolas"/>
                <a:ea typeface="Consolas"/>
                <a:cs typeface="Consolas"/>
                <a:sym typeface="Consolas"/>
              </a:rPr>
              <a:t>'auto'</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interpolation=</a:t>
            </a:r>
            <a:r>
              <a:rPr lang="ko" sz="1050">
                <a:solidFill>
                  <a:srgbClr val="A31515"/>
                </a:solidFill>
                <a:highlight>
                  <a:srgbClr val="FFFFFF"/>
                </a:highlight>
                <a:latin typeface="Consolas"/>
                <a:ea typeface="Consolas"/>
                <a:cs typeface="Consolas"/>
                <a:sym typeface="Consolas"/>
              </a:rPr>
              <a:t>'nearest'</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st.pyplot(fig)</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9"/>
          <p:cNvSpPr txBox="1"/>
          <p:nvPr/>
        </p:nvSpPr>
        <p:spPr>
          <a:xfrm>
            <a:off x="0" y="0"/>
            <a:ext cx="3000000" cy="25398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ko" sz="1050">
                <a:solidFill>
                  <a:srgbClr val="008000"/>
                </a:solidFill>
                <a:highlight>
                  <a:srgbClr val="FFFFFF"/>
                </a:highlight>
                <a:latin typeface="Consolas"/>
                <a:ea typeface="Consolas"/>
                <a:cs typeface="Consolas"/>
                <a:sym typeface="Consolas"/>
              </a:rPr>
              <a:t># 파일 업로더 위젯</a:t>
            </a:r>
            <a:endParaRPr sz="10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st.markdown(</a:t>
            </a:r>
            <a:r>
              <a:rPr lang="ko" sz="1050">
                <a:solidFill>
                  <a:srgbClr val="A31515"/>
                </a:solidFill>
                <a:highlight>
                  <a:srgbClr val="FFFFFF"/>
                </a:highlight>
                <a:latin typeface="Consolas"/>
                <a:ea typeface="Consolas"/>
                <a:cs typeface="Consolas"/>
                <a:sym typeface="Consolas"/>
              </a:rPr>
              <a:t>'---'</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st.title(</a:t>
            </a:r>
            <a:r>
              <a:rPr lang="ko" sz="1050">
                <a:solidFill>
                  <a:srgbClr val="A31515"/>
                </a:solidFill>
                <a:highlight>
                  <a:srgbClr val="FFFFFF"/>
                </a:highlight>
                <a:latin typeface="Consolas"/>
                <a:ea typeface="Consolas"/>
                <a:cs typeface="Consolas"/>
                <a:sym typeface="Consolas"/>
              </a:rPr>
              <a:t>'파일 업로드:sparkles:'</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8000"/>
                </a:solidFill>
                <a:highlight>
                  <a:srgbClr val="FFFFFF"/>
                </a:highlight>
                <a:latin typeface="Consolas"/>
                <a:ea typeface="Consolas"/>
                <a:cs typeface="Consolas"/>
                <a:sym typeface="Consolas"/>
              </a:rPr>
              <a:t># ----------------------------------------------</a:t>
            </a:r>
            <a:endParaRPr sz="10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8000"/>
                </a:solidFill>
                <a:highlight>
                  <a:srgbClr val="FFFFFF"/>
                </a:highlight>
                <a:latin typeface="Consolas"/>
                <a:ea typeface="Consolas"/>
                <a:cs typeface="Consolas"/>
                <a:sym typeface="Consolas"/>
              </a:rPr>
              <a:t># st.file_uploader() =&gt; None | UploadedFile | list of UploadedFile 리턴</a:t>
            </a:r>
            <a:endParaRPr sz="10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8000"/>
                </a:solidFill>
                <a:highlight>
                  <a:srgbClr val="FFFFFF"/>
                </a:highlight>
                <a:latin typeface="Consolas"/>
                <a:ea typeface="Consolas"/>
                <a:cs typeface="Consolas"/>
                <a:sym typeface="Consolas"/>
              </a:rPr>
              <a:t># 파일 업로드 버튼 (업로드 기능)</a:t>
            </a:r>
            <a:endParaRPr sz="1050">
              <a:solidFill>
                <a:srgbClr val="008000"/>
              </a:solidFill>
              <a:highlight>
                <a:srgbClr val="FFFFFF"/>
              </a:highlight>
              <a:latin typeface="Consolas"/>
              <a:ea typeface="Consolas"/>
              <a:cs typeface="Consolas"/>
              <a:sym typeface="Consola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0"/>
          <p:cNvSpPr txBox="1"/>
          <p:nvPr/>
        </p:nvSpPr>
        <p:spPr>
          <a:xfrm>
            <a:off x="0" y="0"/>
            <a:ext cx="3000000" cy="78039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ko" sz="1050">
                <a:solidFill>
                  <a:srgbClr val="0000FF"/>
                </a:solidFill>
                <a:highlight>
                  <a:srgbClr val="FFFFFF"/>
                </a:highlight>
                <a:latin typeface="Consolas"/>
                <a:ea typeface="Consolas"/>
                <a:cs typeface="Consolas"/>
                <a:sym typeface="Consolas"/>
              </a:rPr>
              <a:t>import</a:t>
            </a:r>
            <a:r>
              <a:rPr lang="ko" sz="1050">
                <a:solidFill>
                  <a:schemeClr val="dk1"/>
                </a:solidFill>
                <a:highlight>
                  <a:srgbClr val="FFFFFF"/>
                </a:highlight>
                <a:latin typeface="Consolas"/>
                <a:ea typeface="Consolas"/>
                <a:cs typeface="Consolas"/>
                <a:sym typeface="Consolas"/>
              </a:rPr>
              <a:t> streamlit </a:t>
            </a:r>
            <a:r>
              <a:rPr lang="ko" sz="1050">
                <a:solidFill>
                  <a:srgbClr val="0000FF"/>
                </a:solidFill>
                <a:highlight>
                  <a:srgbClr val="FFFFFF"/>
                </a:highlight>
                <a:latin typeface="Consolas"/>
                <a:ea typeface="Consolas"/>
                <a:cs typeface="Consolas"/>
                <a:sym typeface="Consolas"/>
              </a:rPr>
              <a:t>as</a:t>
            </a:r>
            <a:r>
              <a:rPr lang="ko" sz="1050">
                <a:solidFill>
                  <a:schemeClr val="dk1"/>
                </a:solidFill>
                <a:highlight>
                  <a:srgbClr val="FFFFFF"/>
                </a:highlight>
                <a:latin typeface="Consolas"/>
                <a:ea typeface="Consolas"/>
                <a:cs typeface="Consolas"/>
                <a:sym typeface="Consolas"/>
              </a:rPr>
              <a:t> st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00FF"/>
                </a:solidFill>
                <a:highlight>
                  <a:srgbClr val="FFFFFF"/>
                </a:highlight>
                <a:latin typeface="Consolas"/>
                <a:ea typeface="Consolas"/>
                <a:cs typeface="Consolas"/>
                <a:sym typeface="Consolas"/>
              </a:rPr>
              <a:t>import</a:t>
            </a:r>
            <a:r>
              <a:rPr lang="ko" sz="1050">
                <a:solidFill>
                  <a:schemeClr val="dk1"/>
                </a:solidFill>
                <a:highlight>
                  <a:srgbClr val="FFFFFF"/>
                </a:highlight>
                <a:latin typeface="Consolas"/>
                <a:ea typeface="Consolas"/>
                <a:cs typeface="Consolas"/>
                <a:sym typeface="Consolas"/>
              </a:rPr>
              <a:t> FinanceDataReader </a:t>
            </a:r>
            <a:r>
              <a:rPr lang="ko" sz="1050">
                <a:solidFill>
                  <a:srgbClr val="0000FF"/>
                </a:solidFill>
                <a:highlight>
                  <a:srgbClr val="FFFFFF"/>
                </a:highlight>
                <a:latin typeface="Consolas"/>
                <a:ea typeface="Consolas"/>
                <a:cs typeface="Consolas"/>
                <a:sym typeface="Consolas"/>
              </a:rPr>
              <a:t>as</a:t>
            </a:r>
            <a:r>
              <a:rPr lang="ko" sz="1050">
                <a:solidFill>
                  <a:schemeClr val="dk1"/>
                </a:solidFill>
                <a:highlight>
                  <a:srgbClr val="FFFFFF"/>
                </a:highlight>
                <a:latin typeface="Consolas"/>
                <a:ea typeface="Consolas"/>
                <a:cs typeface="Consolas"/>
                <a:sym typeface="Consolas"/>
              </a:rPr>
              <a:t> fdr</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00FF"/>
                </a:solidFill>
                <a:highlight>
                  <a:srgbClr val="FFFFFF"/>
                </a:highlight>
                <a:latin typeface="Consolas"/>
                <a:ea typeface="Consolas"/>
                <a:cs typeface="Consolas"/>
                <a:sym typeface="Consolas"/>
              </a:rPr>
              <a:t>import</a:t>
            </a:r>
            <a:r>
              <a:rPr lang="ko" sz="1050">
                <a:solidFill>
                  <a:schemeClr val="dk1"/>
                </a:solidFill>
                <a:highlight>
                  <a:srgbClr val="FFFFFF"/>
                </a:highlight>
                <a:latin typeface="Consolas"/>
                <a:ea typeface="Consolas"/>
                <a:cs typeface="Consolas"/>
                <a:sym typeface="Consolas"/>
              </a:rPr>
              <a:t> datetime</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print(</a:t>
            </a:r>
            <a:r>
              <a:rPr lang="ko" sz="1050">
                <a:solidFill>
                  <a:srgbClr val="A31515"/>
                </a:solidFill>
                <a:highlight>
                  <a:srgbClr val="FFFFFF"/>
                </a:highlight>
                <a:latin typeface="Consolas"/>
                <a:ea typeface="Consolas"/>
                <a:cs typeface="Consolas"/>
                <a:sym typeface="Consolas"/>
              </a:rPr>
              <a:t>'✅ 실행됨'</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8000"/>
                </a:solidFill>
                <a:highlight>
                  <a:srgbClr val="FFFFFF"/>
                </a:highlight>
                <a:latin typeface="Consolas"/>
                <a:ea typeface="Consolas"/>
                <a:cs typeface="Consolas"/>
                <a:sym typeface="Consolas"/>
              </a:rPr>
              <a:t># Finance Data Reader</a:t>
            </a:r>
            <a:endParaRPr sz="10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8000"/>
                </a:solidFill>
                <a:highlight>
                  <a:srgbClr val="FFFFFF"/>
                </a:highlight>
                <a:latin typeface="Consolas"/>
                <a:ea typeface="Consolas"/>
                <a:cs typeface="Consolas"/>
                <a:sym typeface="Consolas"/>
              </a:rPr>
              <a:t># https://github.com/financedata-org/FinanceDataReader</a:t>
            </a:r>
            <a:endParaRPr sz="10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start_date = st.date_input(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A31515"/>
                </a:solidFill>
                <a:highlight>
                  <a:srgbClr val="FFFFFF"/>
                </a:highlight>
                <a:latin typeface="Consolas"/>
                <a:ea typeface="Consolas"/>
                <a:cs typeface="Consolas"/>
                <a:sym typeface="Consolas"/>
              </a:rPr>
              <a:t>"조회 시작일을 선택해 주세요"</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value=datetime.datetime(</a:t>
            </a:r>
            <a:r>
              <a:rPr lang="ko" sz="1050">
                <a:solidFill>
                  <a:srgbClr val="098658"/>
                </a:solidFill>
                <a:highlight>
                  <a:srgbClr val="FFFFFF"/>
                </a:highlight>
                <a:latin typeface="Consolas"/>
                <a:ea typeface="Consolas"/>
                <a:cs typeface="Consolas"/>
                <a:sym typeface="Consolas"/>
              </a:rPr>
              <a:t>2025</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5</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end_date = st.date_input(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A31515"/>
                </a:solidFill>
                <a:highlight>
                  <a:srgbClr val="FFFFFF"/>
                </a:highlight>
                <a:latin typeface="Consolas"/>
                <a:ea typeface="Consolas"/>
                <a:cs typeface="Consolas"/>
                <a:sym typeface="Consolas"/>
              </a:rPr>
              <a:t>"조회 종료일을 선택해 주세요"</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value=datetime.datetime(</a:t>
            </a:r>
            <a:r>
              <a:rPr lang="ko" sz="1050">
                <a:solidFill>
                  <a:srgbClr val="098658"/>
                </a:solidFill>
                <a:highlight>
                  <a:srgbClr val="FFFFFF"/>
                </a:highlight>
                <a:latin typeface="Consolas"/>
                <a:ea typeface="Consolas"/>
                <a:cs typeface="Consolas"/>
                <a:sym typeface="Consolas"/>
              </a:rPr>
              <a:t>2025</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5</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31</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code = st.text_input(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A31515"/>
                </a:solidFill>
                <a:highlight>
                  <a:srgbClr val="FFFFFF"/>
                </a:highlight>
                <a:latin typeface="Consolas"/>
                <a:ea typeface="Consolas"/>
                <a:cs typeface="Consolas"/>
                <a:sym typeface="Consolas"/>
              </a:rPr>
              <a:t>'종목코드'</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value=</a:t>
            </a:r>
            <a:r>
              <a:rPr lang="ko" sz="1050">
                <a:solidFill>
                  <a:srgbClr val="A31515"/>
                </a:solidFill>
                <a:highlight>
                  <a:srgbClr val="FFFFFF"/>
                </a:highlight>
                <a:latin typeface="Consolas"/>
                <a:ea typeface="Consolas"/>
                <a:cs typeface="Consolas"/>
                <a:sym typeface="Consolas"/>
              </a:rPr>
              <a:t>'005930'</a:t>
            </a:r>
            <a:r>
              <a:rPr lang="ko" sz="1050">
                <a:solidFill>
                  <a:schemeClr val="dk1"/>
                </a:solidFill>
                <a:highlight>
                  <a:srgbClr val="FFFFFF"/>
                </a:highlight>
                <a:latin typeface="Consolas"/>
                <a:ea typeface="Consolas"/>
                <a:cs typeface="Consolas"/>
                <a:sym typeface="Consolas"/>
              </a:rPr>
              <a:t>,  </a:t>
            </a:r>
            <a:r>
              <a:rPr lang="ko" sz="1050">
                <a:solidFill>
                  <a:srgbClr val="008000"/>
                </a:solidFill>
                <a:highlight>
                  <a:srgbClr val="FFFFFF"/>
                </a:highlight>
                <a:latin typeface="Consolas"/>
                <a:ea typeface="Consolas"/>
                <a:cs typeface="Consolas"/>
                <a:sym typeface="Consolas"/>
              </a:rPr>
              <a:t># 삼성전자</a:t>
            </a:r>
            <a:endParaRPr sz="10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placeholder=</a:t>
            </a:r>
            <a:r>
              <a:rPr lang="ko" sz="1050">
                <a:solidFill>
                  <a:srgbClr val="A31515"/>
                </a:solidFill>
                <a:highlight>
                  <a:srgbClr val="FFFFFF"/>
                </a:highlight>
                <a:latin typeface="Consolas"/>
                <a:ea typeface="Consolas"/>
                <a:cs typeface="Consolas"/>
                <a:sym typeface="Consolas"/>
              </a:rPr>
              <a:t>'종목코드를 입력해 주세요'</a:t>
            </a:r>
            <a:endParaRPr sz="1050">
              <a:solidFill>
                <a:srgbClr val="A31515"/>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print(</a:t>
            </a:r>
            <a:r>
              <a:rPr lang="ko" sz="1050">
                <a:solidFill>
                  <a:srgbClr val="0000FF"/>
                </a:solidFill>
                <a:highlight>
                  <a:srgbClr val="FFFFFF"/>
                </a:highlight>
                <a:latin typeface="Consolas"/>
                <a:ea typeface="Consolas"/>
                <a:cs typeface="Consolas"/>
                <a:sym typeface="Consolas"/>
              </a:rPr>
              <a:t>f</a:t>
            </a:r>
            <a:r>
              <a:rPr lang="ko" sz="1050">
                <a:solidFill>
                  <a:srgbClr val="A31515"/>
                </a:solidFill>
                <a:highlight>
                  <a:srgbClr val="FFFFFF"/>
                </a:highlight>
                <a:latin typeface="Consolas"/>
                <a:ea typeface="Consolas"/>
                <a:cs typeface="Consolas"/>
                <a:sym typeface="Consolas"/>
              </a:rPr>
              <a:t>'</a:t>
            </a:r>
            <a:r>
              <a:rPr lang="ko" sz="1050">
                <a:solidFill>
                  <a:schemeClr val="dk1"/>
                </a:solidFill>
                <a:highlight>
                  <a:srgbClr val="FFFFFF"/>
                </a:highlight>
                <a:latin typeface="Consolas"/>
                <a:ea typeface="Consolas"/>
                <a:cs typeface="Consolas"/>
                <a:sym typeface="Consolas"/>
              </a:rPr>
              <a:t>\t</a:t>
            </a:r>
            <a:r>
              <a:rPr lang="ko" sz="1050">
                <a:solidFill>
                  <a:srgbClr val="A31515"/>
                </a:solidFill>
                <a:highlight>
                  <a:srgbClr val="FFFFFF"/>
                </a:highlight>
                <a:latin typeface="Consolas"/>
                <a:ea typeface="Consolas"/>
                <a:cs typeface="Consolas"/>
                <a:sym typeface="Consolas"/>
              </a:rPr>
              <a:t>code:</a:t>
            </a:r>
            <a:r>
              <a:rPr lang="ko" sz="1050">
                <a:solidFill>
                  <a:schemeClr val="dk1"/>
                </a:solidFill>
                <a:highlight>
                  <a:srgbClr val="FFFFFF"/>
                </a:highlight>
                <a:latin typeface="Consolas"/>
                <a:ea typeface="Consolas"/>
                <a:cs typeface="Consolas"/>
                <a:sym typeface="Consolas"/>
              </a:rPr>
              <a:t>{code}</a:t>
            </a:r>
            <a:r>
              <a:rPr lang="ko" sz="1050">
                <a:solidFill>
                  <a:srgbClr val="A31515"/>
                </a:solidFill>
                <a:highlight>
                  <a:srgbClr val="FFFFFF"/>
                </a:highlight>
                <a:latin typeface="Consolas"/>
                <a:ea typeface="Consolas"/>
                <a:cs typeface="Consolas"/>
                <a:sym typeface="Consolas"/>
              </a:rPr>
              <a:t>, start_date:</a:t>
            </a:r>
            <a:r>
              <a:rPr lang="ko" sz="1050">
                <a:solidFill>
                  <a:schemeClr val="dk1"/>
                </a:solidFill>
                <a:highlight>
                  <a:srgbClr val="FFFFFF"/>
                </a:highlight>
                <a:latin typeface="Consolas"/>
                <a:ea typeface="Consolas"/>
                <a:cs typeface="Consolas"/>
                <a:sym typeface="Consolas"/>
              </a:rPr>
              <a:t>{start_date}</a:t>
            </a:r>
            <a:r>
              <a:rPr lang="ko" sz="1050">
                <a:solidFill>
                  <a:srgbClr val="A31515"/>
                </a:solidFill>
                <a:highlight>
                  <a:srgbClr val="FFFFFF"/>
                </a:highlight>
                <a:latin typeface="Consolas"/>
                <a:ea typeface="Consolas"/>
                <a:cs typeface="Consolas"/>
                <a:sym typeface="Consolas"/>
              </a:rPr>
              <a:t>, end_date:</a:t>
            </a:r>
            <a:r>
              <a:rPr lang="ko" sz="1050">
                <a:solidFill>
                  <a:schemeClr val="dk1"/>
                </a:solidFill>
                <a:highlight>
                  <a:srgbClr val="FFFFFF"/>
                </a:highlight>
                <a:latin typeface="Consolas"/>
                <a:ea typeface="Consolas"/>
                <a:cs typeface="Consolas"/>
                <a:sym typeface="Consolas"/>
              </a:rPr>
              <a:t>{end_date}</a:t>
            </a:r>
            <a:r>
              <a:rPr lang="ko" sz="1050">
                <a:solidFill>
                  <a:srgbClr val="A31515"/>
                </a:solidFill>
                <a:highlight>
                  <a:srgbClr val="FFFFFF"/>
                </a:highlight>
                <a:latin typeface="Consolas"/>
                <a:ea typeface="Consolas"/>
                <a:cs typeface="Consolas"/>
                <a:sym typeface="Consolas"/>
              </a:rPr>
              <a:t>'</a:t>
            </a:r>
            <a:r>
              <a:rPr lang="ko" sz="1050">
                <a:solidFill>
                  <a:schemeClr val="dk1"/>
                </a:solidFill>
                <a:highlight>
                  <a:srgbClr val="FFFFFF"/>
                </a:highlight>
                <a:latin typeface="Consolas"/>
                <a:ea typeface="Consolas"/>
                <a:cs typeface="Consolas"/>
                <a:sym typeface="Consolas"/>
              </a:rPr>
              <a:t>) </a:t>
            </a:r>
            <a:r>
              <a:rPr lang="ko" sz="1050">
                <a:solidFill>
                  <a:srgbClr val="008000"/>
                </a:solidFill>
                <a:highlight>
                  <a:srgbClr val="FFFFFF"/>
                </a:highlight>
                <a:latin typeface="Consolas"/>
                <a:ea typeface="Consolas"/>
                <a:cs typeface="Consolas"/>
                <a:sym typeface="Consolas"/>
              </a:rPr>
              <a:t>#  확인</a:t>
            </a:r>
            <a:endParaRPr sz="10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1"/>
          <p:cNvSpPr txBox="1"/>
          <p:nvPr/>
        </p:nvSpPr>
        <p:spPr>
          <a:xfrm>
            <a:off x="0" y="0"/>
            <a:ext cx="3000000" cy="18816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st.markdown(</a:t>
            </a:r>
            <a:r>
              <a:rPr lang="ko" sz="1050">
                <a:solidFill>
                  <a:srgbClr val="A31515"/>
                </a:solidFill>
                <a:highlight>
                  <a:srgbClr val="FFFFFF"/>
                </a:highlight>
                <a:latin typeface="Consolas"/>
                <a:ea typeface="Consolas"/>
                <a:cs typeface="Consolas"/>
                <a:sym typeface="Consolas"/>
              </a:rPr>
              <a:t>'''</a:t>
            </a:r>
            <a:endParaRPr sz="1050">
              <a:solidFill>
                <a:srgbClr val="A31515"/>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A31515"/>
                </a:solidFill>
                <a:highlight>
                  <a:srgbClr val="FFFFFF"/>
                </a:highlight>
                <a:latin typeface="Consolas"/>
                <a:ea typeface="Consolas"/>
                <a:cs typeface="Consolas"/>
                <a:sym typeface="Consolas"/>
              </a:rPr>
              <a:t>        - Open: 시가</a:t>
            </a:r>
            <a:endParaRPr sz="1050">
              <a:solidFill>
                <a:srgbClr val="A31515"/>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A31515"/>
                </a:solidFill>
                <a:highlight>
                  <a:srgbClr val="FFFFFF"/>
                </a:highlight>
                <a:latin typeface="Consolas"/>
                <a:ea typeface="Consolas"/>
                <a:cs typeface="Consolas"/>
                <a:sym typeface="Consolas"/>
              </a:rPr>
              <a:t>        - High: 고가</a:t>
            </a:r>
            <a:endParaRPr sz="1050">
              <a:solidFill>
                <a:srgbClr val="A31515"/>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A31515"/>
                </a:solidFill>
                <a:highlight>
                  <a:srgbClr val="FFFFFF"/>
                </a:highlight>
                <a:latin typeface="Consolas"/>
                <a:ea typeface="Consolas"/>
                <a:cs typeface="Consolas"/>
                <a:sym typeface="Consolas"/>
              </a:rPr>
              <a:t>        - Low: 저가</a:t>
            </a:r>
            <a:endParaRPr sz="1050">
              <a:solidFill>
                <a:srgbClr val="A31515"/>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A31515"/>
                </a:solidFill>
                <a:highlight>
                  <a:srgbClr val="FFFFFF"/>
                </a:highlight>
                <a:latin typeface="Consolas"/>
                <a:ea typeface="Consolas"/>
                <a:cs typeface="Consolas"/>
                <a:sym typeface="Consolas"/>
              </a:rPr>
              <a:t>        - Close: 종가</a:t>
            </a:r>
            <a:endParaRPr sz="1050">
              <a:solidFill>
                <a:srgbClr val="A31515"/>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A31515"/>
                </a:solidFill>
                <a:highlight>
                  <a:srgbClr val="FFFFFF"/>
                </a:highlight>
                <a:latin typeface="Consolas"/>
                <a:ea typeface="Consolas"/>
                <a:cs typeface="Consolas"/>
                <a:sym typeface="Consolas"/>
              </a:rPr>
              <a:t>        - Adj Close: 수정 종가</a:t>
            </a:r>
            <a:endParaRPr sz="1050">
              <a:solidFill>
                <a:srgbClr val="A31515"/>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A31515"/>
                </a:solidFill>
                <a:highlight>
                  <a:srgbClr val="FFFFFF"/>
                </a:highlight>
                <a:latin typeface="Consolas"/>
                <a:ea typeface="Consolas"/>
                <a:cs typeface="Consolas"/>
                <a:sym typeface="Consolas"/>
              </a:rPr>
              <a:t>        - Volumn: 거래량</a:t>
            </a:r>
            <a:endParaRPr sz="1050">
              <a:solidFill>
                <a:srgbClr val="A31515"/>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A31515"/>
                </a:solidFill>
                <a:highlight>
                  <a:srgbClr val="FFFFFF"/>
                </a:highlight>
                <a:latin typeface="Consolas"/>
                <a:ea typeface="Consolas"/>
                <a:cs typeface="Consolas"/>
                <a:sym typeface="Consolas"/>
              </a:rPr>
              <a:t>        '''</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2"/>
          <p:cNvSpPr txBox="1"/>
          <p:nvPr/>
        </p:nvSpPr>
        <p:spPr>
          <a:xfrm>
            <a:off x="0" y="0"/>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ko" sz="1100" u="sng">
                <a:solidFill>
                  <a:srgbClr val="009668"/>
                </a:solidFill>
                <a:hlinkClick r:id="rId3">
                  <a:extLst>
                    <a:ext uri="{A12FA001-AC4F-418D-AE19-62706E023703}">
                      <ahyp:hlinkClr val="tx"/>
                    </a:ext>
                  </a:extLst>
                </a:hlinkClick>
              </a:rPr>
              <a:t>CLOVA Studio 파라미터 공식</a:t>
            </a:r>
            <a:r>
              <a:rPr lang="ko" sz="1100">
                <a:solidFill>
                  <a:schemeClr val="dk1"/>
                </a:solidFill>
              </a:rPr>
              <a:t>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3"/>
          <p:cNvSpPr txBox="1"/>
          <p:nvPr/>
        </p:nvSpPr>
        <p:spPr>
          <a:xfrm>
            <a:off x="0" y="0"/>
            <a:ext cx="3000000" cy="109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ko" sz="1800" u="sng">
                <a:solidFill>
                  <a:srgbClr val="009668"/>
                </a:solidFill>
                <a:latin typeface="Open Sans"/>
                <a:ea typeface="Open Sans"/>
                <a:cs typeface="Open Sans"/>
                <a:sym typeface="Open Sans"/>
                <a:hlinkClick r:id="rId3">
                  <a:extLst>
                    <a:ext uri="{A12FA001-AC4F-418D-AE19-62706E023703}">
                      <ahyp:hlinkClr val="tx"/>
                    </a:ext>
                  </a:extLst>
                </a:hlinkClick>
              </a:rPr>
              <a:t>https://www.ncloud.com/product/aiService/clovaStudio?region=KR#pricing</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4"/>
          <p:cNvSpPr txBox="1"/>
          <p:nvPr/>
        </p:nvSpPr>
        <p:spPr>
          <a:xfrm>
            <a:off x="0" y="0"/>
            <a:ext cx="3000000" cy="21009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print(</a:t>
            </a:r>
            <a:r>
              <a:rPr lang="ko" sz="1050">
                <a:solidFill>
                  <a:srgbClr val="A31515"/>
                </a:solidFill>
                <a:highlight>
                  <a:srgbClr val="FFFFFF"/>
                </a:highlight>
                <a:latin typeface="Consolas"/>
                <a:ea typeface="Consolas"/>
                <a:cs typeface="Consolas"/>
                <a:sym typeface="Consolas"/>
              </a:rPr>
              <a:t>'✅ 실행됨'</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00FF"/>
                </a:solidFill>
                <a:highlight>
                  <a:srgbClr val="FFFFFF"/>
                </a:highlight>
                <a:latin typeface="Consolas"/>
                <a:ea typeface="Consolas"/>
                <a:cs typeface="Consolas"/>
                <a:sym typeface="Consolas"/>
              </a:rPr>
              <a:t>import</a:t>
            </a:r>
            <a:r>
              <a:rPr lang="ko" sz="1050">
                <a:solidFill>
                  <a:schemeClr val="dk1"/>
                </a:solidFill>
                <a:highlight>
                  <a:srgbClr val="FFFFFF"/>
                </a:highlight>
                <a:latin typeface="Consolas"/>
                <a:ea typeface="Consolas"/>
                <a:cs typeface="Consolas"/>
                <a:sym typeface="Consolas"/>
              </a:rPr>
              <a:t> os</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00FF"/>
                </a:solidFill>
                <a:highlight>
                  <a:srgbClr val="FFFFFF"/>
                </a:highlight>
                <a:latin typeface="Consolas"/>
                <a:ea typeface="Consolas"/>
                <a:cs typeface="Consolas"/>
                <a:sym typeface="Consolas"/>
              </a:rPr>
              <a:t>import</a:t>
            </a:r>
            <a:r>
              <a:rPr lang="ko" sz="1050">
                <a:solidFill>
                  <a:schemeClr val="dk1"/>
                </a:solidFill>
                <a:highlight>
                  <a:srgbClr val="FFFFFF"/>
                </a:highlight>
                <a:latin typeface="Consolas"/>
                <a:ea typeface="Consolas"/>
                <a:cs typeface="Consolas"/>
                <a:sym typeface="Consolas"/>
              </a:rPr>
              <a:t> requests</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00FF"/>
                </a:solidFill>
                <a:highlight>
                  <a:srgbClr val="FFFFFF"/>
                </a:highlight>
                <a:latin typeface="Consolas"/>
                <a:ea typeface="Consolas"/>
                <a:cs typeface="Consolas"/>
                <a:sym typeface="Consolas"/>
              </a:rPr>
              <a:t>from</a:t>
            </a:r>
            <a:r>
              <a:rPr lang="ko" sz="1050">
                <a:solidFill>
                  <a:schemeClr val="dk1"/>
                </a:solidFill>
                <a:highlight>
                  <a:srgbClr val="FFFFFF"/>
                </a:highlight>
                <a:latin typeface="Consolas"/>
                <a:ea typeface="Consolas"/>
                <a:cs typeface="Consolas"/>
                <a:sym typeface="Consolas"/>
              </a:rPr>
              <a:t> dotenv </a:t>
            </a:r>
            <a:r>
              <a:rPr lang="ko" sz="1050">
                <a:solidFill>
                  <a:srgbClr val="0000FF"/>
                </a:solidFill>
                <a:highlight>
                  <a:srgbClr val="FFFFFF"/>
                </a:highlight>
                <a:latin typeface="Consolas"/>
                <a:ea typeface="Consolas"/>
                <a:cs typeface="Consolas"/>
                <a:sym typeface="Consolas"/>
              </a:rPr>
              <a:t>import</a:t>
            </a:r>
            <a:r>
              <a:rPr lang="ko" sz="1050">
                <a:solidFill>
                  <a:schemeClr val="dk1"/>
                </a:solidFill>
                <a:highlight>
                  <a:srgbClr val="FFFFFF"/>
                </a:highlight>
                <a:latin typeface="Consolas"/>
                <a:ea typeface="Consolas"/>
                <a:cs typeface="Consolas"/>
                <a:sym typeface="Consolas"/>
              </a:rPr>
              <a:t> load_dotenv</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00FF"/>
                </a:solidFill>
                <a:highlight>
                  <a:srgbClr val="FFFFFF"/>
                </a:highlight>
                <a:latin typeface="Consolas"/>
                <a:ea typeface="Consolas"/>
                <a:cs typeface="Consolas"/>
                <a:sym typeface="Consolas"/>
              </a:rPr>
              <a:t>import</a:t>
            </a:r>
            <a:r>
              <a:rPr lang="ko" sz="1050">
                <a:solidFill>
                  <a:schemeClr val="dk1"/>
                </a:solidFill>
                <a:highlight>
                  <a:srgbClr val="FFFFFF"/>
                </a:highlight>
                <a:latin typeface="Consolas"/>
                <a:ea typeface="Consolas"/>
                <a:cs typeface="Consolas"/>
                <a:sym typeface="Consolas"/>
              </a:rPr>
              <a:t> json</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00FF"/>
                </a:solidFill>
                <a:highlight>
                  <a:srgbClr val="FFFFFF"/>
                </a:highlight>
                <a:latin typeface="Consolas"/>
                <a:ea typeface="Consolas"/>
                <a:cs typeface="Consolas"/>
                <a:sym typeface="Consolas"/>
              </a:rPr>
              <a:t>import</a:t>
            </a:r>
            <a:r>
              <a:rPr lang="ko" sz="1050">
                <a:solidFill>
                  <a:schemeClr val="dk1"/>
                </a:solidFill>
                <a:highlight>
                  <a:srgbClr val="FFFFFF"/>
                </a:highlight>
                <a:latin typeface="Consolas"/>
                <a:ea typeface="Consolas"/>
                <a:cs typeface="Consolas"/>
                <a:sym typeface="Consolas"/>
              </a:rPr>
              <a:t> configparser</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00FF"/>
                </a:solidFill>
                <a:highlight>
                  <a:srgbClr val="FFFFFF"/>
                </a:highlight>
                <a:latin typeface="Consolas"/>
                <a:ea typeface="Consolas"/>
                <a:cs typeface="Consolas"/>
                <a:sym typeface="Consolas"/>
              </a:rPr>
              <a:t>import</a:t>
            </a:r>
            <a:r>
              <a:rPr lang="ko" sz="1050">
                <a:solidFill>
                  <a:schemeClr val="dk1"/>
                </a:solidFill>
                <a:highlight>
                  <a:srgbClr val="FFFFFF"/>
                </a:highlight>
                <a:latin typeface="Consolas"/>
                <a:ea typeface="Consolas"/>
                <a:cs typeface="Consolas"/>
                <a:sym typeface="Consolas"/>
              </a:rPr>
              <a:t> streamlit </a:t>
            </a:r>
            <a:r>
              <a:rPr lang="ko" sz="1050">
                <a:solidFill>
                  <a:srgbClr val="0000FF"/>
                </a:solidFill>
                <a:highlight>
                  <a:srgbClr val="FFFFFF"/>
                </a:highlight>
                <a:latin typeface="Consolas"/>
                <a:ea typeface="Consolas"/>
                <a:cs typeface="Consolas"/>
                <a:sym typeface="Consolas"/>
              </a:rPr>
              <a:t>as</a:t>
            </a:r>
            <a:r>
              <a:rPr lang="ko" sz="1050">
                <a:solidFill>
                  <a:schemeClr val="dk1"/>
                </a:solidFill>
                <a:highlight>
                  <a:srgbClr val="FFFFFF"/>
                </a:highlight>
                <a:latin typeface="Consolas"/>
                <a:ea typeface="Consolas"/>
                <a:cs typeface="Consolas"/>
                <a:sym typeface="Consolas"/>
              </a:rPr>
              <a:t> st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5"/>
          <p:cNvSpPr txBox="1"/>
          <p:nvPr/>
        </p:nvSpPr>
        <p:spPr>
          <a:xfrm>
            <a:off x="0" y="0"/>
            <a:ext cx="9698400" cy="181131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print(</a:t>
            </a:r>
            <a:r>
              <a:rPr lang="ko" sz="1050">
                <a:solidFill>
                  <a:srgbClr val="A31515"/>
                </a:solidFill>
                <a:highlight>
                  <a:srgbClr val="FFFFFF"/>
                </a:highlight>
                <a:latin typeface="Consolas"/>
                <a:ea typeface="Consolas"/>
                <a:cs typeface="Consolas"/>
                <a:sym typeface="Consolas"/>
              </a:rPr>
              <a:t>'✅ 실행됨'</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00FF"/>
                </a:solidFill>
                <a:highlight>
                  <a:srgbClr val="FFFFFF"/>
                </a:highlight>
                <a:latin typeface="Consolas"/>
                <a:ea typeface="Consolas"/>
                <a:cs typeface="Consolas"/>
                <a:sym typeface="Consolas"/>
              </a:rPr>
              <a:t>import</a:t>
            </a:r>
            <a:r>
              <a:rPr lang="ko" sz="1050">
                <a:solidFill>
                  <a:schemeClr val="dk1"/>
                </a:solidFill>
                <a:highlight>
                  <a:srgbClr val="FFFFFF"/>
                </a:highlight>
                <a:latin typeface="Consolas"/>
                <a:ea typeface="Consolas"/>
                <a:cs typeface="Consolas"/>
                <a:sym typeface="Consolas"/>
              </a:rPr>
              <a:t> os</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00FF"/>
                </a:solidFill>
                <a:highlight>
                  <a:srgbClr val="FFFFFF"/>
                </a:highlight>
                <a:latin typeface="Consolas"/>
                <a:ea typeface="Consolas"/>
                <a:cs typeface="Consolas"/>
                <a:sym typeface="Consolas"/>
              </a:rPr>
              <a:t>import</a:t>
            </a:r>
            <a:r>
              <a:rPr lang="ko" sz="1050">
                <a:solidFill>
                  <a:schemeClr val="dk1"/>
                </a:solidFill>
                <a:highlight>
                  <a:srgbClr val="FFFFFF"/>
                </a:highlight>
                <a:latin typeface="Consolas"/>
                <a:ea typeface="Consolas"/>
                <a:cs typeface="Consolas"/>
                <a:sym typeface="Consolas"/>
              </a:rPr>
              <a:t> requests</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00FF"/>
                </a:solidFill>
                <a:highlight>
                  <a:srgbClr val="FFFFFF"/>
                </a:highlight>
                <a:latin typeface="Consolas"/>
                <a:ea typeface="Consolas"/>
                <a:cs typeface="Consolas"/>
                <a:sym typeface="Consolas"/>
              </a:rPr>
              <a:t>from</a:t>
            </a:r>
            <a:r>
              <a:rPr lang="ko" sz="1050">
                <a:solidFill>
                  <a:schemeClr val="dk1"/>
                </a:solidFill>
                <a:highlight>
                  <a:srgbClr val="FFFFFF"/>
                </a:highlight>
                <a:latin typeface="Consolas"/>
                <a:ea typeface="Consolas"/>
                <a:cs typeface="Consolas"/>
                <a:sym typeface="Consolas"/>
              </a:rPr>
              <a:t> dotenv </a:t>
            </a:r>
            <a:r>
              <a:rPr lang="ko" sz="1050">
                <a:solidFill>
                  <a:srgbClr val="0000FF"/>
                </a:solidFill>
                <a:highlight>
                  <a:srgbClr val="FFFFFF"/>
                </a:highlight>
                <a:latin typeface="Consolas"/>
                <a:ea typeface="Consolas"/>
                <a:cs typeface="Consolas"/>
                <a:sym typeface="Consolas"/>
              </a:rPr>
              <a:t>import</a:t>
            </a:r>
            <a:r>
              <a:rPr lang="ko" sz="1050">
                <a:solidFill>
                  <a:schemeClr val="dk1"/>
                </a:solidFill>
                <a:highlight>
                  <a:srgbClr val="FFFFFF"/>
                </a:highlight>
                <a:latin typeface="Consolas"/>
                <a:ea typeface="Consolas"/>
                <a:cs typeface="Consolas"/>
                <a:sym typeface="Consolas"/>
              </a:rPr>
              <a:t> load_dotenv</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00FF"/>
                </a:solidFill>
                <a:highlight>
                  <a:srgbClr val="FFFFFF"/>
                </a:highlight>
                <a:latin typeface="Consolas"/>
                <a:ea typeface="Consolas"/>
                <a:cs typeface="Consolas"/>
                <a:sym typeface="Consolas"/>
              </a:rPr>
              <a:t>import</a:t>
            </a:r>
            <a:r>
              <a:rPr lang="ko" sz="1050">
                <a:solidFill>
                  <a:schemeClr val="dk1"/>
                </a:solidFill>
                <a:highlight>
                  <a:srgbClr val="FFFFFF"/>
                </a:highlight>
                <a:latin typeface="Consolas"/>
                <a:ea typeface="Consolas"/>
                <a:cs typeface="Consolas"/>
                <a:sym typeface="Consolas"/>
              </a:rPr>
              <a:t> json</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00FF"/>
                </a:solidFill>
                <a:highlight>
                  <a:srgbClr val="FFFFFF"/>
                </a:highlight>
                <a:latin typeface="Consolas"/>
                <a:ea typeface="Consolas"/>
                <a:cs typeface="Consolas"/>
                <a:sym typeface="Consolas"/>
              </a:rPr>
              <a:t>import</a:t>
            </a:r>
            <a:r>
              <a:rPr lang="ko" sz="1050">
                <a:solidFill>
                  <a:schemeClr val="dk1"/>
                </a:solidFill>
                <a:highlight>
                  <a:srgbClr val="FFFFFF"/>
                </a:highlight>
                <a:latin typeface="Consolas"/>
                <a:ea typeface="Consolas"/>
                <a:cs typeface="Consolas"/>
                <a:sym typeface="Consolas"/>
              </a:rPr>
              <a:t> configparser</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00FF"/>
                </a:solidFill>
                <a:highlight>
                  <a:srgbClr val="FFFFFF"/>
                </a:highlight>
                <a:latin typeface="Consolas"/>
                <a:ea typeface="Consolas"/>
                <a:cs typeface="Consolas"/>
                <a:sym typeface="Consolas"/>
              </a:rPr>
              <a:t>import</a:t>
            </a:r>
            <a:r>
              <a:rPr lang="ko" sz="1050">
                <a:solidFill>
                  <a:schemeClr val="dk1"/>
                </a:solidFill>
                <a:highlight>
                  <a:srgbClr val="FFFFFF"/>
                </a:highlight>
                <a:latin typeface="Consolas"/>
                <a:ea typeface="Consolas"/>
                <a:cs typeface="Consolas"/>
                <a:sym typeface="Consolas"/>
              </a:rPr>
              <a:t> streamlit </a:t>
            </a:r>
            <a:r>
              <a:rPr lang="ko" sz="1050">
                <a:solidFill>
                  <a:srgbClr val="0000FF"/>
                </a:solidFill>
                <a:highlight>
                  <a:srgbClr val="FFFFFF"/>
                </a:highlight>
                <a:latin typeface="Consolas"/>
                <a:ea typeface="Consolas"/>
                <a:cs typeface="Consolas"/>
                <a:sym typeface="Consolas"/>
              </a:rPr>
              <a:t>as</a:t>
            </a:r>
            <a:r>
              <a:rPr lang="ko" sz="1050">
                <a:solidFill>
                  <a:schemeClr val="dk1"/>
                </a:solidFill>
                <a:highlight>
                  <a:srgbClr val="FFFFFF"/>
                </a:highlight>
                <a:latin typeface="Consolas"/>
                <a:ea typeface="Consolas"/>
                <a:cs typeface="Consolas"/>
                <a:sym typeface="Consolas"/>
              </a:rPr>
              <a:t> st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print(</a:t>
            </a:r>
            <a:r>
              <a:rPr lang="ko" sz="1050">
                <a:solidFill>
                  <a:srgbClr val="0000FF"/>
                </a:solidFill>
                <a:highlight>
                  <a:srgbClr val="FFFFFF"/>
                </a:highlight>
                <a:latin typeface="Consolas"/>
                <a:ea typeface="Consolas"/>
                <a:cs typeface="Consolas"/>
                <a:sym typeface="Consolas"/>
              </a:rPr>
              <a:t>f</a:t>
            </a:r>
            <a:r>
              <a:rPr lang="ko" sz="1050">
                <a:solidFill>
                  <a:srgbClr val="A31515"/>
                </a:solidFill>
                <a:highlight>
                  <a:srgbClr val="FFFFFF"/>
                </a:highlight>
                <a:latin typeface="Consolas"/>
                <a:ea typeface="Consolas"/>
                <a:cs typeface="Consolas"/>
                <a:sym typeface="Consolas"/>
              </a:rPr>
              <a:t>'✅ </a:t>
            </a:r>
            <a:r>
              <a:rPr lang="ko" sz="1050">
                <a:solidFill>
                  <a:schemeClr val="dk1"/>
                </a:solidFill>
                <a:highlight>
                  <a:srgbClr val="FFFFFF"/>
                </a:highlight>
                <a:latin typeface="Consolas"/>
                <a:ea typeface="Consolas"/>
                <a:cs typeface="Consolas"/>
                <a:sym typeface="Consolas"/>
              </a:rPr>
              <a:t>{os.path.basename( __file__ )}</a:t>
            </a:r>
            <a:r>
              <a:rPr lang="ko" sz="1050">
                <a:solidFill>
                  <a:srgbClr val="A31515"/>
                </a:solidFill>
                <a:highlight>
                  <a:srgbClr val="FFFFFF"/>
                </a:highlight>
                <a:latin typeface="Consolas"/>
                <a:ea typeface="Consolas"/>
                <a:cs typeface="Consolas"/>
                <a:sym typeface="Consolas"/>
              </a:rPr>
              <a:t> 실행됨'</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load_dotenv()  </a:t>
            </a:r>
            <a:r>
              <a:rPr lang="ko" sz="1050">
                <a:solidFill>
                  <a:srgbClr val="008000"/>
                </a:solidFill>
                <a:highlight>
                  <a:srgbClr val="FFFFFF"/>
                </a:highlight>
                <a:latin typeface="Consolas"/>
                <a:ea typeface="Consolas"/>
                <a:cs typeface="Consolas"/>
                <a:sym typeface="Consolas"/>
              </a:rPr>
              <a:t>#</a:t>
            </a:r>
            <a:endParaRPr sz="10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print(</a:t>
            </a:r>
            <a:r>
              <a:rPr lang="ko" sz="1050">
                <a:solidFill>
                  <a:srgbClr val="0000FF"/>
                </a:solidFill>
                <a:highlight>
                  <a:srgbClr val="FFFFFF"/>
                </a:highlight>
                <a:latin typeface="Consolas"/>
                <a:ea typeface="Consolas"/>
                <a:cs typeface="Consolas"/>
                <a:sym typeface="Consolas"/>
              </a:rPr>
              <a:t>f</a:t>
            </a:r>
            <a:r>
              <a:rPr lang="ko" sz="1050">
                <a:solidFill>
                  <a:srgbClr val="A31515"/>
                </a:solidFill>
                <a:highlight>
                  <a:srgbClr val="FFFFFF"/>
                </a:highlight>
                <a:latin typeface="Consolas"/>
                <a:ea typeface="Consolas"/>
                <a:cs typeface="Consolas"/>
                <a:sym typeface="Consolas"/>
              </a:rPr>
              <a:t>'</a:t>
            </a:r>
            <a:r>
              <a:rPr lang="ko" sz="1050">
                <a:solidFill>
                  <a:schemeClr val="dk1"/>
                </a:solidFill>
                <a:highlight>
                  <a:srgbClr val="FFFFFF"/>
                </a:highlight>
                <a:latin typeface="Consolas"/>
                <a:ea typeface="Consolas"/>
                <a:cs typeface="Consolas"/>
                <a:sym typeface="Consolas"/>
              </a:rPr>
              <a:t>\t</a:t>
            </a:r>
            <a:r>
              <a:rPr lang="ko" sz="1050">
                <a:solidFill>
                  <a:srgbClr val="A31515"/>
                </a:solidFill>
                <a:highlight>
                  <a:srgbClr val="FFFFFF"/>
                </a:highlight>
                <a:latin typeface="Consolas"/>
                <a:ea typeface="Consolas"/>
                <a:cs typeface="Consolas"/>
                <a:sym typeface="Consolas"/>
              </a:rPr>
              <a:t>CLOVASTUDIO_TEST_API_KEY=</a:t>
            </a:r>
            <a:r>
              <a:rPr lang="ko" sz="1050">
                <a:solidFill>
                  <a:schemeClr val="dk1"/>
                </a:solidFill>
                <a:highlight>
                  <a:srgbClr val="FFFFFF"/>
                </a:highlight>
                <a:latin typeface="Consolas"/>
                <a:ea typeface="Consolas"/>
                <a:cs typeface="Consolas"/>
                <a:sym typeface="Consolas"/>
              </a:rPr>
              <a:t>{os.getenv(</a:t>
            </a:r>
            <a:r>
              <a:rPr lang="ko" sz="1050">
                <a:solidFill>
                  <a:srgbClr val="A31515"/>
                </a:solidFill>
                <a:highlight>
                  <a:srgbClr val="FFFFFF"/>
                </a:highlight>
                <a:latin typeface="Consolas"/>
                <a:ea typeface="Consolas"/>
                <a:cs typeface="Consolas"/>
                <a:sym typeface="Consolas"/>
              </a:rPr>
              <a:t>"CLOVASTUDIO_TEST_API_KEY"</a:t>
            </a:r>
            <a:r>
              <a:rPr lang="ko" sz="1050">
                <a:solidFill>
                  <a:schemeClr val="dk1"/>
                </a:solidFill>
                <a:highlight>
                  <a:srgbClr val="FFFFFF"/>
                </a:highlight>
                <a:latin typeface="Consolas"/>
                <a:ea typeface="Consolas"/>
                <a:cs typeface="Consolas"/>
                <a:sym typeface="Consolas"/>
              </a:rPr>
              <a:t>)[:</a:t>
            </a:r>
            <a:r>
              <a:rPr lang="ko" sz="1050">
                <a:solidFill>
                  <a:srgbClr val="098658"/>
                </a:solidFill>
                <a:highlight>
                  <a:srgbClr val="FFFFFF"/>
                </a:highlight>
                <a:latin typeface="Consolas"/>
                <a:ea typeface="Consolas"/>
                <a:cs typeface="Consolas"/>
                <a:sym typeface="Consolas"/>
              </a:rPr>
              <a:t>20</a:t>
            </a:r>
            <a:r>
              <a:rPr lang="ko" sz="1050">
                <a:solidFill>
                  <a:schemeClr val="dk1"/>
                </a:solidFill>
                <a:highlight>
                  <a:srgbClr val="FFFFFF"/>
                </a:highlight>
                <a:latin typeface="Consolas"/>
                <a:ea typeface="Consolas"/>
                <a:cs typeface="Consolas"/>
                <a:sym typeface="Consolas"/>
              </a:rPr>
              <a:t>]}</a:t>
            </a:r>
            <a:r>
              <a:rPr lang="ko" sz="1050">
                <a:solidFill>
                  <a:srgbClr val="A31515"/>
                </a:solidFill>
                <a:highlight>
                  <a:srgbClr val="FFFFFF"/>
                </a:highlight>
                <a:latin typeface="Consolas"/>
                <a:ea typeface="Consolas"/>
                <a:cs typeface="Consolas"/>
                <a:sym typeface="Consolas"/>
              </a:rPr>
              <a:t>'</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api_key = os.getenv(</a:t>
            </a:r>
            <a:r>
              <a:rPr lang="ko" sz="1050">
                <a:solidFill>
                  <a:srgbClr val="A31515"/>
                </a:solidFill>
                <a:highlight>
                  <a:srgbClr val="FFFFFF"/>
                </a:highlight>
                <a:latin typeface="Consolas"/>
                <a:ea typeface="Consolas"/>
                <a:cs typeface="Consolas"/>
                <a:sym typeface="Consolas"/>
              </a:rPr>
              <a:t>"CLOVASTUDIO_TEST_API_KEY"</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00FF"/>
                </a:solidFill>
                <a:highlight>
                  <a:srgbClr val="FFFFFF"/>
                </a:highlight>
                <a:latin typeface="Consolas"/>
                <a:ea typeface="Consolas"/>
                <a:cs typeface="Consolas"/>
                <a:sym typeface="Consolas"/>
              </a:rPr>
              <a:t>class</a:t>
            </a:r>
            <a:r>
              <a:rPr lang="ko" sz="1050">
                <a:solidFill>
                  <a:schemeClr val="dk1"/>
                </a:solidFill>
                <a:highlight>
                  <a:srgbClr val="FFFFFF"/>
                </a:highlight>
                <a:latin typeface="Consolas"/>
                <a:ea typeface="Consolas"/>
                <a:cs typeface="Consolas"/>
                <a:sym typeface="Consolas"/>
              </a:rPr>
              <a:t> CompletionExecutor:</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0000FF"/>
                </a:solidFill>
                <a:highlight>
                  <a:srgbClr val="FFFFFF"/>
                </a:highlight>
                <a:latin typeface="Consolas"/>
                <a:ea typeface="Consolas"/>
                <a:cs typeface="Consolas"/>
                <a:sym typeface="Consolas"/>
              </a:rPr>
              <a:t>def</a:t>
            </a:r>
            <a:r>
              <a:rPr lang="ko" sz="1050">
                <a:solidFill>
                  <a:schemeClr val="dk1"/>
                </a:solidFill>
                <a:highlight>
                  <a:srgbClr val="FFFFFF"/>
                </a:highlight>
                <a:latin typeface="Consolas"/>
                <a:ea typeface="Consolas"/>
                <a:cs typeface="Consolas"/>
                <a:sym typeface="Consolas"/>
              </a:rPr>
              <a:t> __init__(self, host, api_key, request_id):</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0000FF"/>
                </a:solidFill>
                <a:highlight>
                  <a:srgbClr val="FFFFFF"/>
                </a:highlight>
                <a:latin typeface="Consolas"/>
                <a:ea typeface="Consolas"/>
                <a:cs typeface="Consolas"/>
                <a:sym typeface="Consolas"/>
              </a:rPr>
              <a:t>self</a:t>
            </a:r>
            <a:r>
              <a:rPr lang="ko" sz="1050">
                <a:solidFill>
                  <a:schemeClr val="dk1"/>
                </a:solidFill>
                <a:highlight>
                  <a:srgbClr val="FFFFFF"/>
                </a:highlight>
                <a:latin typeface="Consolas"/>
                <a:ea typeface="Consolas"/>
                <a:cs typeface="Consolas"/>
                <a:sym typeface="Consolas"/>
              </a:rPr>
              <a:t>._host = host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0000FF"/>
                </a:solidFill>
                <a:highlight>
                  <a:srgbClr val="FFFFFF"/>
                </a:highlight>
                <a:latin typeface="Consolas"/>
                <a:ea typeface="Consolas"/>
                <a:cs typeface="Consolas"/>
                <a:sym typeface="Consolas"/>
              </a:rPr>
              <a:t>self</a:t>
            </a:r>
            <a:r>
              <a:rPr lang="ko" sz="1050">
                <a:solidFill>
                  <a:schemeClr val="dk1"/>
                </a:solidFill>
                <a:highlight>
                  <a:srgbClr val="FFFFFF"/>
                </a:highlight>
                <a:latin typeface="Consolas"/>
                <a:ea typeface="Consolas"/>
                <a:cs typeface="Consolas"/>
                <a:sym typeface="Consolas"/>
              </a:rPr>
              <a:t>._api_key = api_key</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0000FF"/>
                </a:solidFill>
                <a:highlight>
                  <a:srgbClr val="FFFFFF"/>
                </a:highlight>
                <a:latin typeface="Consolas"/>
                <a:ea typeface="Consolas"/>
                <a:cs typeface="Consolas"/>
                <a:sym typeface="Consolas"/>
              </a:rPr>
              <a:t>self</a:t>
            </a:r>
            <a:r>
              <a:rPr lang="ko" sz="1050">
                <a:solidFill>
                  <a:schemeClr val="dk1"/>
                </a:solidFill>
                <a:highlight>
                  <a:srgbClr val="FFFFFF"/>
                </a:highlight>
                <a:latin typeface="Consolas"/>
                <a:ea typeface="Consolas"/>
                <a:cs typeface="Consolas"/>
                <a:sym typeface="Consolas"/>
              </a:rPr>
              <a:t>._request_id = request_id</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0000FF"/>
                </a:solidFill>
                <a:highlight>
                  <a:srgbClr val="FFFFFF"/>
                </a:highlight>
                <a:latin typeface="Consolas"/>
                <a:ea typeface="Consolas"/>
                <a:cs typeface="Consolas"/>
                <a:sym typeface="Consolas"/>
              </a:rPr>
              <a:t>def</a:t>
            </a:r>
            <a:r>
              <a:rPr lang="ko" sz="1050">
                <a:solidFill>
                  <a:schemeClr val="dk1"/>
                </a:solidFill>
                <a:highlight>
                  <a:srgbClr val="FFFFFF"/>
                </a:highlight>
                <a:latin typeface="Consolas"/>
                <a:ea typeface="Consolas"/>
                <a:cs typeface="Consolas"/>
                <a:sym typeface="Consolas"/>
              </a:rPr>
              <a:t> execute(self, completion_request):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headers =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A31515"/>
                </a:solidFill>
                <a:highlight>
                  <a:srgbClr val="FFFFFF"/>
                </a:highlight>
                <a:latin typeface="Consolas"/>
                <a:ea typeface="Consolas"/>
                <a:cs typeface="Consolas"/>
                <a:sym typeface="Consolas"/>
              </a:rPr>
              <a:t>'Authorization'</a:t>
            </a:r>
            <a:r>
              <a:rPr lang="ko" sz="1050">
                <a:solidFill>
                  <a:schemeClr val="dk1"/>
                </a:solidFill>
                <a:highlight>
                  <a:srgbClr val="FFFFFF"/>
                </a:highlight>
                <a:latin typeface="Consolas"/>
                <a:ea typeface="Consolas"/>
                <a:cs typeface="Consolas"/>
                <a:sym typeface="Consolas"/>
              </a:rPr>
              <a:t>: </a:t>
            </a:r>
            <a:r>
              <a:rPr lang="ko" sz="1050">
                <a:solidFill>
                  <a:srgbClr val="0000FF"/>
                </a:solidFill>
                <a:highlight>
                  <a:srgbClr val="FFFFFF"/>
                </a:highlight>
                <a:latin typeface="Consolas"/>
                <a:ea typeface="Consolas"/>
                <a:cs typeface="Consolas"/>
                <a:sym typeface="Consolas"/>
              </a:rPr>
              <a:t>self</a:t>
            </a:r>
            <a:r>
              <a:rPr lang="ko" sz="1050">
                <a:solidFill>
                  <a:schemeClr val="dk1"/>
                </a:solidFill>
                <a:highlight>
                  <a:srgbClr val="FFFFFF"/>
                </a:highlight>
                <a:latin typeface="Consolas"/>
                <a:ea typeface="Consolas"/>
                <a:cs typeface="Consolas"/>
                <a:sym typeface="Consolas"/>
              </a:rPr>
              <a:t>._api_key,</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A31515"/>
                </a:solidFill>
                <a:highlight>
                  <a:srgbClr val="FFFFFF"/>
                </a:highlight>
                <a:latin typeface="Consolas"/>
                <a:ea typeface="Consolas"/>
                <a:cs typeface="Consolas"/>
                <a:sym typeface="Consolas"/>
              </a:rPr>
              <a:t>'X-NCP-CLOVASTUDIO-REQUEST-ID'</a:t>
            </a:r>
            <a:r>
              <a:rPr lang="ko" sz="1050">
                <a:solidFill>
                  <a:schemeClr val="dk1"/>
                </a:solidFill>
                <a:highlight>
                  <a:srgbClr val="FFFFFF"/>
                </a:highlight>
                <a:latin typeface="Consolas"/>
                <a:ea typeface="Consolas"/>
                <a:cs typeface="Consolas"/>
                <a:sym typeface="Consolas"/>
              </a:rPr>
              <a:t>: </a:t>
            </a:r>
            <a:r>
              <a:rPr lang="ko" sz="1050">
                <a:solidFill>
                  <a:srgbClr val="0000FF"/>
                </a:solidFill>
                <a:highlight>
                  <a:srgbClr val="FFFFFF"/>
                </a:highlight>
                <a:latin typeface="Consolas"/>
                <a:ea typeface="Consolas"/>
                <a:cs typeface="Consolas"/>
                <a:sym typeface="Consolas"/>
              </a:rPr>
              <a:t>self</a:t>
            </a:r>
            <a:r>
              <a:rPr lang="ko" sz="1050">
                <a:solidFill>
                  <a:schemeClr val="dk1"/>
                </a:solidFill>
                <a:highlight>
                  <a:srgbClr val="FFFFFF"/>
                </a:highlight>
                <a:latin typeface="Consolas"/>
                <a:ea typeface="Consolas"/>
                <a:cs typeface="Consolas"/>
                <a:sym typeface="Consolas"/>
              </a:rPr>
              <a:t>._request_id,</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A31515"/>
                </a:solidFill>
                <a:highlight>
                  <a:srgbClr val="FFFFFF"/>
                </a:highlight>
                <a:latin typeface="Consolas"/>
                <a:ea typeface="Consolas"/>
                <a:cs typeface="Consolas"/>
                <a:sym typeface="Consolas"/>
              </a:rPr>
              <a:t>'Content-Type'</a:t>
            </a:r>
            <a:r>
              <a:rPr lang="ko" sz="1050">
                <a:solidFill>
                  <a:schemeClr val="dk1"/>
                </a:solidFill>
                <a:highlight>
                  <a:srgbClr val="FFFFFF"/>
                </a:highlight>
                <a:latin typeface="Consolas"/>
                <a:ea typeface="Consolas"/>
                <a:cs typeface="Consolas"/>
                <a:sym typeface="Consolas"/>
              </a:rPr>
              <a:t>: </a:t>
            </a:r>
            <a:r>
              <a:rPr lang="ko" sz="1050">
                <a:solidFill>
                  <a:srgbClr val="A31515"/>
                </a:solidFill>
                <a:highlight>
                  <a:srgbClr val="FFFFFF"/>
                </a:highlight>
                <a:latin typeface="Consolas"/>
                <a:ea typeface="Consolas"/>
                <a:cs typeface="Consolas"/>
                <a:sym typeface="Consolas"/>
              </a:rPr>
              <a:t>'application/json; charset=utf-8'</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A31515"/>
                </a:solidFill>
                <a:highlight>
                  <a:srgbClr val="FFFFFF"/>
                </a:highlight>
                <a:latin typeface="Consolas"/>
                <a:ea typeface="Consolas"/>
                <a:cs typeface="Consolas"/>
                <a:sym typeface="Consolas"/>
              </a:rPr>
              <a:t>'Accept'</a:t>
            </a:r>
            <a:r>
              <a:rPr lang="ko" sz="1050">
                <a:solidFill>
                  <a:schemeClr val="dk1"/>
                </a:solidFill>
                <a:highlight>
                  <a:srgbClr val="FFFFFF"/>
                </a:highlight>
                <a:latin typeface="Consolas"/>
                <a:ea typeface="Consolas"/>
                <a:cs typeface="Consolas"/>
                <a:sym typeface="Consolas"/>
              </a:rPr>
              <a:t>: </a:t>
            </a:r>
            <a:r>
              <a:rPr lang="ko" sz="1050">
                <a:solidFill>
                  <a:srgbClr val="A31515"/>
                </a:solidFill>
                <a:highlight>
                  <a:srgbClr val="FFFFFF"/>
                </a:highlight>
                <a:latin typeface="Consolas"/>
                <a:ea typeface="Consolas"/>
                <a:cs typeface="Consolas"/>
                <a:sym typeface="Consolas"/>
              </a:rPr>
              <a:t>'text/event-stream'</a:t>
            </a:r>
            <a:endParaRPr sz="1050">
              <a:solidFill>
                <a:srgbClr val="A31515"/>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0000FF"/>
                </a:solidFill>
                <a:highlight>
                  <a:srgbClr val="FFFFFF"/>
                </a:highlight>
                <a:latin typeface="Consolas"/>
                <a:ea typeface="Consolas"/>
                <a:cs typeface="Consolas"/>
                <a:sym typeface="Consolas"/>
              </a:rPr>
              <a:t>with</a:t>
            </a:r>
            <a:r>
              <a:rPr lang="ko" sz="1050">
                <a:solidFill>
                  <a:schemeClr val="dk1"/>
                </a:solidFill>
                <a:highlight>
                  <a:srgbClr val="FFFFFF"/>
                </a:highlight>
                <a:latin typeface="Consolas"/>
                <a:ea typeface="Consolas"/>
                <a:cs typeface="Consolas"/>
                <a:sym typeface="Consolas"/>
              </a:rPr>
              <a:t> requests.post(</a:t>
            </a:r>
            <a:r>
              <a:rPr lang="ko" sz="1050">
                <a:solidFill>
                  <a:srgbClr val="0000FF"/>
                </a:solidFill>
                <a:highlight>
                  <a:srgbClr val="FFFFFF"/>
                </a:highlight>
                <a:latin typeface="Consolas"/>
                <a:ea typeface="Consolas"/>
                <a:cs typeface="Consolas"/>
                <a:sym typeface="Consolas"/>
              </a:rPr>
              <a:t>self</a:t>
            </a:r>
            <a:r>
              <a:rPr lang="ko" sz="1050">
                <a:solidFill>
                  <a:schemeClr val="dk1"/>
                </a:solidFill>
                <a:highlight>
                  <a:srgbClr val="FFFFFF"/>
                </a:highlight>
                <a:latin typeface="Consolas"/>
                <a:ea typeface="Consolas"/>
                <a:cs typeface="Consolas"/>
                <a:sym typeface="Consolas"/>
              </a:rPr>
              <a:t>._host + </a:t>
            </a:r>
            <a:r>
              <a:rPr lang="ko" sz="1050">
                <a:solidFill>
                  <a:srgbClr val="A31515"/>
                </a:solidFill>
                <a:highlight>
                  <a:srgbClr val="FFFFFF"/>
                </a:highlight>
                <a:latin typeface="Consolas"/>
                <a:ea typeface="Consolas"/>
                <a:cs typeface="Consolas"/>
                <a:sym typeface="Consolas"/>
              </a:rPr>
              <a:t>'/testapp/v3/chat-completions/HCX-005'</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headers=headers, json=completion_request, stream=</a:t>
            </a:r>
            <a:r>
              <a:rPr lang="ko" sz="1050">
                <a:solidFill>
                  <a:srgbClr val="0000FF"/>
                </a:solidFill>
                <a:highlight>
                  <a:srgbClr val="FFFFFF"/>
                </a:highlight>
                <a:latin typeface="Consolas"/>
                <a:ea typeface="Consolas"/>
                <a:cs typeface="Consolas"/>
                <a:sym typeface="Consolas"/>
              </a:rPr>
              <a:t>True</a:t>
            </a:r>
            <a:r>
              <a:rPr lang="ko" sz="1050">
                <a:solidFill>
                  <a:schemeClr val="dk1"/>
                </a:solidFill>
                <a:highlight>
                  <a:srgbClr val="FFFFFF"/>
                </a:highlight>
                <a:latin typeface="Consolas"/>
                <a:ea typeface="Consolas"/>
                <a:cs typeface="Consolas"/>
                <a:sym typeface="Consolas"/>
              </a:rPr>
              <a:t>) </a:t>
            </a:r>
            <a:r>
              <a:rPr lang="ko" sz="1050">
                <a:solidFill>
                  <a:srgbClr val="0000FF"/>
                </a:solidFill>
                <a:highlight>
                  <a:srgbClr val="FFFFFF"/>
                </a:highlight>
                <a:latin typeface="Consolas"/>
                <a:ea typeface="Consolas"/>
                <a:cs typeface="Consolas"/>
                <a:sym typeface="Consolas"/>
              </a:rPr>
              <a:t>as</a:t>
            </a:r>
            <a:r>
              <a:rPr lang="ko" sz="1050">
                <a:solidFill>
                  <a:schemeClr val="dk1"/>
                </a:solidFill>
                <a:highlight>
                  <a:srgbClr val="FFFFFF"/>
                </a:highlight>
                <a:latin typeface="Consolas"/>
                <a:ea typeface="Consolas"/>
                <a:cs typeface="Consolas"/>
                <a:sym typeface="Consolas"/>
              </a:rPr>
              <a:t> r:</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0000FF"/>
                </a:solidFill>
                <a:highlight>
                  <a:srgbClr val="FFFFFF"/>
                </a:highlight>
                <a:latin typeface="Consolas"/>
                <a:ea typeface="Consolas"/>
                <a:cs typeface="Consolas"/>
                <a:sym typeface="Consolas"/>
              </a:rPr>
              <a:t>for</a:t>
            </a:r>
            <a:r>
              <a:rPr lang="ko" sz="1050">
                <a:solidFill>
                  <a:schemeClr val="dk1"/>
                </a:solidFill>
                <a:highlight>
                  <a:srgbClr val="FFFFFF"/>
                </a:highlight>
                <a:latin typeface="Consolas"/>
                <a:ea typeface="Consolas"/>
                <a:cs typeface="Consolas"/>
                <a:sym typeface="Consolas"/>
              </a:rPr>
              <a:t> line </a:t>
            </a:r>
            <a:r>
              <a:rPr lang="ko" sz="1050">
                <a:solidFill>
                  <a:srgbClr val="0000FF"/>
                </a:solidFill>
                <a:highlight>
                  <a:srgbClr val="FFFFFF"/>
                </a:highlight>
                <a:latin typeface="Consolas"/>
                <a:ea typeface="Consolas"/>
                <a:cs typeface="Consolas"/>
                <a:sym typeface="Consolas"/>
              </a:rPr>
              <a:t>in</a:t>
            </a:r>
            <a:r>
              <a:rPr lang="ko" sz="1050">
                <a:solidFill>
                  <a:schemeClr val="dk1"/>
                </a:solidFill>
                <a:highlight>
                  <a:srgbClr val="FFFFFF"/>
                </a:highlight>
                <a:latin typeface="Consolas"/>
                <a:ea typeface="Consolas"/>
                <a:cs typeface="Consolas"/>
                <a:sym typeface="Consolas"/>
              </a:rPr>
              <a:t> r.iter_lines():</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0000FF"/>
                </a:solidFill>
                <a:highlight>
                  <a:srgbClr val="FFFFFF"/>
                </a:highlight>
                <a:latin typeface="Consolas"/>
                <a:ea typeface="Consolas"/>
                <a:cs typeface="Consolas"/>
                <a:sym typeface="Consolas"/>
              </a:rPr>
              <a:t>if</a:t>
            </a:r>
            <a:r>
              <a:rPr lang="ko" sz="1050">
                <a:solidFill>
                  <a:schemeClr val="dk1"/>
                </a:solidFill>
                <a:highlight>
                  <a:srgbClr val="FFFFFF"/>
                </a:highlight>
                <a:latin typeface="Consolas"/>
                <a:ea typeface="Consolas"/>
                <a:cs typeface="Consolas"/>
                <a:sym typeface="Consolas"/>
              </a:rPr>
              <a:t> line:</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print(line.decode(</a:t>
            </a:r>
            <a:r>
              <a:rPr lang="ko" sz="1050">
                <a:solidFill>
                  <a:srgbClr val="A31515"/>
                </a:solidFill>
                <a:highlight>
                  <a:srgbClr val="FFFFFF"/>
                </a:highlight>
                <a:latin typeface="Consolas"/>
                <a:ea typeface="Consolas"/>
                <a:cs typeface="Consolas"/>
                <a:sym typeface="Consolas"/>
              </a:rPr>
              <a:t>"utf-8"</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st.title(</a:t>
            </a:r>
            <a:r>
              <a:rPr lang="ko" sz="1050">
                <a:solidFill>
                  <a:srgbClr val="A31515"/>
                </a:solidFill>
                <a:highlight>
                  <a:srgbClr val="FFFFFF"/>
                </a:highlight>
                <a:latin typeface="Consolas"/>
                <a:ea typeface="Consolas"/>
                <a:cs typeface="Consolas"/>
                <a:sym typeface="Consolas"/>
              </a:rPr>
              <a:t>'MBTI 대백과사전'</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question = st.text_input(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A31515"/>
                </a:solidFill>
                <a:highlight>
                  <a:srgbClr val="FFFFFF"/>
                </a:highlight>
                <a:latin typeface="Consolas"/>
                <a:ea typeface="Consolas"/>
                <a:cs typeface="Consolas"/>
                <a:sym typeface="Consolas"/>
              </a:rPr>
              <a:t>'질문'</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placeholder=</a:t>
            </a:r>
            <a:r>
              <a:rPr lang="ko" sz="1050">
                <a:solidFill>
                  <a:srgbClr val="A31515"/>
                </a:solidFill>
                <a:highlight>
                  <a:srgbClr val="FFFFFF"/>
                </a:highlight>
                <a:latin typeface="Consolas"/>
                <a:ea typeface="Consolas"/>
                <a:cs typeface="Consolas"/>
                <a:sym typeface="Consolas"/>
              </a:rPr>
              <a:t>'질문을 입력해 주세요'</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00FF"/>
                </a:solidFill>
                <a:highlight>
                  <a:srgbClr val="FFFFFF"/>
                </a:highlight>
                <a:latin typeface="Consolas"/>
                <a:ea typeface="Consolas"/>
                <a:cs typeface="Consolas"/>
                <a:sym typeface="Consolas"/>
              </a:rPr>
              <a:t>if</a:t>
            </a:r>
            <a:r>
              <a:rPr lang="ko" sz="1050">
                <a:solidFill>
                  <a:schemeClr val="dk1"/>
                </a:solidFill>
                <a:highlight>
                  <a:srgbClr val="FFFFFF"/>
                </a:highlight>
                <a:latin typeface="Consolas"/>
                <a:ea typeface="Consolas"/>
                <a:cs typeface="Consolas"/>
                <a:sym typeface="Consolas"/>
              </a:rPr>
              <a:t> question:</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completion_executor = CompletionExecutor(</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host=</a:t>
            </a:r>
            <a:r>
              <a:rPr lang="ko" sz="1050">
                <a:solidFill>
                  <a:srgbClr val="A31515"/>
                </a:solidFill>
                <a:highlight>
                  <a:srgbClr val="FFFFFF"/>
                </a:highlight>
                <a:latin typeface="Consolas"/>
                <a:ea typeface="Consolas"/>
                <a:cs typeface="Consolas"/>
                <a:sym typeface="Consolas"/>
              </a:rPr>
              <a:t>'https://clovastudio.stream.ntruss.com'</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api_key=</a:t>
            </a:r>
            <a:r>
              <a:rPr lang="ko" sz="1050">
                <a:solidFill>
                  <a:srgbClr val="0000FF"/>
                </a:solidFill>
                <a:highlight>
                  <a:srgbClr val="FFFFFF"/>
                </a:highlight>
                <a:latin typeface="Consolas"/>
                <a:ea typeface="Consolas"/>
                <a:cs typeface="Consolas"/>
                <a:sym typeface="Consolas"/>
              </a:rPr>
              <a:t>f</a:t>
            </a:r>
            <a:r>
              <a:rPr lang="ko" sz="1050">
                <a:solidFill>
                  <a:srgbClr val="A31515"/>
                </a:solidFill>
                <a:highlight>
                  <a:srgbClr val="FFFFFF"/>
                </a:highlight>
                <a:latin typeface="Consolas"/>
                <a:ea typeface="Consolas"/>
                <a:cs typeface="Consolas"/>
                <a:sym typeface="Consolas"/>
              </a:rPr>
              <a:t>'Bearer </a:t>
            </a:r>
            <a:r>
              <a:rPr lang="ko" sz="1050">
                <a:solidFill>
                  <a:schemeClr val="dk1"/>
                </a:solidFill>
                <a:highlight>
                  <a:srgbClr val="FFFFFF"/>
                </a:highlight>
                <a:latin typeface="Consolas"/>
                <a:ea typeface="Consolas"/>
                <a:cs typeface="Consolas"/>
                <a:sym typeface="Consolas"/>
              </a:rPr>
              <a:t>{api_key}</a:t>
            </a:r>
            <a:r>
              <a:rPr lang="ko" sz="1050">
                <a:solidFill>
                  <a:srgbClr val="A31515"/>
                </a:solidFill>
                <a:highlight>
                  <a:srgbClr val="FFFFFF"/>
                </a:highlight>
                <a:latin typeface="Consolas"/>
                <a:ea typeface="Consolas"/>
                <a:cs typeface="Consolas"/>
                <a:sym typeface="Consolas"/>
              </a:rPr>
              <a:t>'</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request_id=</a:t>
            </a:r>
            <a:r>
              <a:rPr lang="ko" sz="1050">
                <a:solidFill>
                  <a:srgbClr val="A31515"/>
                </a:solidFill>
                <a:highlight>
                  <a:srgbClr val="FFFF00"/>
                </a:highlight>
                <a:latin typeface="Consolas"/>
                <a:ea typeface="Consolas"/>
                <a:cs typeface="Consolas"/>
                <a:sym typeface="Consolas"/>
              </a:rPr>
              <a:t>'xxxxxxxxxxxxxxxxxxxxxxxxxxxxxxxxxxxxxxxxxxxxx'</a:t>
            </a:r>
            <a:endParaRPr sz="1050">
              <a:solidFill>
                <a:srgbClr val="A31515"/>
              </a:solidFill>
              <a:highlight>
                <a:srgbClr val="FFFF00"/>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preset_text = [{</a:t>
            </a:r>
            <a:r>
              <a:rPr lang="ko" sz="1050">
                <a:solidFill>
                  <a:srgbClr val="A31515"/>
                </a:solidFill>
                <a:highlight>
                  <a:srgbClr val="FFFFFF"/>
                </a:highlight>
                <a:latin typeface="Consolas"/>
                <a:ea typeface="Consolas"/>
                <a:cs typeface="Consolas"/>
                <a:sym typeface="Consolas"/>
              </a:rPr>
              <a:t>"role"</a:t>
            </a:r>
            <a:r>
              <a:rPr lang="ko" sz="1050">
                <a:solidFill>
                  <a:schemeClr val="dk1"/>
                </a:solidFill>
                <a:highlight>
                  <a:srgbClr val="FFFFFF"/>
                </a:highlight>
                <a:latin typeface="Consolas"/>
                <a:ea typeface="Consolas"/>
                <a:cs typeface="Consolas"/>
                <a:sym typeface="Consolas"/>
              </a:rPr>
              <a:t>:</a:t>
            </a:r>
            <a:r>
              <a:rPr lang="ko" sz="1050">
                <a:solidFill>
                  <a:srgbClr val="A31515"/>
                </a:solidFill>
                <a:highlight>
                  <a:srgbClr val="FFFFFF"/>
                </a:highlight>
                <a:latin typeface="Consolas"/>
                <a:ea typeface="Consolas"/>
                <a:cs typeface="Consolas"/>
                <a:sym typeface="Consolas"/>
              </a:rPr>
              <a:t>"system"</a:t>
            </a:r>
            <a:r>
              <a:rPr lang="ko" sz="1050">
                <a:solidFill>
                  <a:schemeClr val="dk1"/>
                </a:solidFill>
                <a:highlight>
                  <a:srgbClr val="FFFFFF"/>
                </a:highlight>
                <a:latin typeface="Consolas"/>
                <a:ea typeface="Consolas"/>
                <a:cs typeface="Consolas"/>
                <a:sym typeface="Consolas"/>
              </a:rPr>
              <a:t>,</a:t>
            </a:r>
            <a:r>
              <a:rPr lang="ko" sz="1050">
                <a:solidFill>
                  <a:srgbClr val="A31515"/>
                </a:solidFill>
                <a:highlight>
                  <a:srgbClr val="FFFFFF"/>
                </a:highlight>
                <a:latin typeface="Consolas"/>
                <a:ea typeface="Consolas"/>
                <a:cs typeface="Consolas"/>
                <a:sym typeface="Consolas"/>
              </a:rPr>
              <a:t>"content"</a:t>
            </a:r>
            <a:r>
              <a:rPr lang="ko" sz="1050">
                <a:solidFill>
                  <a:schemeClr val="dk1"/>
                </a:solidFill>
                <a:highlight>
                  <a:srgbClr val="FFFFFF"/>
                </a:highlight>
                <a:latin typeface="Consolas"/>
                <a:ea typeface="Consolas"/>
                <a:cs typeface="Consolas"/>
                <a:sym typeface="Consolas"/>
              </a:rPr>
              <a:t>:</a:t>
            </a:r>
            <a:r>
              <a:rPr lang="ko" sz="1050">
                <a:solidFill>
                  <a:srgbClr val="A31515"/>
                </a:solidFill>
                <a:highlight>
                  <a:srgbClr val="FFFFFF"/>
                </a:highlight>
                <a:latin typeface="Consolas"/>
                <a:ea typeface="Consolas"/>
                <a:cs typeface="Consolas"/>
                <a:sym typeface="Consolas"/>
              </a:rPr>
              <a:t>"- MBTI에 대한 지식을 기반으로, MBTI 질문에 답해보세요.\n- 예제의 형식을 참고하여 질문에 대한 답을 간단히 하세요.\n\n질문: ESFJ는 문제에 봉착했을때 어떻게 대응하는가?\n답: 현실적인 해결 방법을 찾기 위해 노력합니다.\n###\n질문: ISFJ는 연인에게 어떻게 대하는 편인가?\n답: 섬세하고 다정하게 케어해주는 편입니다.\n####\n질문: INTP는 사람들이 많은 곳에 가면 어떻게 행동하는가?\n답: 주변의 상황을 파악하기 위해 관찰하는 편입니다.\n###\n질문: ESFJ는 충동적인 선택을 많이 하는 편인가?\n답: 아니다. 계획적으로 움직이는 편입니다."</a:t>
            </a:r>
            <a:r>
              <a:rPr lang="ko" sz="1050">
                <a:solidFill>
                  <a:schemeClr val="dk1"/>
                </a:solidFill>
                <a:highlight>
                  <a:srgbClr val="FFFFFF"/>
                </a:highlight>
                <a:latin typeface="Consolas"/>
                <a:ea typeface="Consolas"/>
                <a:cs typeface="Consolas"/>
                <a:sym typeface="Consolas"/>
              </a:rPr>
              <a:t>},{</a:t>
            </a:r>
            <a:r>
              <a:rPr lang="ko" sz="1050">
                <a:solidFill>
                  <a:srgbClr val="A31515"/>
                </a:solidFill>
                <a:highlight>
                  <a:srgbClr val="FFFFFF"/>
                </a:highlight>
                <a:latin typeface="Consolas"/>
                <a:ea typeface="Consolas"/>
                <a:cs typeface="Consolas"/>
                <a:sym typeface="Consolas"/>
              </a:rPr>
              <a:t>"role"</a:t>
            </a:r>
            <a:r>
              <a:rPr lang="ko" sz="1050">
                <a:solidFill>
                  <a:schemeClr val="dk1"/>
                </a:solidFill>
                <a:highlight>
                  <a:srgbClr val="FFFFFF"/>
                </a:highlight>
                <a:latin typeface="Consolas"/>
                <a:ea typeface="Consolas"/>
                <a:cs typeface="Consolas"/>
                <a:sym typeface="Consolas"/>
              </a:rPr>
              <a:t>:</a:t>
            </a:r>
            <a:r>
              <a:rPr lang="ko" sz="1050">
                <a:solidFill>
                  <a:srgbClr val="A31515"/>
                </a:solidFill>
                <a:highlight>
                  <a:srgbClr val="FFFFFF"/>
                </a:highlight>
                <a:latin typeface="Consolas"/>
                <a:ea typeface="Consolas"/>
                <a:cs typeface="Consolas"/>
                <a:sym typeface="Consolas"/>
              </a:rPr>
              <a:t>"user"</a:t>
            </a:r>
            <a:r>
              <a:rPr lang="ko" sz="1050">
                <a:solidFill>
                  <a:schemeClr val="dk1"/>
                </a:solidFill>
                <a:highlight>
                  <a:srgbClr val="FFFFFF"/>
                </a:highlight>
                <a:latin typeface="Consolas"/>
                <a:ea typeface="Consolas"/>
                <a:cs typeface="Consolas"/>
                <a:sym typeface="Consolas"/>
              </a:rPr>
              <a:t>,</a:t>
            </a:r>
            <a:r>
              <a:rPr lang="ko" sz="1050">
                <a:solidFill>
                  <a:srgbClr val="A31515"/>
                </a:solidFill>
                <a:highlight>
                  <a:srgbClr val="FFFFFF"/>
                </a:highlight>
                <a:latin typeface="Consolas"/>
                <a:ea typeface="Consolas"/>
                <a:cs typeface="Consolas"/>
                <a:sym typeface="Consolas"/>
              </a:rPr>
              <a:t>"content"</a:t>
            </a:r>
            <a:r>
              <a:rPr lang="ko" sz="1050">
                <a:solidFill>
                  <a:schemeClr val="dk1"/>
                </a:solidFill>
                <a:highlight>
                  <a:srgbClr val="FFFFFF"/>
                </a:highlight>
                <a:latin typeface="Consolas"/>
                <a:ea typeface="Consolas"/>
                <a:cs typeface="Consolas"/>
                <a:sym typeface="Consolas"/>
              </a:rPr>
              <a:t>:</a:t>
            </a:r>
            <a:r>
              <a:rPr lang="ko" sz="1050">
                <a:solidFill>
                  <a:srgbClr val="A31515"/>
                </a:solidFill>
                <a:highlight>
                  <a:srgbClr val="FFFFFF"/>
                </a:highlight>
                <a:latin typeface="Consolas"/>
                <a:ea typeface="Consolas"/>
                <a:cs typeface="Consolas"/>
                <a:sym typeface="Consolas"/>
              </a:rPr>
              <a:t>"ESTP는 학업에 어떤 자세로 임하는가?\n"</a:t>
            </a:r>
            <a:r>
              <a:rPr lang="ko" sz="1050">
                <a:solidFill>
                  <a:schemeClr val="dk1"/>
                </a:solidFill>
                <a:highlight>
                  <a:srgbClr val="FFFFFF"/>
                </a:highlight>
                <a:latin typeface="Consolas"/>
                <a:ea typeface="Consolas"/>
                <a:cs typeface="Consolas"/>
                <a:sym typeface="Consolas"/>
              </a:rPr>
              <a:t>},{</a:t>
            </a:r>
            <a:r>
              <a:rPr lang="ko" sz="1050">
                <a:solidFill>
                  <a:srgbClr val="A31515"/>
                </a:solidFill>
                <a:highlight>
                  <a:srgbClr val="FFFFFF"/>
                </a:highlight>
                <a:latin typeface="Consolas"/>
                <a:ea typeface="Consolas"/>
                <a:cs typeface="Consolas"/>
                <a:sym typeface="Consolas"/>
              </a:rPr>
              <a:t>"role"</a:t>
            </a:r>
            <a:r>
              <a:rPr lang="ko" sz="1050">
                <a:solidFill>
                  <a:schemeClr val="dk1"/>
                </a:solidFill>
                <a:highlight>
                  <a:srgbClr val="FFFFFF"/>
                </a:highlight>
                <a:latin typeface="Consolas"/>
                <a:ea typeface="Consolas"/>
                <a:cs typeface="Consolas"/>
                <a:sym typeface="Consolas"/>
              </a:rPr>
              <a:t>:</a:t>
            </a:r>
            <a:r>
              <a:rPr lang="ko" sz="1050">
                <a:solidFill>
                  <a:srgbClr val="A31515"/>
                </a:solidFill>
                <a:highlight>
                  <a:srgbClr val="FFFFFF"/>
                </a:highlight>
                <a:latin typeface="Consolas"/>
                <a:ea typeface="Consolas"/>
                <a:cs typeface="Consolas"/>
                <a:sym typeface="Consolas"/>
              </a:rPr>
              <a:t>"assistant"</a:t>
            </a:r>
            <a:r>
              <a:rPr lang="ko" sz="1050">
                <a:solidFill>
                  <a:schemeClr val="dk1"/>
                </a:solidFill>
                <a:highlight>
                  <a:srgbClr val="FFFFFF"/>
                </a:highlight>
                <a:latin typeface="Consolas"/>
                <a:ea typeface="Consolas"/>
                <a:cs typeface="Consolas"/>
                <a:sym typeface="Consolas"/>
              </a:rPr>
              <a:t>,</a:t>
            </a:r>
            <a:r>
              <a:rPr lang="ko" sz="1050">
                <a:solidFill>
                  <a:srgbClr val="A31515"/>
                </a:solidFill>
                <a:highlight>
                  <a:srgbClr val="FFFFFF"/>
                </a:highlight>
                <a:latin typeface="Consolas"/>
                <a:ea typeface="Consolas"/>
                <a:cs typeface="Consolas"/>
                <a:sym typeface="Consolas"/>
              </a:rPr>
              <a:t>"content"</a:t>
            </a:r>
            <a:r>
              <a:rPr lang="ko" sz="1050">
                <a:solidFill>
                  <a:schemeClr val="dk1"/>
                </a:solidFill>
                <a:highlight>
                  <a:srgbClr val="FFFFFF"/>
                </a:highlight>
                <a:latin typeface="Consolas"/>
                <a:ea typeface="Consolas"/>
                <a:cs typeface="Consolas"/>
                <a:sym typeface="Consolas"/>
              </a:rPr>
              <a:t>:</a:t>
            </a:r>
            <a:r>
              <a:rPr lang="ko" sz="1050">
                <a:solidFill>
                  <a:srgbClr val="A31515"/>
                </a:solidFill>
                <a:highlight>
                  <a:srgbClr val="FFFFFF"/>
                </a:highlight>
                <a:latin typeface="Consolas"/>
                <a:ea typeface="Consolas"/>
                <a:cs typeface="Consolas"/>
                <a:sym typeface="Consolas"/>
              </a:rPr>
              <a:t>"즉각적이고 실용적인 방식으로 접근하며, 이론보다는 경험을 중시해 직접 참여하면서 배우는 것을 선호합니다. 또한, 새로운 도전을 즐기고 위험을 감수하는 경향이 있어 실험적이거나 활동적인 학습 방식을 좋아할 수 있습니다. 다만 장기적인 목표 설정이나 계획 수립에는 약점이 있을 수 있으므로 이를 보완하려는 노력이 필요합니다."</a:t>
            </a:r>
            <a:r>
              <a:rPr lang="ko" sz="1050">
                <a:solidFill>
                  <a:schemeClr val="dk1"/>
                </a:solidFill>
                <a:highlight>
                  <a:srgbClr val="FFFFFF"/>
                </a:highlight>
                <a:latin typeface="Consolas"/>
                <a:ea typeface="Consolas"/>
                <a:cs typeface="Consolas"/>
                <a:sym typeface="Consolas"/>
              </a:rPr>
              <a:t>},{</a:t>
            </a:r>
            <a:r>
              <a:rPr lang="ko" sz="1050">
                <a:solidFill>
                  <a:srgbClr val="A31515"/>
                </a:solidFill>
                <a:highlight>
                  <a:srgbClr val="FFFFFF"/>
                </a:highlight>
                <a:latin typeface="Consolas"/>
                <a:ea typeface="Consolas"/>
                <a:cs typeface="Consolas"/>
                <a:sym typeface="Consolas"/>
              </a:rPr>
              <a:t>"role"</a:t>
            </a:r>
            <a:r>
              <a:rPr lang="ko" sz="1050">
                <a:solidFill>
                  <a:schemeClr val="dk1"/>
                </a:solidFill>
                <a:highlight>
                  <a:srgbClr val="FFFFFF"/>
                </a:highlight>
                <a:latin typeface="Consolas"/>
                <a:ea typeface="Consolas"/>
                <a:cs typeface="Consolas"/>
                <a:sym typeface="Consolas"/>
              </a:rPr>
              <a:t>:</a:t>
            </a:r>
            <a:r>
              <a:rPr lang="ko" sz="1050">
                <a:solidFill>
                  <a:srgbClr val="A31515"/>
                </a:solidFill>
                <a:highlight>
                  <a:srgbClr val="FFFFFF"/>
                </a:highlight>
                <a:latin typeface="Consolas"/>
                <a:ea typeface="Consolas"/>
                <a:cs typeface="Consolas"/>
                <a:sym typeface="Consolas"/>
              </a:rPr>
              <a:t>"user"</a:t>
            </a:r>
            <a:r>
              <a:rPr lang="ko" sz="1050">
                <a:solidFill>
                  <a:schemeClr val="dk1"/>
                </a:solidFill>
                <a:highlight>
                  <a:srgbClr val="FFFFFF"/>
                </a:highlight>
                <a:latin typeface="Consolas"/>
                <a:ea typeface="Consolas"/>
                <a:cs typeface="Consolas"/>
                <a:sym typeface="Consolas"/>
              </a:rPr>
              <a:t>,</a:t>
            </a:r>
            <a:r>
              <a:rPr lang="ko" sz="1050">
                <a:solidFill>
                  <a:srgbClr val="A31515"/>
                </a:solidFill>
                <a:highlight>
                  <a:srgbClr val="FFFFFF"/>
                </a:highlight>
                <a:latin typeface="Consolas"/>
                <a:ea typeface="Consolas"/>
                <a:cs typeface="Consolas"/>
                <a:sym typeface="Consolas"/>
              </a:rPr>
              <a:t>"content"</a:t>
            </a:r>
            <a:r>
              <a:rPr lang="ko" sz="1050">
                <a:solidFill>
                  <a:schemeClr val="dk1"/>
                </a:solidFill>
                <a:highlight>
                  <a:srgbClr val="FFFFFF"/>
                </a:highlight>
                <a:latin typeface="Consolas"/>
                <a:ea typeface="Consolas"/>
                <a:cs typeface="Consolas"/>
                <a:sym typeface="Consolas"/>
              </a:rPr>
              <a:t>:</a:t>
            </a:r>
            <a:r>
              <a:rPr lang="ko" sz="1050">
                <a:solidFill>
                  <a:srgbClr val="A31515"/>
                </a:solidFill>
                <a:highlight>
                  <a:srgbClr val="FFFFFF"/>
                </a:highlight>
                <a:latin typeface="Consolas"/>
                <a:ea typeface="Consolas"/>
                <a:cs typeface="Consolas"/>
                <a:sym typeface="Consolas"/>
              </a:rPr>
              <a:t>"ENFP 의 성격은 어떻습니까?"</a:t>
            </a:r>
            <a:r>
              <a:rPr lang="ko" sz="1050">
                <a:solidFill>
                  <a:schemeClr val="dk1"/>
                </a:solidFill>
                <a:highlight>
                  <a:srgbClr val="FFFFFF"/>
                </a:highlight>
                <a:latin typeface="Consolas"/>
                <a:ea typeface="Consolas"/>
                <a:cs typeface="Consolas"/>
                <a:sym typeface="Consolas"/>
              </a:rPr>
              <a:t>},{</a:t>
            </a:r>
            <a:r>
              <a:rPr lang="ko" sz="1050">
                <a:solidFill>
                  <a:srgbClr val="A31515"/>
                </a:solidFill>
                <a:highlight>
                  <a:srgbClr val="FFFFFF"/>
                </a:highlight>
                <a:latin typeface="Consolas"/>
                <a:ea typeface="Consolas"/>
                <a:cs typeface="Consolas"/>
                <a:sym typeface="Consolas"/>
              </a:rPr>
              <a:t>"role"</a:t>
            </a:r>
            <a:r>
              <a:rPr lang="ko" sz="1050">
                <a:solidFill>
                  <a:schemeClr val="dk1"/>
                </a:solidFill>
                <a:highlight>
                  <a:srgbClr val="FFFFFF"/>
                </a:highlight>
                <a:latin typeface="Consolas"/>
                <a:ea typeface="Consolas"/>
                <a:cs typeface="Consolas"/>
                <a:sym typeface="Consolas"/>
              </a:rPr>
              <a:t>:</a:t>
            </a:r>
            <a:r>
              <a:rPr lang="ko" sz="1050">
                <a:solidFill>
                  <a:srgbClr val="A31515"/>
                </a:solidFill>
                <a:highlight>
                  <a:srgbClr val="FFFFFF"/>
                </a:highlight>
                <a:latin typeface="Consolas"/>
                <a:ea typeface="Consolas"/>
                <a:cs typeface="Consolas"/>
                <a:sym typeface="Consolas"/>
              </a:rPr>
              <a:t>"assistant"</a:t>
            </a:r>
            <a:r>
              <a:rPr lang="ko" sz="1050">
                <a:solidFill>
                  <a:schemeClr val="dk1"/>
                </a:solidFill>
                <a:highlight>
                  <a:srgbClr val="FFFFFF"/>
                </a:highlight>
                <a:latin typeface="Consolas"/>
                <a:ea typeface="Consolas"/>
                <a:cs typeface="Consolas"/>
                <a:sym typeface="Consolas"/>
              </a:rPr>
              <a:t>,</a:t>
            </a:r>
            <a:r>
              <a:rPr lang="ko" sz="1050">
                <a:solidFill>
                  <a:srgbClr val="A31515"/>
                </a:solidFill>
                <a:highlight>
                  <a:srgbClr val="FFFFFF"/>
                </a:highlight>
                <a:latin typeface="Consolas"/>
                <a:ea typeface="Consolas"/>
                <a:cs typeface="Consolas"/>
                <a:sym typeface="Consolas"/>
              </a:rPr>
              <a:t>"content"</a:t>
            </a:r>
            <a:r>
              <a:rPr lang="ko" sz="1050">
                <a:solidFill>
                  <a:schemeClr val="dk1"/>
                </a:solidFill>
                <a:highlight>
                  <a:srgbClr val="FFFFFF"/>
                </a:highlight>
                <a:latin typeface="Consolas"/>
                <a:ea typeface="Consolas"/>
                <a:cs typeface="Consolas"/>
                <a:sym typeface="Consolas"/>
              </a:rPr>
              <a:t>:</a:t>
            </a:r>
            <a:r>
              <a:rPr lang="ko" sz="1050">
                <a:solidFill>
                  <a:srgbClr val="A31515"/>
                </a:solidFill>
                <a:highlight>
                  <a:srgbClr val="FFFFFF"/>
                </a:highlight>
                <a:latin typeface="Consolas"/>
                <a:ea typeface="Consolas"/>
                <a:cs typeface="Consolas"/>
                <a:sym typeface="Consolas"/>
              </a:rPr>
              <a:t>"ENFP의 성격은 다음과 같습니다.\n\n1. 창의적이고 호기심이 많습니다.\n2. 개방적이고 융통성이 있으며 적응력이 뛰어납니다.\n3. 열정적이며 활기차고 에너지가 넘칩니다.\n4. 타인의 감정을 잘 이해하며 공감능력이 좋습니다.\n5. 즉흥적이고 자유로운 영혼으로 모험심이 강합니다.\n6. 이상주의적 성향이 강해 자신의 가치관과 신념에 따라 행동합니다.\n7. 직관력이 뛰어나며 미래에 대한 통찰력이 있습니다.\n8. 종종 특이한 아이디어나 관점을 제시하기도 합니다.\n9. 인간관계를 중요시 여기며 상대방을 진심으로 대합니다.\n10. 감정 기복이 심하고 변덕스러울 때가 있습니다.\n\n이러한 특징들은 ENFP 유형의 대표적인 경향이지만 개인의 경험과 환경에 따라 차이가 있을 수 있다는 점 유의하시기 바랍니다. 더불어 MBTI 검사는 성격 유형을 완벽하게 나타내지 않으므로 이를 절대화하지 않고 참고용으로만 활용하시는 것이 바람직합니다."</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request_data =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A31515"/>
                </a:solidFill>
                <a:highlight>
                  <a:srgbClr val="FFFFFF"/>
                </a:highlight>
                <a:latin typeface="Consolas"/>
                <a:ea typeface="Consolas"/>
                <a:cs typeface="Consolas"/>
                <a:sym typeface="Consolas"/>
              </a:rPr>
              <a:t>'messages'</a:t>
            </a:r>
            <a:r>
              <a:rPr lang="ko" sz="1050">
                <a:solidFill>
                  <a:schemeClr val="dk1"/>
                </a:solidFill>
                <a:highlight>
                  <a:srgbClr val="FFFFFF"/>
                </a:highlight>
                <a:latin typeface="Consolas"/>
                <a:ea typeface="Consolas"/>
                <a:cs typeface="Consolas"/>
                <a:sym typeface="Consolas"/>
              </a:rPr>
              <a:t>: preset_text,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A31515"/>
                </a:solidFill>
                <a:highlight>
                  <a:srgbClr val="FFFFFF"/>
                </a:highlight>
                <a:latin typeface="Consolas"/>
                <a:ea typeface="Consolas"/>
                <a:cs typeface="Consolas"/>
                <a:sym typeface="Consolas"/>
              </a:rPr>
              <a:t>'topP'</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0.8</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A31515"/>
                </a:solidFill>
                <a:highlight>
                  <a:srgbClr val="FFFFFF"/>
                </a:highlight>
                <a:latin typeface="Consolas"/>
                <a:ea typeface="Consolas"/>
                <a:cs typeface="Consolas"/>
                <a:sym typeface="Consolas"/>
              </a:rPr>
              <a:t>'topK'</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A31515"/>
                </a:solidFill>
                <a:highlight>
                  <a:srgbClr val="FFFFFF"/>
                </a:highlight>
                <a:latin typeface="Consolas"/>
                <a:ea typeface="Consolas"/>
                <a:cs typeface="Consolas"/>
                <a:sym typeface="Consolas"/>
              </a:rPr>
              <a:t>'maxTokens'</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512</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A31515"/>
                </a:solidFill>
                <a:highlight>
                  <a:srgbClr val="FFFFFF"/>
                </a:highlight>
                <a:latin typeface="Consolas"/>
                <a:ea typeface="Consolas"/>
                <a:cs typeface="Consolas"/>
                <a:sym typeface="Consolas"/>
              </a:rPr>
              <a:t>'temperature'</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0.5</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A31515"/>
                </a:solidFill>
                <a:highlight>
                  <a:srgbClr val="FFFFFF"/>
                </a:highlight>
                <a:latin typeface="Consolas"/>
                <a:ea typeface="Consolas"/>
                <a:cs typeface="Consolas"/>
                <a:sym typeface="Consolas"/>
              </a:rPr>
              <a:t>'repetitionPenalty'</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1.1</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A31515"/>
                </a:solidFill>
                <a:highlight>
                  <a:srgbClr val="FFFFFF"/>
                </a:highlight>
                <a:latin typeface="Consolas"/>
                <a:ea typeface="Consolas"/>
                <a:cs typeface="Consolas"/>
                <a:sym typeface="Consolas"/>
              </a:rPr>
              <a:t>'stop'</a:t>
            </a:r>
            <a:r>
              <a:rPr lang="ko" sz="1050">
                <a:solidFill>
                  <a:schemeClr val="dk1"/>
                </a:solidFill>
                <a:highlight>
                  <a:srgbClr val="FFFFFF"/>
                </a:highlight>
                <a:latin typeface="Consolas"/>
                <a:ea typeface="Consolas"/>
                <a:cs typeface="Consolas"/>
                <a:sym typeface="Consolas"/>
              </a:rPr>
              <a:t>: [</a:t>
            </a:r>
            <a:r>
              <a:rPr lang="ko" sz="1050">
                <a:solidFill>
                  <a:srgbClr val="A31515"/>
                </a:solidFill>
                <a:highlight>
                  <a:srgbClr val="FFFFFF"/>
                </a:highlight>
                <a:latin typeface="Consolas"/>
                <a:ea typeface="Consolas"/>
                <a:cs typeface="Consolas"/>
                <a:sym typeface="Consolas"/>
              </a:rPr>
              <a:t>'###'</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A31515"/>
                </a:solidFill>
                <a:highlight>
                  <a:srgbClr val="FFFFFF"/>
                </a:highlight>
                <a:latin typeface="Consolas"/>
                <a:ea typeface="Consolas"/>
                <a:cs typeface="Consolas"/>
                <a:sym typeface="Consolas"/>
              </a:rPr>
              <a:t>'includeAiFilters'</a:t>
            </a:r>
            <a:r>
              <a:rPr lang="ko" sz="1050">
                <a:solidFill>
                  <a:schemeClr val="dk1"/>
                </a:solidFill>
                <a:highlight>
                  <a:srgbClr val="FFFFFF"/>
                </a:highlight>
                <a:latin typeface="Consolas"/>
                <a:ea typeface="Consolas"/>
                <a:cs typeface="Consolas"/>
                <a:sym typeface="Consolas"/>
              </a:rPr>
              <a:t>: </a:t>
            </a:r>
            <a:r>
              <a:rPr lang="ko" sz="1050">
                <a:solidFill>
                  <a:srgbClr val="0000FF"/>
                </a:solidFill>
                <a:highlight>
                  <a:srgbClr val="FFFFFF"/>
                </a:highlight>
                <a:latin typeface="Consolas"/>
                <a:ea typeface="Consolas"/>
                <a:cs typeface="Consolas"/>
                <a:sym typeface="Consolas"/>
              </a:rPr>
              <a:t>True</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A31515"/>
                </a:solidFill>
                <a:highlight>
                  <a:srgbClr val="FFFFFF"/>
                </a:highlight>
                <a:latin typeface="Consolas"/>
                <a:ea typeface="Consolas"/>
                <a:cs typeface="Consolas"/>
                <a:sym typeface="Consolas"/>
              </a:rPr>
              <a:t>'seed'</a:t>
            </a:r>
            <a:r>
              <a:rPr lang="ko" sz="1050">
                <a:solidFill>
                  <a:schemeClr val="dk1"/>
                </a:solidFill>
                <a:highlight>
                  <a:srgbClr val="FFFFFF"/>
                </a:highlight>
                <a:latin typeface="Consolas"/>
                <a:ea typeface="Consolas"/>
                <a:cs typeface="Consolas"/>
                <a:sym typeface="Consolas"/>
              </a:rPr>
              <a:t>: </a:t>
            </a:r>
            <a:r>
              <a:rPr lang="ko" sz="1050">
                <a:solidFill>
                  <a:srgbClr val="098658"/>
                </a:solidFill>
                <a:highlight>
                  <a:srgbClr val="FFFFFF"/>
                </a:highlight>
                <a:latin typeface="Consolas"/>
                <a:ea typeface="Consolas"/>
                <a:cs typeface="Consolas"/>
                <a:sym typeface="Consolas"/>
              </a:rPr>
              <a:t>0</a:t>
            </a:r>
            <a:endParaRPr sz="1050">
              <a:solidFill>
                <a:srgbClr val="098658"/>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print(</a:t>
            </a:r>
            <a:r>
              <a:rPr lang="ko" sz="1050">
                <a:solidFill>
                  <a:srgbClr val="A31515"/>
                </a:solidFill>
                <a:highlight>
                  <a:srgbClr val="FFFFFF"/>
                </a:highlight>
                <a:latin typeface="Consolas"/>
                <a:ea typeface="Consolas"/>
                <a:cs typeface="Consolas"/>
                <a:sym typeface="Consolas"/>
              </a:rPr>
              <a:t>'💦'</a:t>
            </a:r>
            <a:r>
              <a:rPr lang="ko" sz="1050">
                <a:solidFill>
                  <a:schemeClr val="dk1"/>
                </a:solidFill>
                <a:highlight>
                  <a:srgbClr val="FFFFFF"/>
                </a:highlight>
                <a:latin typeface="Consolas"/>
                <a:ea typeface="Consolas"/>
                <a:cs typeface="Consolas"/>
                <a:sym typeface="Consolas"/>
              </a:rPr>
              <a:t>, preset_text)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result_text = completion_executor.execute(request_data)</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st.markdown(result_text)</a:t>
            </a:r>
            <a:endParaRPr sz="1050">
              <a:solidFill>
                <a:schemeClr val="dk1"/>
              </a:solidFill>
              <a:highlight>
                <a:srgbClr val="FFFFFF"/>
              </a:highlight>
              <a:latin typeface="Consolas"/>
              <a:ea typeface="Consolas"/>
              <a:cs typeface="Consolas"/>
              <a:sym typeface="Consola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6"/>
          <p:cNvSpPr txBox="1"/>
          <p:nvPr/>
        </p:nvSpPr>
        <p:spPr>
          <a:xfrm>
            <a:off x="0" y="0"/>
            <a:ext cx="3000000" cy="15006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0"/>
              </a:spcBef>
              <a:spcAft>
                <a:spcPts val="0"/>
              </a:spcAft>
              <a:buNone/>
            </a:pPr>
            <a:r>
              <a:rPr lang="ko" sz="1800" u="sng">
                <a:solidFill>
                  <a:schemeClr val="hlink"/>
                </a:solidFill>
                <a:latin typeface="Open Sans"/>
                <a:ea typeface="Open Sans"/>
                <a:cs typeface="Open Sans"/>
                <a:sym typeface="Open Sans"/>
                <a:hlinkClick r:id="rId3"/>
              </a:rPr>
              <a:t>https://api.ncloud-docs.com/docs/clovastudio-chatcompletions</a:t>
            </a:r>
            <a:endParaRPr sz="1800">
              <a:solidFill>
                <a:srgbClr val="695D46"/>
              </a:solidFill>
              <a:latin typeface="Open Sans"/>
              <a:ea typeface="Open Sans"/>
              <a:cs typeface="Open Sans"/>
              <a:sym typeface="Open Sans"/>
            </a:endParaRPr>
          </a:p>
          <a:p>
            <a:pPr indent="0" lvl="0" marL="0" rtl="0" algn="l">
              <a:lnSpc>
                <a:spcPct val="125000"/>
              </a:lnSpc>
              <a:spcBef>
                <a:spcPts val="0"/>
              </a:spcBef>
              <a:spcAft>
                <a:spcPts val="0"/>
              </a:spcAft>
              <a:buNone/>
            </a:pPr>
            <a:r>
              <a:t/>
            </a:r>
            <a:endParaRPr sz="1800">
              <a:solidFill>
                <a:srgbClr val="695D46"/>
              </a:solidFill>
              <a:latin typeface="Open Sans"/>
              <a:ea typeface="Open Sans"/>
              <a:cs typeface="Open Sans"/>
              <a:sym typeface="Open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7"/>
          <p:cNvSpPr txBox="1"/>
          <p:nvPr/>
        </p:nvSpPr>
        <p:spPr>
          <a:xfrm>
            <a:off x="0" y="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ko"/>
              <a:t>https://www.data.go.kr/data/15083277/fileData.do</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8"/>
          <p:cNvSpPr txBox="1"/>
          <p:nvPr/>
        </p:nvSpPr>
        <p:spPr>
          <a:xfrm>
            <a:off x="0" y="0"/>
            <a:ext cx="3000000" cy="18816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ko" sz="1050">
                <a:solidFill>
                  <a:srgbClr val="0000FF"/>
                </a:solidFill>
                <a:highlight>
                  <a:srgbClr val="FFFFFF"/>
                </a:highlight>
                <a:latin typeface="Consolas"/>
                <a:ea typeface="Consolas"/>
                <a:cs typeface="Consolas"/>
                <a:sym typeface="Consolas"/>
              </a:rPr>
              <a:t>import</a:t>
            </a:r>
            <a:r>
              <a:rPr lang="ko" sz="1050">
                <a:solidFill>
                  <a:schemeClr val="dk1"/>
                </a:solidFill>
                <a:highlight>
                  <a:srgbClr val="FFFFFF"/>
                </a:highlight>
                <a:latin typeface="Consolas"/>
                <a:ea typeface="Consolas"/>
                <a:cs typeface="Consolas"/>
                <a:sym typeface="Consolas"/>
              </a:rPr>
              <a:t> os</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00FF"/>
                </a:solidFill>
                <a:highlight>
                  <a:srgbClr val="FFFFFF"/>
                </a:highlight>
                <a:latin typeface="Consolas"/>
                <a:ea typeface="Consolas"/>
                <a:cs typeface="Consolas"/>
                <a:sym typeface="Consolas"/>
              </a:rPr>
              <a:t>import</a:t>
            </a:r>
            <a:r>
              <a:rPr lang="ko" sz="1050">
                <a:solidFill>
                  <a:schemeClr val="dk1"/>
                </a:solidFill>
                <a:highlight>
                  <a:srgbClr val="FFFFFF"/>
                </a:highlight>
                <a:latin typeface="Consolas"/>
                <a:ea typeface="Consolas"/>
                <a:cs typeface="Consolas"/>
                <a:sym typeface="Consolas"/>
              </a:rPr>
              <a:t> warnings</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00FF"/>
                </a:solidFill>
                <a:highlight>
                  <a:srgbClr val="FFFFFF"/>
                </a:highlight>
                <a:latin typeface="Consolas"/>
                <a:ea typeface="Consolas"/>
                <a:cs typeface="Consolas"/>
                <a:sym typeface="Consolas"/>
              </a:rPr>
              <a:t>import</a:t>
            </a:r>
            <a:r>
              <a:rPr lang="ko" sz="1050">
                <a:solidFill>
                  <a:schemeClr val="dk1"/>
                </a:solidFill>
                <a:highlight>
                  <a:srgbClr val="FFFFFF"/>
                </a:highlight>
                <a:latin typeface="Consolas"/>
                <a:ea typeface="Consolas"/>
                <a:cs typeface="Consolas"/>
                <a:sym typeface="Consolas"/>
              </a:rPr>
              <a:t> numpy </a:t>
            </a:r>
            <a:r>
              <a:rPr lang="ko" sz="1050">
                <a:solidFill>
                  <a:srgbClr val="0000FF"/>
                </a:solidFill>
                <a:highlight>
                  <a:srgbClr val="FFFFFF"/>
                </a:highlight>
                <a:latin typeface="Consolas"/>
                <a:ea typeface="Consolas"/>
                <a:cs typeface="Consolas"/>
                <a:sym typeface="Consolas"/>
              </a:rPr>
              <a:t>as</a:t>
            </a:r>
            <a:r>
              <a:rPr lang="ko" sz="1050">
                <a:solidFill>
                  <a:schemeClr val="dk1"/>
                </a:solidFill>
                <a:highlight>
                  <a:srgbClr val="FFFFFF"/>
                </a:highlight>
                <a:latin typeface="Consolas"/>
                <a:ea typeface="Consolas"/>
                <a:cs typeface="Consolas"/>
                <a:sym typeface="Consolas"/>
              </a:rPr>
              <a:t> np</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00FF"/>
                </a:solidFill>
                <a:highlight>
                  <a:srgbClr val="FFFFFF"/>
                </a:highlight>
                <a:latin typeface="Consolas"/>
                <a:ea typeface="Consolas"/>
                <a:cs typeface="Consolas"/>
                <a:sym typeface="Consolas"/>
              </a:rPr>
              <a:t>import</a:t>
            </a:r>
            <a:r>
              <a:rPr lang="ko" sz="1050">
                <a:solidFill>
                  <a:schemeClr val="dk1"/>
                </a:solidFill>
                <a:highlight>
                  <a:srgbClr val="FFFFFF"/>
                </a:highlight>
                <a:latin typeface="Consolas"/>
                <a:ea typeface="Consolas"/>
                <a:cs typeface="Consolas"/>
                <a:sym typeface="Consolas"/>
              </a:rPr>
              <a:t> pandas </a:t>
            </a:r>
            <a:r>
              <a:rPr lang="ko" sz="1050">
                <a:solidFill>
                  <a:srgbClr val="0000FF"/>
                </a:solidFill>
                <a:highlight>
                  <a:srgbClr val="FFFFFF"/>
                </a:highlight>
                <a:latin typeface="Consolas"/>
                <a:ea typeface="Consolas"/>
                <a:cs typeface="Consolas"/>
                <a:sym typeface="Consolas"/>
              </a:rPr>
              <a:t>as</a:t>
            </a:r>
            <a:r>
              <a:rPr lang="ko" sz="1050">
                <a:solidFill>
                  <a:schemeClr val="dk1"/>
                </a:solidFill>
                <a:highlight>
                  <a:srgbClr val="FFFFFF"/>
                </a:highlight>
                <a:latin typeface="Consolas"/>
                <a:ea typeface="Consolas"/>
                <a:cs typeface="Consolas"/>
                <a:sym typeface="Consolas"/>
              </a:rPr>
              <a:t> pd</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00FF"/>
                </a:solidFill>
                <a:highlight>
                  <a:srgbClr val="FFFFFF"/>
                </a:highlight>
                <a:latin typeface="Consolas"/>
                <a:ea typeface="Consolas"/>
                <a:cs typeface="Consolas"/>
                <a:sym typeface="Consolas"/>
              </a:rPr>
              <a:t>import</a:t>
            </a:r>
            <a:r>
              <a:rPr lang="ko" sz="1050">
                <a:solidFill>
                  <a:schemeClr val="dk1"/>
                </a:solidFill>
                <a:highlight>
                  <a:srgbClr val="FFFFFF"/>
                </a:highlight>
                <a:latin typeface="Consolas"/>
                <a:ea typeface="Consolas"/>
                <a:cs typeface="Consolas"/>
                <a:sym typeface="Consolas"/>
              </a:rPr>
              <a:t> matplotlib.pyplot </a:t>
            </a:r>
            <a:r>
              <a:rPr lang="ko" sz="1050">
                <a:solidFill>
                  <a:srgbClr val="0000FF"/>
                </a:solidFill>
                <a:highlight>
                  <a:srgbClr val="FFFFFF"/>
                </a:highlight>
                <a:latin typeface="Consolas"/>
                <a:ea typeface="Consolas"/>
                <a:cs typeface="Consolas"/>
                <a:sym typeface="Consolas"/>
              </a:rPr>
              <a:t>as</a:t>
            </a:r>
            <a:r>
              <a:rPr lang="ko" sz="1050">
                <a:solidFill>
                  <a:schemeClr val="dk1"/>
                </a:solidFill>
                <a:highlight>
                  <a:srgbClr val="FFFFFF"/>
                </a:highlight>
                <a:latin typeface="Consolas"/>
                <a:ea typeface="Consolas"/>
                <a:cs typeface="Consolas"/>
                <a:sym typeface="Consolas"/>
              </a:rPr>
              <a:t> plt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00FF"/>
                </a:solidFill>
                <a:highlight>
                  <a:srgbClr val="FFFFFF"/>
                </a:highlight>
                <a:latin typeface="Consolas"/>
                <a:ea typeface="Consolas"/>
                <a:cs typeface="Consolas"/>
                <a:sym typeface="Consolas"/>
              </a:rPr>
              <a:t>import</a:t>
            </a:r>
            <a:r>
              <a:rPr lang="ko" sz="1050">
                <a:solidFill>
                  <a:schemeClr val="dk1"/>
                </a:solidFill>
                <a:highlight>
                  <a:srgbClr val="FFFFFF"/>
                </a:highlight>
                <a:latin typeface="Consolas"/>
                <a:ea typeface="Consolas"/>
                <a:cs typeface="Consolas"/>
                <a:sym typeface="Consolas"/>
              </a:rPr>
              <a:t> seaborn </a:t>
            </a:r>
            <a:r>
              <a:rPr lang="ko" sz="1050">
                <a:solidFill>
                  <a:srgbClr val="0000FF"/>
                </a:solidFill>
                <a:highlight>
                  <a:srgbClr val="FFFFFF"/>
                </a:highlight>
                <a:latin typeface="Consolas"/>
                <a:ea typeface="Consolas"/>
                <a:cs typeface="Consolas"/>
                <a:sym typeface="Consolas"/>
              </a:rPr>
              <a:t>as</a:t>
            </a:r>
            <a:r>
              <a:rPr lang="ko" sz="1050">
                <a:solidFill>
                  <a:schemeClr val="dk1"/>
                </a:solidFill>
                <a:highlight>
                  <a:srgbClr val="FFFFFF"/>
                </a:highlight>
                <a:latin typeface="Consolas"/>
                <a:ea typeface="Consolas"/>
                <a:cs typeface="Consolas"/>
                <a:sym typeface="Consolas"/>
              </a:rPr>
              <a:t> sns</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warnings.filterwarnings(</a:t>
            </a:r>
            <a:r>
              <a:rPr lang="ko" sz="1050">
                <a:solidFill>
                  <a:srgbClr val="A31515"/>
                </a:solidFill>
                <a:highlight>
                  <a:srgbClr val="FFFFFF"/>
                </a:highlight>
                <a:latin typeface="Consolas"/>
                <a:ea typeface="Consolas"/>
                <a:cs typeface="Consolas"/>
                <a:sym typeface="Consolas"/>
              </a:rPr>
              <a:t>'ignore'</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9"/>
          <p:cNvSpPr txBox="1"/>
          <p:nvPr/>
        </p:nvSpPr>
        <p:spPr>
          <a:xfrm>
            <a:off x="0" y="0"/>
            <a:ext cx="3000000" cy="42945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ko" sz="1050">
                <a:solidFill>
                  <a:srgbClr val="008000"/>
                </a:solidFill>
                <a:highlight>
                  <a:srgbClr val="FFFFFF"/>
                </a:highlight>
                <a:latin typeface="Consolas"/>
                <a:ea typeface="Consolas"/>
                <a:cs typeface="Consolas"/>
                <a:sym typeface="Consolas"/>
              </a:rPr>
              <a:t># 한글폰트 설정</a:t>
            </a:r>
            <a:endParaRPr sz="10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00FF"/>
                </a:solidFill>
                <a:highlight>
                  <a:srgbClr val="FFFFFF"/>
                </a:highlight>
                <a:latin typeface="Consolas"/>
                <a:ea typeface="Consolas"/>
                <a:cs typeface="Consolas"/>
                <a:sym typeface="Consolas"/>
              </a:rPr>
              <a:t>from</a:t>
            </a:r>
            <a:r>
              <a:rPr lang="ko" sz="1050">
                <a:solidFill>
                  <a:schemeClr val="dk1"/>
                </a:solidFill>
                <a:highlight>
                  <a:srgbClr val="FFFFFF"/>
                </a:highlight>
                <a:latin typeface="Consolas"/>
                <a:ea typeface="Consolas"/>
                <a:cs typeface="Consolas"/>
                <a:sym typeface="Consolas"/>
              </a:rPr>
              <a:t> matplotlib </a:t>
            </a:r>
            <a:r>
              <a:rPr lang="ko" sz="1050">
                <a:solidFill>
                  <a:srgbClr val="0000FF"/>
                </a:solidFill>
                <a:highlight>
                  <a:srgbClr val="FFFFFF"/>
                </a:highlight>
                <a:latin typeface="Consolas"/>
                <a:ea typeface="Consolas"/>
                <a:cs typeface="Consolas"/>
                <a:sym typeface="Consolas"/>
              </a:rPr>
              <a:t>import</a:t>
            </a:r>
            <a:r>
              <a:rPr lang="ko" sz="1050">
                <a:solidFill>
                  <a:schemeClr val="dk1"/>
                </a:solidFill>
                <a:highlight>
                  <a:srgbClr val="FFFFFF"/>
                </a:highlight>
                <a:latin typeface="Consolas"/>
                <a:ea typeface="Consolas"/>
                <a:cs typeface="Consolas"/>
                <a:sym typeface="Consolas"/>
              </a:rPr>
              <a:t> font_manager, rc</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00FF"/>
                </a:solidFill>
                <a:highlight>
                  <a:srgbClr val="FFFFFF"/>
                </a:highlight>
                <a:latin typeface="Consolas"/>
                <a:ea typeface="Consolas"/>
                <a:cs typeface="Consolas"/>
                <a:sym typeface="Consolas"/>
              </a:rPr>
              <a:t>import</a:t>
            </a:r>
            <a:r>
              <a:rPr lang="ko" sz="1050">
                <a:solidFill>
                  <a:schemeClr val="dk1"/>
                </a:solidFill>
                <a:highlight>
                  <a:srgbClr val="FFFFFF"/>
                </a:highlight>
                <a:latin typeface="Consolas"/>
                <a:ea typeface="Consolas"/>
                <a:cs typeface="Consolas"/>
                <a:sym typeface="Consolas"/>
              </a:rPr>
              <a:t> platform</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00FF"/>
                </a:solidFill>
                <a:highlight>
                  <a:srgbClr val="FFFFFF"/>
                </a:highlight>
                <a:latin typeface="Consolas"/>
                <a:ea typeface="Consolas"/>
                <a:cs typeface="Consolas"/>
                <a:sym typeface="Consolas"/>
              </a:rPr>
              <a:t>try</a:t>
            </a:r>
            <a:r>
              <a:rPr lang="ko" sz="1050">
                <a:solidFill>
                  <a:schemeClr val="dk1"/>
                </a:solidFill>
                <a:highlight>
                  <a:srgbClr val="FFFFFF"/>
                </a:highlight>
                <a:latin typeface="Consolas"/>
                <a:ea typeface="Consolas"/>
                <a:cs typeface="Consolas"/>
                <a:sym typeface="Consolas"/>
              </a:rPr>
              <a:t>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0000FF"/>
                </a:solidFill>
                <a:highlight>
                  <a:srgbClr val="FFFFFF"/>
                </a:highlight>
                <a:latin typeface="Consolas"/>
                <a:ea typeface="Consolas"/>
                <a:cs typeface="Consolas"/>
                <a:sym typeface="Consolas"/>
              </a:rPr>
              <a:t>if</a:t>
            </a:r>
            <a:r>
              <a:rPr lang="ko" sz="1050">
                <a:solidFill>
                  <a:schemeClr val="dk1"/>
                </a:solidFill>
                <a:highlight>
                  <a:srgbClr val="FFFFFF"/>
                </a:highlight>
                <a:latin typeface="Consolas"/>
                <a:ea typeface="Consolas"/>
                <a:cs typeface="Consolas"/>
                <a:sym typeface="Consolas"/>
              </a:rPr>
              <a:t> platform.system() == </a:t>
            </a:r>
            <a:r>
              <a:rPr lang="ko" sz="1050">
                <a:solidFill>
                  <a:srgbClr val="A31515"/>
                </a:solidFill>
                <a:highlight>
                  <a:srgbClr val="FFFFFF"/>
                </a:highlight>
                <a:latin typeface="Consolas"/>
                <a:ea typeface="Consolas"/>
                <a:cs typeface="Consolas"/>
                <a:sym typeface="Consolas"/>
              </a:rPr>
              <a:t>'Windows'</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008000"/>
                </a:solidFill>
                <a:highlight>
                  <a:srgbClr val="FFFFFF"/>
                </a:highlight>
                <a:latin typeface="Consolas"/>
                <a:ea typeface="Consolas"/>
                <a:cs typeface="Consolas"/>
                <a:sym typeface="Consolas"/>
              </a:rPr>
              <a:t># 윈도우인 경우</a:t>
            </a:r>
            <a:endParaRPr sz="10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font_name = font_manager.FontProperties(fname=</a:t>
            </a:r>
            <a:r>
              <a:rPr lang="ko" sz="1050">
                <a:solidFill>
                  <a:srgbClr val="A31515"/>
                </a:solidFill>
                <a:highlight>
                  <a:srgbClr val="FFFFFF"/>
                </a:highlight>
                <a:latin typeface="Consolas"/>
                <a:ea typeface="Consolas"/>
                <a:cs typeface="Consolas"/>
                <a:sym typeface="Consolas"/>
              </a:rPr>
              <a:t>"c:/Windows/Fonts/malgun.ttf"</a:t>
            </a:r>
            <a:r>
              <a:rPr lang="ko" sz="1050">
                <a:solidFill>
                  <a:schemeClr val="dk1"/>
                </a:solidFill>
                <a:highlight>
                  <a:srgbClr val="FFFFFF"/>
                </a:highlight>
                <a:latin typeface="Consolas"/>
                <a:ea typeface="Consolas"/>
                <a:cs typeface="Consolas"/>
                <a:sym typeface="Consolas"/>
              </a:rPr>
              <a:t>).get_name()</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rc(</a:t>
            </a:r>
            <a:r>
              <a:rPr lang="ko" sz="1050">
                <a:solidFill>
                  <a:srgbClr val="A31515"/>
                </a:solidFill>
                <a:highlight>
                  <a:srgbClr val="FFFFFF"/>
                </a:highlight>
                <a:latin typeface="Consolas"/>
                <a:ea typeface="Consolas"/>
                <a:cs typeface="Consolas"/>
                <a:sym typeface="Consolas"/>
              </a:rPr>
              <a:t>'font'</a:t>
            </a:r>
            <a:r>
              <a:rPr lang="ko" sz="1050">
                <a:solidFill>
                  <a:schemeClr val="dk1"/>
                </a:solidFill>
                <a:highlight>
                  <a:srgbClr val="FFFFFF"/>
                </a:highlight>
                <a:latin typeface="Consolas"/>
                <a:ea typeface="Consolas"/>
                <a:cs typeface="Consolas"/>
                <a:sym typeface="Consolas"/>
              </a:rPr>
              <a:t>, family=font_name)</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0000FF"/>
                </a:solidFill>
                <a:highlight>
                  <a:srgbClr val="FFFFFF"/>
                </a:highlight>
                <a:latin typeface="Consolas"/>
                <a:ea typeface="Consolas"/>
                <a:cs typeface="Consolas"/>
                <a:sym typeface="Consolas"/>
              </a:rPr>
              <a:t>else</a:t>
            </a:r>
            <a:r>
              <a:rPr lang="ko" sz="1050">
                <a:solidFill>
                  <a:schemeClr val="dk1"/>
                </a:solidFill>
                <a:highlight>
                  <a:srgbClr val="FFFFFF"/>
                </a:highlight>
                <a:latin typeface="Consolas"/>
                <a:ea typeface="Consolas"/>
                <a:cs typeface="Consolas"/>
                <a:sym typeface="Consolas"/>
              </a:rPr>
              <a:t>: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008000"/>
                </a:solidFill>
                <a:highlight>
                  <a:srgbClr val="FFFFFF"/>
                </a:highlight>
                <a:latin typeface="Consolas"/>
                <a:ea typeface="Consolas"/>
                <a:cs typeface="Consolas"/>
                <a:sym typeface="Consolas"/>
              </a:rPr>
              <a:t># Mac 인 경우</a:t>
            </a:r>
            <a:endParaRPr sz="1050">
              <a:solidFill>
                <a:srgbClr val="008000"/>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rc(</a:t>
            </a:r>
            <a:r>
              <a:rPr lang="ko" sz="1050">
                <a:solidFill>
                  <a:srgbClr val="A31515"/>
                </a:solidFill>
                <a:highlight>
                  <a:srgbClr val="FFFFFF"/>
                </a:highlight>
                <a:latin typeface="Consolas"/>
                <a:ea typeface="Consolas"/>
                <a:cs typeface="Consolas"/>
                <a:sym typeface="Consolas"/>
              </a:rPr>
              <a:t>'font'</a:t>
            </a:r>
            <a:r>
              <a:rPr lang="ko" sz="1050">
                <a:solidFill>
                  <a:schemeClr val="dk1"/>
                </a:solidFill>
                <a:highlight>
                  <a:srgbClr val="FFFFFF"/>
                </a:highlight>
                <a:latin typeface="Consolas"/>
                <a:ea typeface="Consolas"/>
                <a:cs typeface="Consolas"/>
                <a:sym typeface="Consolas"/>
              </a:rPr>
              <a:t>, family=</a:t>
            </a:r>
            <a:r>
              <a:rPr lang="ko" sz="1050">
                <a:solidFill>
                  <a:srgbClr val="A31515"/>
                </a:solidFill>
                <a:highlight>
                  <a:srgbClr val="FFFFFF"/>
                </a:highlight>
                <a:latin typeface="Consolas"/>
                <a:ea typeface="Consolas"/>
                <a:cs typeface="Consolas"/>
                <a:sym typeface="Consolas"/>
              </a:rPr>
              <a:t>'AppleGothic'</a:t>
            </a:r>
            <a:r>
              <a:rPr lang="ko" sz="1050">
                <a:solidFill>
                  <a:schemeClr val="dk1"/>
                </a:solidFill>
                <a:highlight>
                  <a:srgbClr val="FFFFFF"/>
                </a:highlight>
                <a:latin typeface="Consolas"/>
                <a:ea typeface="Consolas"/>
                <a:cs typeface="Consolas"/>
                <a:sym typeface="Consolas"/>
              </a:rPr>
              <a:t>)</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rgbClr val="0000FF"/>
                </a:solidFill>
                <a:highlight>
                  <a:srgbClr val="FFFFFF"/>
                </a:highlight>
                <a:latin typeface="Consolas"/>
                <a:ea typeface="Consolas"/>
                <a:cs typeface="Consolas"/>
                <a:sym typeface="Consolas"/>
              </a:rPr>
              <a:t>except</a:t>
            </a:r>
            <a:r>
              <a:rPr lang="ko" sz="1050">
                <a:solidFill>
                  <a:schemeClr val="dk1"/>
                </a:solidFill>
                <a:highlight>
                  <a:srgbClr val="FFFFFF"/>
                </a:highlight>
                <a:latin typeface="Consolas"/>
                <a:ea typeface="Consolas"/>
                <a:cs typeface="Consolas"/>
                <a:sym typeface="Consolas"/>
              </a:rPr>
              <a:t> :</a:t>
            </a:r>
            <a:endParaRPr sz="1050">
              <a:solidFill>
                <a:schemeClr val="dk1"/>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    </a:t>
            </a:r>
            <a:r>
              <a:rPr lang="ko" sz="1050">
                <a:solidFill>
                  <a:srgbClr val="0000FF"/>
                </a:solidFill>
                <a:highlight>
                  <a:srgbClr val="FFFFFF"/>
                </a:highlight>
                <a:latin typeface="Consolas"/>
                <a:ea typeface="Consolas"/>
                <a:cs typeface="Consolas"/>
                <a:sym typeface="Consolas"/>
              </a:rPr>
              <a:t>pass</a:t>
            </a:r>
            <a:endParaRPr sz="1050">
              <a:solidFill>
                <a:srgbClr val="0000FF"/>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ko" sz="1050">
                <a:solidFill>
                  <a:schemeClr val="dk1"/>
                </a:solidFill>
                <a:highlight>
                  <a:srgbClr val="FFFFFF"/>
                </a:highlight>
                <a:latin typeface="Consolas"/>
                <a:ea typeface="Consolas"/>
                <a:cs typeface="Consolas"/>
                <a:sym typeface="Consolas"/>
              </a:rPr>
              <a:t>plt.rcParams[</a:t>
            </a:r>
            <a:r>
              <a:rPr lang="ko" sz="1050">
                <a:solidFill>
                  <a:srgbClr val="A31515"/>
                </a:solidFill>
                <a:highlight>
                  <a:srgbClr val="FFFFFF"/>
                </a:highlight>
                <a:latin typeface="Consolas"/>
                <a:ea typeface="Consolas"/>
                <a:cs typeface="Consolas"/>
                <a:sym typeface="Consolas"/>
              </a:rPr>
              <a:t>'axes.unicode_minus'</a:t>
            </a:r>
            <a:r>
              <a:rPr lang="ko" sz="1050">
                <a:solidFill>
                  <a:schemeClr val="dk1"/>
                </a:solidFill>
                <a:highlight>
                  <a:srgbClr val="FFFFFF"/>
                </a:highlight>
                <a:latin typeface="Consolas"/>
                <a:ea typeface="Consolas"/>
                <a:cs typeface="Consolas"/>
                <a:sym typeface="Consolas"/>
              </a:rPr>
              <a:t>] = </a:t>
            </a:r>
            <a:r>
              <a:rPr lang="ko" sz="1050">
                <a:solidFill>
                  <a:srgbClr val="0000FF"/>
                </a:solidFill>
                <a:highlight>
                  <a:srgbClr val="FFFFFF"/>
                </a:highlight>
                <a:latin typeface="Consolas"/>
                <a:ea typeface="Consolas"/>
                <a:cs typeface="Consolas"/>
                <a:sym typeface="Consolas"/>
              </a:rPr>
              <a:t>False</a:t>
            </a:r>
            <a:r>
              <a:rPr lang="ko" sz="1050">
                <a:solidFill>
                  <a:schemeClr val="dk1"/>
                </a:solidFill>
                <a:highlight>
                  <a:srgbClr val="FFFFFF"/>
                </a:highlight>
                <a:latin typeface="Consolas"/>
                <a:ea typeface="Consolas"/>
                <a:cs typeface="Consolas"/>
                <a:sym typeface="Consolas"/>
              </a:rPr>
              <a:t>  </a:t>
            </a:r>
            <a:endParaRPr sz="1050">
              <a:solidFill>
                <a:schemeClr val="dk1"/>
              </a:solidFill>
              <a:highlight>
                <a:srgbClr val="FFFFFF"/>
              </a:highlight>
              <a:latin typeface="Consolas"/>
              <a:ea typeface="Consolas"/>
              <a:cs typeface="Consolas"/>
              <a:sym typeface="Consola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30"/>
          <p:cNvSpPr txBox="1"/>
          <p:nvPr/>
        </p:nvSpPr>
        <p:spPr>
          <a:xfrm>
            <a:off x="0" y="0"/>
            <a:ext cx="3000000" cy="1139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ko"/>
              <a:t>|                          변경 전 | 변경 후                 |</a:t>
            </a:r>
            <a:endParaRPr/>
          </a:p>
          <a:p>
            <a:pPr indent="0" lvl="0" marL="0" rtl="0" algn="l">
              <a:spcBef>
                <a:spcPts val="0"/>
              </a:spcBef>
              <a:spcAft>
                <a:spcPts val="0"/>
              </a:spcAft>
              <a:buNone/>
            </a:pPr>
            <a:r>
              <a:rPr lang="ko"/>
              <a:t>| -------------------------------: | ----------------------- |</a:t>
            </a:r>
            <a:endParaRPr/>
          </a:p>
          <a:p>
            <a:pPr indent="0" lvl="0" marL="0" rtl="0" algn="l">
              <a:spcBef>
                <a:spcPts val="0"/>
              </a:spcBef>
              <a:spcAft>
                <a:spcPts val="0"/>
              </a:spcAft>
              <a:buNone/>
            </a:pPr>
            <a:r>
              <a:rPr lang="ko"/>
              <a:t>|                     자료생성년월 | **삭제**                |</a:t>
            </a:r>
            <a:endParaRPr/>
          </a:p>
          <a:p>
            <a:pPr indent="0" lvl="0" marL="0" rtl="0" algn="l">
              <a:spcBef>
                <a:spcPts val="0"/>
              </a:spcBef>
              <a:spcAft>
                <a:spcPts val="0"/>
              </a:spcAft>
              <a:buNone/>
            </a:pPr>
            <a:r>
              <a:rPr lang="ko"/>
              <a:t>|                         사업장명 | 사업장명                |</a:t>
            </a:r>
            <a:endParaRPr/>
          </a:p>
          <a:p>
            <a:pPr indent="0" lvl="0" marL="0" rtl="0" algn="l">
              <a:spcBef>
                <a:spcPts val="0"/>
              </a:spcBef>
              <a:spcAft>
                <a:spcPts val="0"/>
              </a:spcAft>
              <a:buNone/>
            </a:pPr>
            <a:r>
              <a:rPr lang="ko"/>
              <a:t>|                   사업자등록번호 | 사업자등록번호          |</a:t>
            </a:r>
            <a:endParaRPr/>
          </a:p>
          <a:p>
            <a:pPr indent="0" lvl="0" marL="0" rtl="0" algn="l">
              <a:spcBef>
                <a:spcPts val="0"/>
              </a:spcBef>
              <a:spcAft>
                <a:spcPts val="0"/>
              </a:spcAft>
              <a:buNone/>
            </a:pPr>
            <a:r>
              <a:rPr lang="ko"/>
              <a:t>| 사업장가입상태코드 1 등록 2 탈퇴 | 가입상태                |</a:t>
            </a:r>
            <a:endParaRPr/>
          </a:p>
          <a:p>
            <a:pPr indent="0" lvl="0" marL="0" rtl="0" algn="l">
              <a:spcBef>
                <a:spcPts val="0"/>
              </a:spcBef>
              <a:spcAft>
                <a:spcPts val="0"/>
              </a:spcAft>
              <a:buNone/>
            </a:pPr>
            <a:r>
              <a:rPr lang="ko"/>
              <a:t>|                         우편번호 | **우편번호**            |</a:t>
            </a:r>
            <a:endParaRPr/>
          </a:p>
          <a:p>
            <a:pPr indent="0" lvl="0" marL="0" rtl="0" algn="l">
              <a:spcBef>
                <a:spcPts val="0"/>
              </a:spcBef>
              <a:spcAft>
                <a:spcPts val="0"/>
              </a:spcAft>
              <a:buNone/>
            </a:pPr>
            <a:r>
              <a:rPr lang="ko"/>
              <a:t>|               사업장지번상세주소 | **삭제**                |</a:t>
            </a:r>
            <a:endParaRPr/>
          </a:p>
          <a:p>
            <a:pPr indent="0" lvl="0" marL="0" rtl="0" algn="l">
              <a:spcBef>
                <a:spcPts val="0"/>
              </a:spcBef>
              <a:spcAft>
                <a:spcPts val="0"/>
              </a:spcAft>
              <a:buNone/>
            </a:pPr>
            <a:r>
              <a:rPr lang="ko"/>
              <a:t>|             사업장도로명상세주소 | 주소                    |</a:t>
            </a:r>
            <a:endParaRPr/>
          </a:p>
          <a:p>
            <a:pPr indent="0" lvl="0" marL="0" rtl="0" algn="l">
              <a:spcBef>
                <a:spcPts val="0"/>
              </a:spcBef>
              <a:spcAft>
                <a:spcPts val="0"/>
              </a:spcAft>
              <a:buNone/>
            </a:pPr>
            <a:r>
              <a:rPr lang="ko"/>
              <a:t>|               고객법정동주소코드 | **삭제**                |</a:t>
            </a:r>
            <a:endParaRPr/>
          </a:p>
          <a:p>
            <a:pPr indent="0" lvl="0" marL="0" rtl="0" algn="l">
              <a:spcBef>
                <a:spcPts val="0"/>
              </a:spcBef>
              <a:spcAft>
                <a:spcPts val="0"/>
              </a:spcAft>
              <a:buNone/>
            </a:pPr>
            <a:r>
              <a:rPr lang="ko"/>
              <a:t>|               고객행정동주소코드 | **삭제**                |</a:t>
            </a:r>
            <a:endParaRPr/>
          </a:p>
          <a:p>
            <a:pPr indent="0" lvl="0" marL="0" rtl="0" algn="l">
              <a:spcBef>
                <a:spcPts val="0"/>
              </a:spcBef>
              <a:spcAft>
                <a:spcPts val="0"/>
              </a:spcAft>
              <a:buNone/>
            </a:pPr>
            <a:r>
              <a:rPr lang="ko"/>
              <a:t>|           법정동주소광역시도코드 | 시도코드                |</a:t>
            </a:r>
            <a:endParaRPr/>
          </a:p>
          <a:p>
            <a:pPr indent="0" lvl="0" marL="0" rtl="0" algn="l">
              <a:spcBef>
                <a:spcPts val="0"/>
              </a:spcBef>
              <a:spcAft>
                <a:spcPts val="0"/>
              </a:spcAft>
              <a:buNone/>
            </a:pPr>
            <a:r>
              <a:rPr lang="ko"/>
              <a:t>|       법정동주소광역시시군구코드 | 시군구코드              |</a:t>
            </a:r>
            <a:endParaRPr/>
          </a:p>
          <a:p>
            <a:pPr indent="0" lvl="0" marL="0" rtl="0" algn="l">
              <a:spcBef>
                <a:spcPts val="0"/>
              </a:spcBef>
              <a:spcAft>
                <a:spcPts val="0"/>
              </a:spcAft>
              <a:buNone/>
            </a:pPr>
            <a:r>
              <a:rPr lang="ko"/>
              <a:t>| 법정동주소광역시시군구읍면동코드 | 읍면동코드              |</a:t>
            </a:r>
            <a:endParaRPr/>
          </a:p>
          <a:p>
            <a:pPr indent="0" lvl="0" marL="0" rtl="0" algn="l">
              <a:spcBef>
                <a:spcPts val="0"/>
              </a:spcBef>
              <a:spcAft>
                <a:spcPts val="0"/>
              </a:spcAft>
              <a:buNone/>
            </a:pPr>
            <a:r>
              <a:rPr lang="ko"/>
              <a:t>| 사업장형태구분코드 1 법인 2 개인 | **삭제**                |</a:t>
            </a:r>
            <a:endParaRPr/>
          </a:p>
          <a:p>
            <a:pPr indent="0" lvl="0" marL="0" rtl="0" algn="l">
              <a:spcBef>
                <a:spcPts val="0"/>
              </a:spcBef>
              <a:spcAft>
                <a:spcPts val="0"/>
              </a:spcAft>
              <a:buNone/>
            </a:pPr>
            <a:r>
              <a:rPr lang="ko"/>
              <a:t>|                   사업장업종코드 | 업종코드                |</a:t>
            </a:r>
            <a:endParaRPr/>
          </a:p>
          <a:p>
            <a:pPr indent="0" lvl="0" marL="0" rtl="0" algn="l">
              <a:spcBef>
                <a:spcPts val="0"/>
              </a:spcBef>
              <a:spcAft>
                <a:spcPts val="0"/>
              </a:spcAft>
              <a:buNone/>
            </a:pPr>
            <a:r>
              <a:rPr lang="ko"/>
              <a:t>|                 사업장업종코드명 | 업종코드명              |</a:t>
            </a:r>
            <a:endParaRPr/>
          </a:p>
          <a:p>
            <a:pPr indent="0" lvl="0" marL="0" rtl="0" algn="l">
              <a:spcBef>
                <a:spcPts val="0"/>
              </a:spcBef>
              <a:spcAft>
                <a:spcPts val="0"/>
              </a:spcAft>
              <a:buNone/>
            </a:pPr>
            <a:r>
              <a:rPr lang="ko"/>
              <a:t>|                         적용일자 | **삭제**                |</a:t>
            </a:r>
            <a:endParaRPr/>
          </a:p>
          <a:p>
            <a:pPr indent="0" lvl="0" marL="0" rtl="0" algn="l">
              <a:spcBef>
                <a:spcPts val="0"/>
              </a:spcBef>
              <a:spcAft>
                <a:spcPts val="0"/>
              </a:spcAft>
              <a:buNone/>
            </a:pPr>
            <a:r>
              <a:rPr lang="ko"/>
              <a:t>|                       재등록일자 | **삭제**                |</a:t>
            </a:r>
            <a:endParaRPr/>
          </a:p>
          <a:p>
            <a:pPr indent="0" lvl="0" marL="0" rtl="0" algn="l">
              <a:spcBef>
                <a:spcPts val="0"/>
              </a:spcBef>
              <a:spcAft>
                <a:spcPts val="0"/>
              </a:spcAft>
              <a:buNone/>
            </a:pPr>
            <a:r>
              <a:rPr lang="ko"/>
              <a:t>|                         탈퇴일자 | 탈퇴일자                |</a:t>
            </a:r>
            <a:endParaRPr/>
          </a:p>
          <a:p>
            <a:pPr indent="0" lvl="0" marL="0" rtl="0" algn="l">
              <a:spcBef>
                <a:spcPts val="0"/>
              </a:spcBef>
              <a:spcAft>
                <a:spcPts val="0"/>
              </a:spcAft>
              <a:buNone/>
            </a:pPr>
            <a:r>
              <a:rPr lang="ko"/>
              <a:t>|                         가입자수 | 가입자수                |</a:t>
            </a:r>
            <a:endParaRPr/>
          </a:p>
          <a:p>
            <a:pPr indent="0" lvl="0" marL="0" rtl="0" algn="l">
              <a:spcBef>
                <a:spcPts val="0"/>
              </a:spcBef>
              <a:spcAft>
                <a:spcPts val="0"/>
              </a:spcAft>
              <a:buNone/>
            </a:pPr>
            <a:r>
              <a:rPr lang="ko"/>
              <a:t>|                     당월고지금액 | 금액                    |</a:t>
            </a:r>
            <a:endParaRPr/>
          </a:p>
          <a:p>
            <a:pPr indent="0" lvl="0" marL="0" rtl="0" algn="l">
              <a:spcBef>
                <a:spcPts val="0"/>
              </a:spcBef>
              <a:spcAft>
                <a:spcPts val="0"/>
              </a:spcAft>
              <a:buNone/>
            </a:pPr>
            <a:r>
              <a:rPr lang="ko"/>
              <a:t>|                     신규취득자수 | 신규                    |</a:t>
            </a:r>
            <a:endParaRPr/>
          </a:p>
          <a:p>
            <a:pPr indent="0" lvl="0" marL="0" rtl="0" algn="l">
              <a:spcBef>
                <a:spcPts val="0"/>
              </a:spcBef>
              <a:spcAft>
                <a:spcPts val="0"/>
              </a:spcAft>
              <a:buNone/>
            </a:pPr>
            <a:r>
              <a:rPr lang="ko"/>
              <a:t>|                     상실가입자수 | 상실                    |</a:t>
            </a:r>
            <a:endParaRPr/>
          </a:p>
          <a:p>
            <a:pPr indent="0" lvl="0" marL="0" rtl="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31"/>
          <p:cNvSpPr txBox="1"/>
          <p:nvPr/>
        </p:nvSpPr>
        <p:spPr>
          <a:xfrm>
            <a:off x="0" y="0"/>
            <a:ext cx="3000000" cy="535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ko"/>
              <a:t># 코드를 입력해 주세요</a:t>
            </a:r>
            <a:endParaRPr/>
          </a:p>
          <a:p>
            <a:pPr indent="0" lvl="0" marL="0" rtl="0" algn="l">
              <a:spcBef>
                <a:spcPts val="0"/>
              </a:spcBef>
              <a:spcAft>
                <a:spcPts val="0"/>
              </a:spcAft>
              <a:buNone/>
            </a:pPr>
            <a:r>
              <a:rPr lang="ko"/>
              <a:t>df.columns = [</a:t>
            </a:r>
            <a:endParaRPr/>
          </a:p>
          <a:p>
            <a:pPr indent="0" lvl="0" marL="0" rtl="0" algn="l">
              <a:spcBef>
                <a:spcPts val="0"/>
              </a:spcBef>
              <a:spcAft>
                <a:spcPts val="0"/>
              </a:spcAft>
              <a:buNone/>
            </a:pPr>
            <a:r>
              <a:rPr lang="ko"/>
              <a:t>    '자료생성년월', '사업장명', '사업자등록번호', '가입상태', '우편번호',</a:t>
            </a:r>
            <a:endParaRPr/>
          </a:p>
          <a:p>
            <a:pPr indent="0" lvl="0" marL="0" rtl="0" algn="l">
              <a:spcBef>
                <a:spcPts val="0"/>
              </a:spcBef>
              <a:spcAft>
                <a:spcPts val="0"/>
              </a:spcAft>
              <a:buNone/>
            </a:pPr>
            <a:r>
              <a:rPr lang="ko"/>
              <a:t>    '사업장지번상세주소', '주소', '고객법정동주소코드', '고객행정동주소코드', </a:t>
            </a:r>
            <a:endParaRPr/>
          </a:p>
          <a:p>
            <a:pPr indent="0" lvl="0" marL="0" rtl="0" algn="l">
              <a:spcBef>
                <a:spcPts val="0"/>
              </a:spcBef>
              <a:spcAft>
                <a:spcPts val="0"/>
              </a:spcAft>
              <a:buNone/>
            </a:pPr>
            <a:r>
              <a:rPr lang="ko"/>
              <a:t>    '시도코드', '시군구코드', '읍면동코드', </a:t>
            </a:r>
            <a:endParaRPr/>
          </a:p>
          <a:p>
            <a:pPr indent="0" lvl="0" marL="0" rtl="0" algn="l">
              <a:spcBef>
                <a:spcPts val="0"/>
              </a:spcBef>
              <a:spcAft>
                <a:spcPts val="0"/>
              </a:spcAft>
              <a:buNone/>
            </a:pPr>
            <a:r>
              <a:rPr lang="ko"/>
              <a:t>    '사업장형태구분코드 1 법인 2 개인', '업종코드', '업종코드명', </a:t>
            </a:r>
            <a:endParaRPr/>
          </a:p>
          <a:p>
            <a:pPr indent="0" lvl="0" marL="0" rtl="0" algn="l">
              <a:spcBef>
                <a:spcPts val="0"/>
              </a:spcBef>
              <a:spcAft>
                <a:spcPts val="0"/>
              </a:spcAft>
              <a:buNone/>
            </a:pPr>
            <a:r>
              <a:rPr lang="ko"/>
              <a:t>    '적용일자', '재등록일자', '탈퇴일자',</a:t>
            </a:r>
            <a:endParaRPr/>
          </a:p>
          <a:p>
            <a:pPr indent="0" lvl="0" marL="0" rtl="0" algn="l">
              <a:spcBef>
                <a:spcPts val="0"/>
              </a:spcBef>
              <a:spcAft>
                <a:spcPts val="0"/>
              </a:spcAft>
              <a:buNone/>
            </a:pPr>
            <a:r>
              <a:rPr lang="ko"/>
              <a:t>    '가입자수', '금액', '신규', '상실'</a:t>
            </a:r>
            <a:endParaRPr/>
          </a:p>
          <a:p>
            <a:pPr indent="0" lvl="0" marL="0" rtl="0" algn="l">
              <a:spcBef>
                <a:spcPts val="0"/>
              </a:spcBef>
              <a:spcAft>
                <a:spcPts val="0"/>
              </a:spcAft>
              <a:buNone/>
            </a:pPr>
            <a:r>
              <a:rPr lang="ko"/>
              <a:t>]</a:t>
            </a:r>
            <a:endParaRPr/>
          </a:p>
          <a:p>
            <a:pPr indent="0" lvl="0" marL="0" rtl="0" algn="l">
              <a:spcBef>
                <a:spcPts val="0"/>
              </a:spcBef>
              <a:spcAft>
                <a:spcPts val="0"/>
              </a:spcAft>
              <a:buNone/>
            </a:pPr>
            <a:r>
              <a:rPr lang="ko"/>
              <a:t>df = df.drop(['자료생성년월', '우편번호', '사업장지번상세주소', '고객법정동주소코드', '고객행정동주소코드', '사업장형태구분코드 1 법인 2 개인', '적용일자', '재등록일자'], axis=1)</a:t>
            </a:r>
            <a:endParaRPr/>
          </a:p>
          <a:p>
            <a:pPr indent="0" lvl="0" marL="0" rtl="0" algn="l">
              <a:spcBef>
                <a:spcPts val="0"/>
              </a:spcBef>
              <a:spcAft>
                <a:spcPts val="0"/>
              </a:spcAft>
              <a:buNone/>
            </a:pPr>
            <a:r>
              <a:rPr lang="ko"/>
              <a:t>df.head()</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32"/>
          <p:cNvSpPr txBox="1"/>
          <p:nvPr/>
        </p:nvSpPr>
        <p:spPr>
          <a:xfrm>
            <a:off x="0" y="0"/>
            <a:ext cx="30000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ko"/>
              <a:t># Regular Expression(정규화) 모듈 사용</a:t>
            </a:r>
            <a:endParaRPr/>
          </a:p>
          <a:p>
            <a:pPr indent="0" lvl="0" marL="0" rtl="0" algn="l">
              <a:spcBef>
                <a:spcPts val="0"/>
              </a:spcBef>
              <a:spcAft>
                <a:spcPts val="0"/>
              </a:spcAft>
              <a:buNone/>
            </a:pPr>
            <a:r>
              <a:rPr lang="ko"/>
              <a:t>import re</a:t>
            </a:r>
            <a:endParaRPr/>
          </a:p>
          <a:p>
            <a:pPr indent="0" lvl="0" marL="0" rtl="0" algn="l">
              <a:spcBef>
                <a:spcPts val="0"/>
              </a:spcBef>
              <a:spcAft>
                <a:spcPts val="0"/>
              </a:spcAft>
              <a:buNone/>
            </a:pPr>
            <a:r>
              <a:t/>
            </a:r>
            <a:endParaRPr/>
          </a:p>
          <a:p>
            <a:pPr indent="0" lvl="0" marL="0" rtl="0" algn="l">
              <a:spcBef>
                <a:spcPts val="0"/>
              </a:spcBef>
              <a:spcAft>
                <a:spcPts val="0"/>
              </a:spcAft>
              <a:buNone/>
            </a:pPr>
            <a:r>
              <a:rPr lang="ko"/>
              <a:t>pattern1 =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33"/>
          <p:cNvSpPr txBox="1"/>
          <p:nvPr/>
        </p:nvSpPr>
        <p:spPr>
          <a:xfrm>
            <a:off x="0" y="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ko"/>
              <a:t>pattern2 = '(\[[^)]+\])'</a:t>
            </a:r>
            <a:endParaRPr/>
          </a:p>
          <a:p>
            <a:pPr indent="0" lvl="0" marL="0" rtl="0" algn="l">
              <a:spcBef>
                <a:spcPts val="0"/>
              </a:spcBef>
              <a:spcAft>
                <a:spcPts val="0"/>
              </a:spcAft>
              <a:buNone/>
            </a:pPr>
            <a:r>
              <a:rPr lang="ko"/>
              <a:t>re.sub(pattern2, '', '에스티테크[주]')</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4"/>
          <p:cNvSpPr txBox="1"/>
          <p:nvPr/>
        </p:nvSpPr>
        <p:spPr>
          <a:xfrm>
            <a:off x="0" y="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ko"/>
              <a:t>df.loc[df['사업장명'].str.contains('\/')].head(10)</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5"/>
          <p:cNvSpPr txBox="1"/>
          <p:nvPr/>
        </p:nvSpPr>
        <p:spPr>
          <a:xfrm>
            <a:off x="0" y="0"/>
            <a:ext cx="30000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ko"/>
              <a:t>pattern3 = '[^A-Za-z0-9가-힣]'</a:t>
            </a:r>
            <a:endParaRPr/>
          </a:p>
          <a:p>
            <a:pPr indent="0" lvl="0" marL="0" rtl="0" algn="l">
              <a:spcBef>
                <a:spcPts val="0"/>
              </a:spcBef>
              <a:spcAft>
                <a:spcPts val="0"/>
              </a:spcAft>
              <a:buNone/>
            </a:pPr>
            <a:r>
              <a:rPr lang="ko"/>
              <a:t>result = re.sub(pattern3, ' ', '*^%$^의료법인%해정^&amp;*****%!@의료재단/더/좋은/병원')</a:t>
            </a:r>
            <a:endParaRPr/>
          </a:p>
          <a:p>
            <a:pPr indent="0" lvl="0" marL="0" rtl="0" algn="l">
              <a:spcBef>
                <a:spcPts val="0"/>
              </a:spcBef>
              <a:spcAft>
                <a:spcPts val="0"/>
              </a:spcAft>
              <a:buNone/>
            </a:pPr>
            <a:r>
              <a:rPr lang="ko"/>
              <a:t>result = re.sub(' +', ' ', result)</a:t>
            </a:r>
            <a:endParaRPr/>
          </a:p>
          <a:p>
            <a:pPr indent="0" lvl="0" marL="0" rtl="0" algn="l">
              <a:spcBef>
                <a:spcPts val="0"/>
              </a:spcBef>
              <a:spcAft>
                <a:spcPts val="0"/>
              </a:spcAft>
              <a:buNone/>
            </a:pPr>
            <a:r>
              <a:rPr lang="ko"/>
              <a:t>result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6"/>
          <p:cNvSpPr txBox="1"/>
          <p:nvPr/>
        </p:nvSpPr>
        <p:spPr>
          <a:xfrm>
            <a:off x="0" y="0"/>
            <a:ext cx="3000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ko"/>
              <a:t># 검증코드 (변경전)</a:t>
            </a:r>
            <a:endParaRPr/>
          </a:p>
          <a:p>
            <a:pPr indent="0" lvl="0" marL="0" rtl="0" algn="l">
              <a:spcBef>
                <a:spcPts val="0"/>
              </a:spcBef>
              <a:spcAft>
                <a:spcPts val="0"/>
              </a:spcAft>
              <a:buNone/>
            </a:pPr>
            <a:r>
              <a:rPr lang="ko"/>
              <a:t>df.loc[[143146, 1284, 24109, 23092, 548425]]</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7"/>
          <p:cNvSpPr txBox="1"/>
          <p:nvPr/>
        </p:nvSpPr>
        <p:spPr>
          <a:xfrm>
            <a:off x="0" y="0"/>
            <a:ext cx="30000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ko"/>
              <a:t># 코드를 입력해 주세요</a:t>
            </a:r>
            <a:endParaRPr/>
          </a:p>
          <a:p>
            <a:pPr indent="0" lvl="0" marL="0" rtl="0" algn="l">
              <a:spcBef>
                <a:spcPts val="0"/>
              </a:spcBef>
              <a:spcAft>
                <a:spcPts val="0"/>
              </a:spcAft>
              <a:buNone/>
            </a:pPr>
            <a:r>
              <a:rPr lang="ko"/>
              <a:t>def preprocessing(x):</a:t>
            </a:r>
            <a:endParaRPr/>
          </a:p>
          <a:p>
            <a:pPr indent="0" lvl="0" marL="0" rtl="0" algn="l">
              <a:spcBef>
                <a:spcPts val="0"/>
              </a:spcBef>
              <a:spcAft>
                <a:spcPts val="0"/>
              </a:spcAft>
              <a:buNone/>
            </a:pPr>
            <a:r>
              <a:rPr lang="ko"/>
              <a:t>    x = re.sub(pattern1, '', x)</a:t>
            </a:r>
            <a:endParaRPr/>
          </a:p>
          <a:p>
            <a:pPr indent="0" lvl="0" marL="0" rtl="0" algn="l">
              <a:spcBef>
                <a:spcPts val="0"/>
              </a:spcBef>
              <a:spcAft>
                <a:spcPts val="0"/>
              </a:spcAft>
              <a:buNone/>
            </a:pPr>
            <a:r>
              <a:rPr lang="ko"/>
              <a:t>    x = re.sub(pattern2, '', x)</a:t>
            </a:r>
            <a:endParaRPr/>
          </a:p>
          <a:p>
            <a:pPr indent="0" lvl="0" marL="0" rtl="0" algn="l">
              <a:spcBef>
                <a:spcPts val="0"/>
              </a:spcBef>
              <a:spcAft>
                <a:spcPts val="0"/>
              </a:spcAft>
              <a:buNone/>
            </a:pPr>
            <a:r>
              <a:rPr lang="ko"/>
              <a:t>    x = re.sub(pattern3, ' ', x)</a:t>
            </a:r>
            <a:endParaRPr/>
          </a:p>
          <a:p>
            <a:pPr indent="0" lvl="0" marL="0" rtl="0" algn="l">
              <a:spcBef>
                <a:spcPts val="0"/>
              </a:spcBef>
              <a:spcAft>
                <a:spcPts val="0"/>
              </a:spcAft>
              <a:buNone/>
            </a:pPr>
            <a:r>
              <a:rPr lang="ko"/>
              <a:t>    x = re.sub(' +', ' ', x)</a:t>
            </a:r>
            <a:endParaRPr/>
          </a:p>
          <a:p>
            <a:pPr indent="0" lvl="0" marL="0" rtl="0" algn="l">
              <a:spcBef>
                <a:spcPts val="0"/>
              </a:spcBef>
              <a:spcAft>
                <a:spcPts val="0"/>
              </a:spcAft>
              <a:buNone/>
            </a:pPr>
            <a:r>
              <a:rPr lang="ko"/>
              <a:t>    return x</a:t>
            </a:r>
            <a:endParaRPr/>
          </a:p>
          <a:p>
            <a:pPr indent="0" lvl="0" marL="0" rtl="0" algn="l">
              <a:spcBef>
                <a:spcPts val="0"/>
              </a:spcBef>
              <a:spcAft>
                <a:spcPts val="0"/>
              </a:spcAft>
              <a:buNone/>
            </a:pPr>
            <a:r>
              <a:t/>
            </a:r>
            <a:endParaRPr/>
          </a:p>
          <a:p>
            <a:pPr indent="0" lvl="0" marL="0" rtl="0" algn="l">
              <a:spcBef>
                <a:spcPts val="0"/>
              </a:spcBef>
              <a:spcAft>
                <a:spcPts val="0"/>
              </a:spcAft>
              <a:buNone/>
            </a:pPr>
            <a:r>
              <a:rPr lang="ko"/>
              <a:t>df['사업장명'] = df['사업장명'].apply(preprocessing)</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8"/>
          <p:cNvSpPr txBox="1"/>
          <p:nvPr/>
        </p:nvSpPr>
        <p:spPr>
          <a:xfrm>
            <a:off x="0" y="0"/>
            <a:ext cx="3000000" cy="298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ko"/>
              <a:t># 코드를 입력해 주세요</a:t>
            </a:r>
            <a:endParaRPr/>
          </a:p>
          <a:p>
            <a:pPr indent="0" lvl="0" marL="0" rtl="0" algn="l">
              <a:spcBef>
                <a:spcPts val="0"/>
              </a:spcBef>
              <a:spcAft>
                <a:spcPts val="0"/>
              </a:spcAft>
              <a:buNone/>
            </a:pPr>
            <a:r>
              <a:rPr lang="ko"/>
              <a:t>df['탈퇴일자_연도'] =  pd.to_datetime(df['탈퇴일자']).dt.year</a:t>
            </a:r>
            <a:endParaRPr/>
          </a:p>
          <a:p>
            <a:pPr indent="0" lvl="0" marL="0" rtl="0" algn="l">
              <a:spcBef>
                <a:spcPts val="0"/>
              </a:spcBef>
              <a:spcAft>
                <a:spcPts val="0"/>
              </a:spcAft>
              <a:buNone/>
            </a:pPr>
            <a:r>
              <a:rPr lang="ko"/>
              <a:t>df['탈퇴일자_월'] =  pd.to_datetime(df['탈퇴일자']).dt.month</a:t>
            </a:r>
            <a:endParaRPr/>
          </a:p>
          <a:p>
            <a:pPr indent="0" lvl="0" marL="0" rtl="0" algn="l">
              <a:spcBef>
                <a:spcPts val="0"/>
              </a:spcBef>
              <a:spcAft>
                <a:spcPts val="0"/>
              </a:spcAft>
              <a:buNone/>
            </a:pPr>
            <a:r>
              <a:rPr lang="ko"/>
              <a:t>df.loc[(df['가입상태'] == 2) &amp; (df['탈퇴일자_연도'] == 2025), '탈퇴일자_월'].astype('int').value_counts().plot(kind='bar')</a:t>
            </a:r>
            <a:endParaRPr/>
          </a:p>
          <a:p>
            <a:pPr indent="0" lvl="0" marL="0" rtl="0" algn="l">
              <a:spcBef>
                <a:spcPts val="0"/>
              </a:spcBef>
              <a:spcAft>
                <a:spcPts val="0"/>
              </a:spcAft>
              <a:buNone/>
            </a:pPr>
            <a:r>
              <a:rPr lang="ko"/>
              <a:t>plt.title('월별 탈퇴 기업수')</a:t>
            </a:r>
            <a:endParaRPr/>
          </a:p>
          <a:p>
            <a:pPr indent="0" lvl="0" marL="0" rtl="0" algn="l">
              <a:spcBef>
                <a:spcPts val="0"/>
              </a:spcBef>
              <a:spcAft>
                <a:spcPts val="0"/>
              </a:spcAft>
              <a:buNone/>
            </a:pPr>
            <a:r>
              <a:rPr lang="ko"/>
              <a:t>plt.show()</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
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0" Type="http://schemas.openxmlformats.org/officeDocument/2006/relationships/slide" Target="slides/slide4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5ac7d10aa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5ac7d10aa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5ac7d10aa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5ac7d10aa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ac7d10aa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ac7d10aa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5ac7d10aaf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5ac7d10aa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5ac7d10aaf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5ac7d10aaf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5ac7d10aaf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5ac7d10aa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5ac7d10aaf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5ac7d10aaf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ac7d10aaf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ac7d10aaf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5ac7d10aaf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5ac7d10aaf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5ac7d10aaf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5ac7d10aaf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5ac7d10aaf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5ac7d10aaf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5ac7d10aaf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5ac7d10aaf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5ac7d10aaf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5ac7d10aaf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5ac7d10aaf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5ac7d10aaf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5ac7d10aaf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5ac7d10aaf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5ac7d10aaf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5ac7d10aaf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5ac7d10aaf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5ac7d10aaf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5ac7d10aaf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5ac7d10aaf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5ac7d10aaf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5ac7d10aaf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5ac7d10aaf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5ac7d10aaf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5ac7d10aaf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5ac7d10aaf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5ac7d10aaf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5ac7d10aaf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5ac7d10aaf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5ac7d10aaf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5ac7d10aaf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5ac7d10aaf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5ac7d10aaf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5ac7d10aaf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ac7d10aaf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5ac7d10aaf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5ac7d10aaf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5ac7d10aaf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ac7d10aaf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ac7d10aaf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5ac7d10aaf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5ac7d10aaf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5ac7d10aaf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5ac7d10aaf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5ac7d10aaf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5ac7d10aaf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5ac7d10aaf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5ac7d10aaf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5ac7d10aaf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5ac7d10aaf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5ac7d10aaf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5ac7d10aaf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5ac7d10aaf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5ac7d10aaf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5ac7d10aaf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5ac7d10aaf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5ac7d10aaf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5ac7d10aaf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5ac7d10aaf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5ac7d10aaf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5ac7d10aaf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5ac7d10aaf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5ac7d10aaf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5ac7d10aaf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5ac7d10aaf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5ac7d10aaf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5ac7d10aaf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5ac7d10aaf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5ac7d10aaf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5ac7d10aaf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5ac7d10aaf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5ac7d10aaf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0" y="0"/>
            <a:ext cx="30000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## 트랜스포머 아키텍쳐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세가지 어텐션이 각각 어디에서 이루어지는지 보여주는 그림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![](https://wikidocs.net/images/page/31379/transformer_attention_overview.PNG)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0" y="0"/>
            <a:ext cx="3000000" cy="90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![](https://wikidocs.net/images/page/31379/transformer9_final_ver.PNG)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트랜스포머는 하이퍼파라미터인 $\text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{num_layers}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개수의 인코더 층을 쌓습니다.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논문에서는 총 6개의 인코더 층을 사용.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인코더를 하나의 층이라는 개념으로 생각한다면, 하나의 인코더 층은 크게 총 2개의 서브층(sublayer)으로 나뉘어집니다.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**셀프 어텐션**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과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**피드 포워드 신경망**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입니다.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위의 그림에서 '멀티 헤드 셀프 어텐션(Multi-head Self Attention)'과 '포지션 와이즈 피드 포워드 신경망 (Position-wise FFNN)'이라고 적혀있는데, 이는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**'멀티 헤드' 셀프 어텐션**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은 셀프 어텐션을 '병렬적'으로 사용하였다는 의미고,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**포지션 와이즈 피드 포워드 신경망**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은 우리가 알고있는 일반적인 피드 포워드 신경망(FFN)입니다.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/>
        </p:nvSpPr>
        <p:spPr>
          <a:xfrm>
            <a:off x="0" y="0"/>
            <a:ext cx="3000000" cy="50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### 1) 셀프 어텐션의 의미와 이점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(복습) 어텐션 함수는 주어진 '쿼리(Query)'에 대해서 모든 '키(Key)'와의 유사도를 각각 구합니다. 그리고 구해낸 이 유사도를 가중치로 하여 키와 맵핑되어있는 각각의 '값(Value)'에 반영해줍니다. 그리고 유사도가 반영된 '값(Value)'을 모두 가중합하여 리턴합니다.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![](https://wikidocs.net/images/page/22893/%EC%BF%BC%EB%A6%AC.PNG)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/>
        </p:nvSpPr>
        <p:spPr>
          <a:xfrm>
            <a:off x="0" y="0"/>
            <a:ext cx="3000000" cy="16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여기까지는 앞서 배운 어텐션의 개념입니다. 그런데 어텐션 중에서는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**셀프 어텐션(self-attention)**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이라는 것이 있습니다. 어텐션을 자기 자신에게 수행한다는 의미입니다. 앞서 배운 seq2seq에서 어텐션을 사용할 경우의 Q, K, V의 정의를 다시 생각해봅시다.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```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Q = Query : t 시점의 디코더 셀에서의 은닉 상태</a:t>
            </a:r>
            <a:endParaRPr sz="1500">
              <a:solidFill>
                <a:srgbClr val="00108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K = Keys : 모든 시점의 인코더 셀의 은닉 상태들</a:t>
            </a:r>
            <a:endParaRPr sz="1500">
              <a:solidFill>
                <a:srgbClr val="00108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V = Values : 모든 시점의 인코더 셀의 은닉 상태들</a:t>
            </a:r>
            <a:endParaRPr sz="1500">
              <a:solidFill>
                <a:srgbClr val="00108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```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여기서,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**t 시점(타임스텝)**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이라는 것은 계속 변화하면서 반복적으로 쿼리를 수행하므로 결국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**전체 시점**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에 대해서 다음과 같이 일반화를 할 수도 있습니다.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```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Q = Querys : 모든 시점의 디코더 셀에서의 은닉 상태들</a:t>
            </a:r>
            <a:endParaRPr sz="1500">
              <a:solidFill>
                <a:srgbClr val="00108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K = Keys : 모든 시점의 인코더 셀의 은닉 상태들</a:t>
            </a:r>
            <a:endParaRPr sz="1500">
              <a:solidFill>
                <a:srgbClr val="00108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V = Values : 모든 시점의 인코더 셀의 은닉 상태들</a:t>
            </a:r>
            <a:endParaRPr sz="1500">
              <a:solidFill>
                <a:srgbClr val="00108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```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이처럼 기존에는 디코더 셀의 은닉 상태가 Q이고 인코더 셀의 은닉 상태가 K라는 점에서 Q와 K가 서로 다른 값을 가지고 있었습니다.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그런데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**셀프 어텐션**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에서는 Q, K, V가 전부 동일합니다.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트랜스포머의 셀프 어텐션에서의 Q, K, V는 아래와 같습니다.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```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Q : 입력 문장의 모든 단어 벡터들</a:t>
            </a:r>
            <a:endParaRPr sz="1500">
              <a:solidFill>
                <a:srgbClr val="00108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K : 입력 문장의 모든 단어 벡터들</a:t>
            </a:r>
            <a:endParaRPr sz="1500">
              <a:solidFill>
                <a:srgbClr val="00108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V : 입력 문장의 모든 단어 벡터들</a:t>
            </a:r>
            <a:endParaRPr sz="1500">
              <a:solidFill>
                <a:srgbClr val="00108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```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/>
        </p:nvSpPr>
        <p:spPr>
          <a:xfrm>
            <a:off x="0" y="0"/>
            <a:ext cx="3000000" cy="18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셀프 어텐션을 통해 얻을 수 있는 대표적인 효과 (예시)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![](https://wikidocs.net/images/page/31379/transformer10.png)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/>
        </p:nvSpPr>
        <p:spPr>
          <a:xfrm>
            <a:off x="0" y="0"/>
            <a:ext cx="3000000" cy="70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앞서 셀프 어텐션은 입력 문장의 단어 벡터들을 가지고 수행한다고 하였는데,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사실 셀프 어텐션은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인코더의 초기 입력인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$d_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{model}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$의 차원을 가지는 단어 벡터들을 사용하여 셀프 어텐션을 수행하는 것이 아니라!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우선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**각 단어 벡터들로부터 Q벡터, K벡터, V벡터를 얻는 작업**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을 거칩니다.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이때! 이 Q벡터, K벡터, V벡터들은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초기 입력인 $d_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{model}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 의 차원을 가지는 단어 벡터들보다 '더 작은 차원'을 가진다,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논문에서는,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$d_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{model}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$=512의 차원을 가졌던 각 단어 벡터들을 64의 차원을 가지는 Q벡터, K벡터, V벡터로 변환하였습니다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/>
        </p:nvSpPr>
        <p:spPr>
          <a:xfrm>
            <a:off x="0" y="0"/>
            <a:ext cx="3000000" cy="3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64라는 값은 트랜스포머의 또 다른 하이퍼파라미터인 $\text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{num_heads}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 로 인해 결정되는데,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트랜스포머는 $d_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{model}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 을 $\text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{num_heads}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$로 나눈 값을 각 Q벡터, K벡터, V벡터의 차원으로 결정합니다.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논문에서는 $\text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{num_heads}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 값을 8로 하였습니다. (512 / 8 = 64)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/>
        </p:nvSpPr>
        <p:spPr>
          <a:xfrm>
            <a:off x="0" y="0"/>
            <a:ext cx="3000000" cy="105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그림 예시]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![](https://wikidocs.net/images/page/31379/transformer11.PNG)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예를 들어 여기서 사용하고 있는 예문 중 student라는 단어 벡터를 Q, K, V의 벡터로 변환하는 과정을 보겠습니다.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800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&lt;br&gt;</a:t>
            </a:r>
            <a:endParaRPr sz="1500">
              <a:solidFill>
                <a:srgbClr val="800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기존의 벡터로부터 더 작은 벡터는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**'가중치 행렬'**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을 곱하므로서 완성됩니다.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곱해지는 각 '가중치 행렬'의 크기는 $d</a:t>
            </a:r>
            <a:r>
              <a:rPr i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_{model} \times (d_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{model}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/ \text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{num_heads}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)$ 입니다.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 가중치 행렬은 훈련 과정에서 '학습'됩니다.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즉, 논문과 같이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$d_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{model}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$=512 이고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$\text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{num_heads}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$=8 라면,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각 벡터에 3개의 서로 다른 가중치 행렬을 곱하고 64의 크기를 가지는 Q, K, V 벡터를 얻어냅니다.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위의 그림은 단어 벡터 중 student 벡터로부터 Q, K, V 벡터를 얻어내는 모습을 보여줍니다. 모든 단어 벡터에 위와 같은 과정을 거치면 I, am, a, student는 각각의 Q, K, V 벡터를 얻습니다.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/>
        </p:nvSpPr>
        <p:spPr>
          <a:xfrm>
            <a:off x="0" y="0"/>
            <a:ext cx="3000000" cy="47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### 3) 스케일드 닷-프로덕트 어텐션(Scaled dot-product Attention)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Q, K, V 벡터를 얻었다면 지금부터는 기존에 배운 어텐션 메커니즘과 동일합니다.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각 Q벡터는 모든 K벡터에 대해서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**어텐션 스코어**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를 구하고,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**어텐션 분포**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를 구한 뒤에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이를 사용하여 모든 V벡터를 가중합하여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**'어텐션 값' 또는 '컨텍스트 벡터'**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를 구하게 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그리고 이를 모든 Q벡터에 대해서 반복합니다.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/>
        </p:nvSpPr>
        <p:spPr>
          <a:xfrm>
            <a:off x="0" y="0"/>
            <a:ext cx="3000000" cy="61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#### Attention Score 구하기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이전에, 어텐션 챕터에서 배웠던 어텐션 함수중, 내적만을 사용하는 어텐션 함수 $score(q,k) = q \cdot k$  가 있었다.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트랜스포머에서는 여기에 특정값으로 나눠준 어텐션 함수인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$score(q,k) = q \cdot k$ / $\sqrt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{n}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$를 사용합니다.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이러한 함수를 사용하는 어텐션을 어텐션 챕터에서 배운 닷-프로덕트 어텐션(dot-product attention)에서 값을 스케일링하는 것을 추가하였다고 하여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**스케일드 닷-프로덕트 어텐션(Scaled dot-product Attention)**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이라고 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/>
          <p:nvPr/>
        </p:nvSpPr>
        <p:spPr>
          <a:xfrm>
            <a:off x="0" y="0"/>
            <a:ext cx="3000000" cy="128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![](https://wikidocs.net/images/page/31379/transformer13.PNG)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800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&lt;br&gt;</a:t>
            </a:r>
            <a:endParaRPr sz="1500">
              <a:solidFill>
                <a:srgbClr val="800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단어 시퀀스 : "I", "am", "a", "student"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우선 단어 "I" 에 대한 Q벡터를 기준으로 설명해보겠습니다.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※지금부터 설명하는 과정은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"am"에 대한 Q벡터,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"a"에 대한 Q벡터,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"student"에 대한 Q벡터에 대해서도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모두 동일한 과정을 거칩니다.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800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&lt;br&gt;</a:t>
            </a:r>
            <a:endParaRPr sz="1500">
              <a:solidFill>
                <a:srgbClr val="800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위의 그림은 단어 "I"에 대한 Q벡터가 모든 K벡터에 대해서 어텐션 스코어를 구하는 것을 보여줍니다.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※위의 128과 32는 그림 예시에서 임의로 가정한 수치로 신경쓰지 않아도 좋습니다.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위의 그림에서 어텐션 스코어는 각각 단어 "I"가 단어 "I", "am", "a", "student"와 얼마나 연관되어 있는지를 보여주는 수치입니다.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트랜스포머에서는 두 벡터의 내적값을 스케일링하는 값으로 K벡터의 차원을 나타내는 $d_k$에 루트를 씌운 $\sqrt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{d_k}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사용하는 것을 택했습니다.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앞서 언급하였듯이 논문에서 $d</a:t>
            </a:r>
            <a:r>
              <a:rPr i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_k$ 는 $d_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{model}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/ \text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{num_heads}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 라는 식에 따라서 64의 값을 가지므로 $\sqrt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{d_k}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$는 8의 값을 가집니다.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 txBox="1"/>
          <p:nvPr/>
        </p:nvSpPr>
        <p:spPr>
          <a:xfrm>
            <a:off x="0" y="0"/>
            <a:ext cx="3000000" cy="73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#### Attention Value 구하기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![](https://wikidocs.net/images/page/31379/transformer14_final.PNG)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이제 어텐션 스코어에 소프트맥스 함수를 사용하여 어텐션 분포(Attention Distribution)을 구하고, 각 V벡터와 가중합하여 어텐션 값(Attention Value)을 구합니다.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이를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**단어 "I"에 대한 어텐션 값**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또는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**단어 "I"에 대한 컨텍스트 벡터(context vector)**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라고도 할 수 있습니다.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am에 대한 Q벡터, a에 대 Q벡터, student에 대한 Q벡터에 대해서도 모두 동일한 과정을 반복하여 각각에 대한 어텐션 값을 구합니다.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5"/>
          <p:cNvSpPr txBox="1"/>
          <p:nvPr/>
        </p:nvSpPr>
        <p:spPr>
          <a:xfrm>
            <a:off x="0" y="0"/>
            <a:ext cx="30000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-우선, 각 단어 벡터마다 일일히 가중치 행렬을 곱하는 것이 아니라 '문장 행렬'에 '가중치 행렬'을 곱하여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**Q행렬, K행렬, V행렬**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을 구합니다.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![](https://wikidocs.net/images/page/31379/transformer12.PNG)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6"/>
          <p:cNvSpPr txBox="1"/>
          <p:nvPr/>
        </p:nvSpPr>
        <p:spPr>
          <a:xfrm>
            <a:off x="0" y="0"/>
            <a:ext cx="30000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행렬 연산을 통해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**어텐션 스코어**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는 어떻게 구할 수 있을까요?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여기서 Q행렬을 K행렬을 전치$^T$한 행렬과 곱해준다고 해봅시다.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이렇게 되면 각각의 단어의 Q벡터와 K벡터의 내적이 각 행렬의 원소가 되는 행렬이 결과로 나옵니다.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![](https://wikidocs.net/images/page/31379/transformer15.PNG)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7"/>
          <p:cNvSpPr txBox="1"/>
          <p:nvPr/>
        </p:nvSpPr>
        <p:spPr>
          <a:xfrm>
            <a:off x="0" y="0"/>
            <a:ext cx="3000000" cy="99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다시 말해 위의 그림의 결과 행렬의 값에 전체적으로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$\sqrt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{d_k}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$를 나누어주면 이는 각 행과 열이 어텐션 스코어 값을 가지는 행렬이 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예를 들어 "I" 행과 "student" 열의 값은 "I"의 Q벡터와 "student"의 K벡터의 어텐션 스코어 값입니다.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위 행렬을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**'어텐션 스코어 행렬'**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이라 합시다.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어텐션 스코어 행렬을 구하였다면 남은 것은 '어텐션 분포'를 구하고, 이를 사용하여 모든 단어에 대한 '어텐션 값'을 구하는 일입니다.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이는 간단하게 어텐션 스코어 행렬에 소프트맥스 함수를 사용하고, V행렬을 곱하는 것으로 해결됩니다.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이렇게 되면 각 단어의 어텐션 값을 모두 가지는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**어텐션 값 행렬 $a$**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 결과로 나옵니다.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![](https://wikidocs.net/images/page/31379/transformer16.PNG)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↑위의 그림은 행렬 연산을 통해 모든 값이 일괄 계산되는 과정을 식으로 보여줍니다.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8"/>
          <p:cNvSpPr txBox="1"/>
          <p:nvPr/>
        </p:nvSpPr>
        <p:spPr>
          <a:xfrm>
            <a:off x="0" y="0"/>
            <a:ext cx="3000000" cy="18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해당 식은 실제 트랜스포머 논문에 기재된 아래의 수식과 정확하게 일치하는 식입니다.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$$Attention(Q,K,V) = softmax(\dfrac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{QK^T}{\sqrt{d_k}}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)V$$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800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&lt;br&gt;</a:t>
            </a:r>
            <a:endParaRPr sz="1500">
              <a:solidFill>
                <a:srgbClr val="800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위의 행렬 연산에 사용된 행렬의 크기를 모두 정리해봅시다.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우선 입력 문장의 길이(단어개수)를 $\text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{seq_len}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 라고 해봅시다.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그렇다면 문장 행렬의 크기는 $(\text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{seq_len}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 d_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{model}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)$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입니다.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여기에 3개의 가중치 행렬을 곱해서 Q, K, V 행렬을 만들어야 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800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&lt;br&gt;</a:t>
            </a:r>
            <a:endParaRPr sz="1500">
              <a:solidFill>
                <a:srgbClr val="800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우선 행렬의 크기를 정의하기 위해 행렬의 각 행에 해당되는 Q벡터와 K벡터의 차원을 $d_k$라고 하고, V벡터의 차원을 $d_v$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라고 해봅시다.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그렇다면 Q행렬과 K행렬의 크기는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$(\text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{seq_len}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 d_k)$이며, V행렬의 크기는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$(\text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{seq_len}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 d_v)$가 되어야 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그렇다면 문장 행렬과 Q, K, V 행렬의 크기로부터 가중치 행렬의 크기 추정이 가능합니다.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$W^Q$ 와$W^K$ 는 $(d_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{model}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,d</a:t>
            </a:r>
            <a:r>
              <a:rPr i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_k)$ 의 크기를 가지며, $W^V$ 는 $(d_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{model}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,d_v)$의 크기를 가집니다.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단, 논문에서는 $d_k$ 와 $d</a:t>
            </a:r>
            <a:r>
              <a:rPr i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_v$의 차원은 $d_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{model}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/ \text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{num_heads}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 와 같습니다.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즉! $d_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{model}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/ \text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{num_heads}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= d_k = d_v $ 입니다.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800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&lt;br&gt;</a:t>
            </a:r>
            <a:endParaRPr sz="1500">
              <a:solidFill>
                <a:srgbClr val="800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결과적으로 $softmax(\dfrac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{QK^T}{\sqrt{d_k}}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)V$ 식을 적용하여 나오는 어텐션 값 $a$행렬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의 크기는 $(\text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{seq_len}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 d_v)$이 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9"/>
          <p:cNvSpPr txBox="1"/>
          <p:nvPr/>
        </p:nvSpPr>
        <p:spPr>
          <a:xfrm>
            <a:off x="0" y="0"/>
            <a:ext cx="3000000" cy="44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query 크기 : (batch_size, num_heads, query의 문장 길이, d_model/num_heads)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key 크기 : (batch_size, num_heads, key의 문장 길이, d_model/num_heads)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value 크기 : (batch_size, num_heads, value의 문장 길이, d_model/num_heads)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padding_mask : (batch_size, 1, 1, key의 문장 길이)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0"/>
          <p:cNvSpPr txBox="1"/>
          <p:nvPr/>
        </p:nvSpPr>
        <p:spPr>
          <a:xfrm>
            <a:off x="0" y="0"/>
            <a:ext cx="30000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패딩마스크. (이 내용은 나중에 설명합니다)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어텐션 스코어 행렬의 마스킹 할 위치에 매우 작은 음수값을 넣는다.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매우 작은 값이므로 소프트맥스 함수를 지나면 행렬의 해당 위치의 값은 0이 된다.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1"/>
          <p:cNvSpPr txBox="1"/>
          <p:nvPr/>
        </p:nvSpPr>
        <p:spPr>
          <a:xfrm>
            <a:off x="0" y="0"/>
            <a:ext cx="30000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소프트맥스 함수는 마지막 차원인 key의 문장 길이 방향으로 수행된다.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attention weight : (batch_size, num_heads, query의 문장 길이, key의 문장 길이)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2"/>
          <p:cNvSpPr txBox="1"/>
          <p:nvPr/>
        </p:nvSpPr>
        <p:spPr>
          <a:xfrm>
            <a:off x="0" y="0"/>
            <a:ext cx="30000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동작확인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임의의 Query, Key, Value인 Q, K, V 행렬 생성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3"/>
          <p:cNvSpPr txBox="1"/>
          <p:nvPr/>
        </p:nvSpPr>
        <p:spPr>
          <a:xfrm>
            <a:off x="0" y="0"/>
            <a:ext cx="3000000" cy="73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temp_k = tf.constant([[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                  [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                  [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                  [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]], dtype=tf.float32)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(4, 3)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temp_v = tf.constant([[   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                  [  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                  [ 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                  [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1000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]], dtype=tf.float32)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(4, 2)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temp_q = tf.constant([[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]], dtype=tf.float32)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(1, 3)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4"/>
          <p:cNvSpPr txBox="1"/>
          <p:nvPr/>
        </p:nvSpPr>
        <p:spPr>
          <a:xfrm>
            <a:off x="0" y="0"/>
            <a:ext cx="3000000" cy="67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### 6) 멀티 헤드 어텐션(Multi-head Attention)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병렬 어텐션!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앞서 배운 어텐션에서는 $d_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{model}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$의 차원을 가진 단어 벡터를 $\text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{num_heads}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$로 나눈 차원을 가지는 Q, K, V벡터로 바꾸고 어텐션을 수행하였습니다.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논문 기준으로는 512의 차원의 각 단어 벡터를 8로 나누어 64차원의 Q, K, V 벡터로 바꾸어서 어텐션을 수행한 셈인데,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이제 $\text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{num_heads}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 의 의미와, 왜 $d_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{model}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의 차원을 가진 단어 벡터를 가지고 어텐션을 하지 않고 차원을 축소시킨 벡터로 어텐션을 수행하였는지 알아보자.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5"/>
          <p:cNvSpPr txBox="1"/>
          <p:nvPr/>
        </p:nvSpPr>
        <p:spPr>
          <a:xfrm>
            <a:off x="0" y="0"/>
            <a:ext cx="3000000" cy="9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![](https://wikidocs.net/images/page/31379/transformer17.PNG)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트랜스포머 연구진은 한 번의 어텐션을 하는 것보다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**여러번의 어텐션을 병렬로 사용**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하는 것이 더 효과적이라고 판단하였습니다.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그래서 $d_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{model}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$의 차원을 $\text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{num_heads}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$개로 나누어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$d_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{model}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/ \text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{num_heads}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$의 차원을 가지는 Q, K, V에 대해서 $\text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{num_heads}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$개의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**병렬 어텐션**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을 수행합니다.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논문에서는 하이퍼파라미터인 $\text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{num_heads}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$의 값을 8로 지정하였고, 8개의 병렬 어텐션이 이루어지게 됩니다. 다시 말해 위에서 설명한 어텐션이 8개로 병렬로 이루어지게 되는데, 이때 각각의 어텐션 값 행렬을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**어텐션 헤드**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라고 부릅니다.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이때 가중치 행렬 $W^Q, W^K, W^V$ 의 값은 8개의 어텐션 헤드마다 전부 다릅니다.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/>
        </p:nvSpPr>
        <p:spPr>
          <a:xfrm>
            <a:off x="0" y="0"/>
            <a:ext cx="3000000" cy="9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병렬어텐션의 효과 :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**다른 시각으로 정보들을 수집**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할수 있다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예시]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앞서 사용한 예문을 상기해봅니다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```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'The animal didn't cross the street, because it was too tired'</a:t>
            </a:r>
            <a:endParaRPr sz="1500">
              <a:solidFill>
                <a:srgbClr val="00108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'그 동물은 길을 건너지 않았다. 왜냐하면 그것(it)은 너무 피곤하였기 때문이다.'</a:t>
            </a:r>
            <a:endParaRPr sz="1500">
              <a:solidFill>
                <a:srgbClr val="00108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```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단어 그것(it)이 쿼리였다고 해봅시다.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즉, it에 대한 Q벡터로부터 다른 단어와의 연관도를 구하였을 때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첫번째 어텐션 헤드는 '그것(it)'과 '동물(animal)'의 연관도를 높게 본다면,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두번째 어텐션 헤드는 '그것(it)'과 '피곤하였기 때문이다(tired)'의 연관도를 높게 볼 수 있습니다.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각 어텐션 헤드는 전부 다른 시각에서 보고있기 때문입니다.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7"/>
          <p:cNvSpPr txBox="1"/>
          <p:nvPr/>
        </p:nvSpPr>
        <p:spPr>
          <a:xfrm>
            <a:off x="0" y="0"/>
            <a:ext cx="3000000" cy="35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![](https://wikidocs.net/images/page/31379/transformer18_final.PNG)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병렬 어텐션을 모두 수행하였다면 모든 어텐션 헤드를 연결(concatenate)합니다.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모두 연결된 어텐션 헤드 행렬의 크기는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$(\text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{seq_len}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 d_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{model}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)$가 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8"/>
          <p:cNvSpPr txBox="1"/>
          <p:nvPr/>
        </p:nvSpPr>
        <p:spPr>
          <a:xfrm>
            <a:off x="0" y="0"/>
            <a:ext cx="3000000" cy="119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지금까지 그림에서는 학습 지면상의 한계로 '4차원'을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$d_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{model}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$=512로 표현하고, '2차원'을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$d</a:t>
            </a:r>
            <a:r>
              <a:rPr i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_v$=64로 표현해왔기 때문에 위의 그림의 행렬의 크기에 혼동의 있을 수 있으나 8개의 어텐션 헤드의 연결(concatenate) 과정의 이해를 위해 이번 행렬만 예외로 위와 같이 $d_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{model}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의 크기를 $d_v$ 의 8배인 16차원으로 표현하였습니다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아래의 그림에서는 다시 $d_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{model}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$을 4차원으로 표현합니다.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어텐션 헤드를 모두 연결한 행렬은 또 다른 가중치 행렬 $W^0$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을 곱하게 되는데,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이렇게 나온 결과 행렬이 멀티-헤드 어텐션의 최종 결과물입니다.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위의 그림은 어텐션 헤드를 모두 연결한 행렬이 가중치 행렬 $W^0$과 곱해지는 과정을 보여줍니다.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이때 결과물인 멀티-헤드 어텐션 행렬은 인코더의 입력이었던 문장 행렬의 $(\text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{seq_len}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 d_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{model}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)$의 크기와 동일합니다. (어래 그림)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![](https://wikidocs.net/images/page/31379/transformer19.PNG)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9"/>
          <p:cNvSpPr txBox="1"/>
          <p:nvPr/>
        </p:nvSpPr>
        <p:spPr>
          <a:xfrm>
            <a:off x="0" y="0"/>
            <a:ext cx="3000000" cy="73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**인코더의 '입력'크기는 '출력'에서도 유지된다!**</a:t>
            </a:r>
            <a:endParaRPr b="1"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다시 말해 인코더의 첫번째 서브층인 멀티-헤드 어텐션 단계를 끝마쳤을 때,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인코더의 입력으로 들어왔던 행렬의 크기가 아직 유지되고 있음을 기억해둡시다.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첫번째 서브층인 멀티-헤드 어텐션과 두번째 서브층인 포지션 와이즈 피드 포워드 신경망을 지나면서 인코더의 입력으로 들어올 때의 행렬의 크기는 계속 유지되어야 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트랜스포머는 동일한 구조의 인코더를 쌓은 구조입니다.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논문 기준으로는 인코더가 총 6개입니다.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인코더에서의 입력의 크기가 출력에서도 동일 크기로 계속 유지되어야만 다음 인코더에서도 다시 입력이 될 수 있습니다.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0"/>
          <p:cNvSpPr txBox="1"/>
          <p:nvPr/>
        </p:nvSpPr>
        <p:spPr>
          <a:xfrm>
            <a:off x="0" y="0"/>
            <a:ext cx="3000000" cy="67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### 7) ▶멀티 헤드 어텐션(Multi-head Attention) 구현하기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멀티 헤드 어텐션에서는 크게 두 종류의 가중치 행렬이 나왔습니다.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Q, K, V 행렬을 만들기 위한 가중치 행렬인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**WQ, WK, WV 행렬**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과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바로 어텐션 헤드들을 연결(concatenation) 후에 곱해주는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**WO 행렬**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입니다.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가중치 행렬을 곱하는 것을 구현 상에서는 입력을 전결합층. 즉, 밀집층(Dense layer)을 지나게 하여 구현합니다. 케라스 코드 상으로 지금까지 사용해왔던 Dense()에 해당됩니다.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```python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Dense(units)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```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1"/>
          <p:cNvSpPr txBox="1"/>
          <p:nvPr/>
        </p:nvSpPr>
        <p:spPr>
          <a:xfrm>
            <a:off x="0" y="0"/>
            <a:ext cx="3000000" cy="58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멀티 헤드 어텐션의 구현은 크게 다섯 가지 파트로 구성됩니다.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1.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WQ, WK, WV에 해당하는 d_model 크기의 밀집층(Dense layer)을 지나게한다.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1.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지정된 헤드 수(num_heads)만큼 나눈다(split).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1.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스케일드 닷 프로덕트 어텐션.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1.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나눠졌던 헤드들을 연결(concatenatetion)한다.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1.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WO에 해당하는 밀집층을 지나게 한다.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이론으로 설명할 때보다 심플하게 구성되었는데 결국 근본적으로 동일한 내용입니다.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2"/>
          <p:cNvSpPr txBox="1"/>
          <p:nvPr/>
        </p:nvSpPr>
        <p:spPr>
          <a:xfrm>
            <a:off x="0" y="0"/>
            <a:ext cx="3000000" cy="18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.key_dense = tf.keras.layers.Dense(units=d_model)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.value_dense = tf.keras.layers.Dense(units=d_model)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3"/>
          <p:cNvSpPr txBox="1"/>
          <p:nvPr/>
        </p:nvSpPr>
        <p:spPr>
          <a:xfrm>
            <a:off x="0" y="0"/>
            <a:ext cx="3000000" cy="35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1. WQ, WK, WV에 해당하는 밀집층 지나기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q : (batch_size, query의 문장 길이, d_model)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k : (batch_size, key의 문장 길이, d_model)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v : (batch_size, value의 문장 길이, d_model)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참고) 인코더(k, v)-디코더(q) 어텐션에서는 query 길이와 key, value의 길이는 다를 수 있다.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4"/>
          <p:cNvSpPr txBox="1"/>
          <p:nvPr/>
        </p:nvSpPr>
        <p:spPr>
          <a:xfrm>
            <a:off x="0" y="0"/>
            <a:ext cx="3000000" cy="3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2. 헤드 나누기  split_heads() 사용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q : (batch_size, num_heads, query의 문장 길이, d_model/num_heads)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k : (batch_size, num_heads, key의 문장 길이, d_model/num_heads)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v : (batch_size, num_heads, value의 문장 길이, d_model/num_heads)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5"/>
          <p:cNvSpPr txBox="1"/>
          <p:nvPr/>
        </p:nvSpPr>
        <p:spPr>
          <a:xfrm>
            <a:off x="0" y="0"/>
            <a:ext cx="3000000" cy="18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3. 스케일드 닷 프로덕트 어텐션. 앞서 구현한 함수 사용.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(batch_size, num_heads, query의 문장 길이, d_model/num_heads)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6"/>
          <p:cNvSpPr txBox="1"/>
          <p:nvPr/>
        </p:nvSpPr>
        <p:spPr>
          <a:xfrm>
            <a:off x="0" y="0"/>
            <a:ext cx="3000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4. 헤드 연결(concatenate)하기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(batch_size, query의 문장 길이, d_model) 로 shape 변경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7"/>
          <p:cNvSpPr txBox="1"/>
          <p:nvPr/>
        </p:nvSpPr>
        <p:spPr>
          <a:xfrm>
            <a:off x="0" y="0"/>
            <a:ext cx="3000000" cy="12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5. WO에 해당하는 밀집층 지나기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(batch_size, query의 문장 길이, d_model)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8"/>
          <p:cNvSpPr txBox="1"/>
          <p:nvPr/>
        </p:nvSpPr>
        <p:spPr>
          <a:xfrm>
            <a:off x="0" y="0"/>
            <a:ext cx="3000000" cy="73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### 8) 패딩 마스크(Padding Mask)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아직 설명하지 않은 내용이 있습니다.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앞서 구현한 스케일드 닷 프로덕트 어텐션 함수 내부를 보면 mask라는 값을 인자로 받아서, 이 mask값에다가 -1e9라는 아주 작은 음수값을 곱한 후 어텐션 스코어 행렬에 더해주고 있습니다. 이 연산의 정체는 무엇일까요?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```python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scaled_dot_product_attention(query, key, value, mask):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... 중략 ...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logits += (mask * </a:t>
            </a:r>
            <a:r>
              <a:rPr lang="ko" sz="1500">
                <a:solidFill>
                  <a:srgbClr val="098658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-1e9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어텐션 스코어 행렬인 logits에 mask*-1e9 값을 더해주고 있다.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... 중략 ...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```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9"/>
          <p:cNvSpPr txBox="1"/>
          <p:nvPr/>
        </p:nvSpPr>
        <p:spPr>
          <a:xfrm>
            <a:off x="0" y="0"/>
            <a:ext cx="3000000" cy="41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이는 입력 문장에 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&amp;lt;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PAD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&amp;gt;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토큰이 있을 경우 어텐션에서 사실상 제외하기 위한 연산입니다.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예를 들어 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&amp;lt;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PAD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&amp;gt;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가 포함된 입력 문장의 셀프 어텐션의 예제를 봅시다. 이에 대해서 어텐션을 수행하고 어텐션 스코어 행렬을 얻는 과정은 다음과 같습니다.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![](https://wikidocs.net/images/page/31379/pad_masking11.PNG)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50"/>
          <p:cNvSpPr txBox="1"/>
          <p:nvPr/>
        </p:nvSpPr>
        <p:spPr>
          <a:xfrm>
            <a:off x="0" y="0"/>
            <a:ext cx="3000000" cy="70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그런데 사실 단어 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&amp;lt;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PAD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&amp;gt;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의 경우에는 실질적인 의미를 가진 단어가 아닙니다.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그래서 트랜스포머에서는 Key의 경우에 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&amp;lt;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PAD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&amp;gt;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토큰이 존재한다면 이에 대해서는 유사도를 구하지 않도록 마스킹(Masking)을 해주기로 했습니다.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여기서 마스킹이란 어텐션에서 제외하기 위해 값을 가린다는 의미입니다.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어텐션 스코어 행렬에서 행에 해당하는 문장은 Query이고, 열에 해당하는 문장은 Key입니다. 그리고 Key에 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&amp;lt;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PAD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&amp;gt;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가 있는 경우에는 해당 열 전체를 마스킹을 해줍니다.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![](https://wikidocs.net/images/page/31379/pad_masking2.PNG)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51"/>
          <p:cNvSpPr txBox="1"/>
          <p:nvPr/>
        </p:nvSpPr>
        <p:spPr>
          <a:xfrm>
            <a:off x="0" y="0"/>
            <a:ext cx="3000000" cy="105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마스킹을 하는 방법은 어텐션 스코어 행렬의 마스킹 위치에 매우 작은 음수값을 넣어주는 것입니다.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여기서 매우 작은 음수값이라는 것은 -1,000,000,000과 같은 -무한대에 가까운 수라는 의미입니다.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현재 어텐션 스코어 함수는 소프트맥스 함수를 지나지 않은 상태입니다. 앞서 배운 연산 순서라면 어텐션 스코어 함수는 소프트맥스 함수를 지나고, 그 후 Value 행렬과 곱해지게 됩니다. 그런데 현재 마스킹 위치에 매우 작은 음수 값이 들어가 있으므로 어텐션 스코어 행렬이 소프트맥스 함수를 지난 후에는 해당 위치의 값은 0이 되어 단어 간 유사도를 구하는 일에 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&amp;lt;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PAD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&amp;gt;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토큰이 반영되지 않게 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![](https://wikidocs.net/images/page/31379/softmax.PNG)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위 그림은 소프트맥스 함수를 지난 후를 가정하고 있습니다. 소프트맥스 함수를 지나면 각 행의 어텐션 가중치의 총 합은 1이 되는데, 단어 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&amp;lt;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PAD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&amp;gt;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의 경우에는 0이 되어 어떤 유의미한 값을 가지고 있지 않습니다.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52"/>
          <p:cNvSpPr txBox="1"/>
          <p:nvPr/>
        </p:nvSpPr>
        <p:spPr>
          <a:xfrm>
            <a:off x="0" y="0"/>
            <a:ext cx="3000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&lt;pad&gt; 는 0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정수 시퀀스에서 0인 경우 1로 변환, 그렇지 않은 경우 0으로 변환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53"/>
          <p:cNvSpPr txBox="1"/>
          <p:nvPr/>
        </p:nvSpPr>
        <p:spPr>
          <a:xfrm>
            <a:off x="0" y="0"/>
            <a:ext cx="3000000" cy="252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포지션 와이즈 FFNN은 인코더와 디코더에서 공통적으로 가지고 있는 서브층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FFNN는  완전 연결 FFNN(Fully-connected FFNN) 이다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포지션 와이즈 FFNN 의 수식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$$FFNN(x) = MAX(0, xW_1 + b_1 )W_2 + b_2$$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식을 그림으로 표현하면 아래와 같다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![](https://wikidocs.net/images/page/31379/positionwiseffnn.PNG)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여기서 $x$는 앞서 멀티 헤드 어텐션의 결과로 나온 $(\text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{seq_len}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 d_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{model}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)$의 크기를 가지는 행렬을 말합니다.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가중치 행렬 $W</a:t>
            </a:r>
            <a:r>
              <a:rPr i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_1$은 $(d_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{model}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 d_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{ff}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)$ 의 크기를 가지고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가중치 행렬 $W</a:t>
            </a:r>
            <a:r>
              <a:rPr i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_2$ 은 $(d_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{ff}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 d_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{model}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)$ 의 크기를 가집니다.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논문에서 은닉층의 크기인 $d_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{ff}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$는 앞서 하이퍼파라미터를 정의할 때 언급했듯이 2,048의 크기를 가집니다.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여기서 매개변수 $W_1$, $b_1$, $W_2$, $b_2$ 는 하나의 인코더 층 내에서는 다른 문장, 다른 단어들마다 정확하게 동일하게 사용됩니다.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하지만 인코더 층마다는 다른 값을 가집니다.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![](https://wikidocs.net/images/page/31379/transformer20.PNG)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위의 그림에서 좌측은 인코더의 입력을 벡터 단위로 봤을 때,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각 벡터들이 멀티 헤드 어텐션 층이라는 인코더 내 첫번째 서브 층을 지나 FFNN을 통과하는 것을 보여줍니다.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이는 두번째 서브층인 Position-wise FFNN을 의미합니다.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물론, 실제로는 그림의 우측과 같이 행렬로 연산되는데, 두번째 서브층을 지난 인코더의 최종 출력은 여전히 인코더의 입력의 크기였던 $(\text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{seq_len}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 d_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{model}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)$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의 크기가 보존되고 있습니다.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하나의 인코더 층을 지난 이 행렬은 다음 인코더 층으로 전달되고, 다음 층에서도 동일한 인코더 연산이 반복됩니다.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이를 구현하면 다음과 같습니다.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```python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다음의 코드는 인코더와 디코더 내부에서 사용할 예정입니다.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outputs = tf.keras.layers.Dense(units=dff, activation=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'relu'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)(attention)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outputs = tf.keras.layers.Dense(units=d_model)(outputs)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```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54"/>
          <p:cNvSpPr txBox="1"/>
          <p:nvPr/>
        </p:nvSpPr>
        <p:spPr>
          <a:xfrm>
            <a:off x="0" y="0"/>
            <a:ext cx="3000000" cy="50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![](https://wikidocs.net/images/page/31379/transformer21.PNG)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앞서, 인코더의 두 개의 서브층에 대해서 이해해보았습니다.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트랜스포머에서는 이러한 두 개의 서브층을 가진 인코더에 추가적으로 사용하는 기법이 있다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바로 Add &amp; Norm입니다. 더 정확히는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**잔차 연결(residual connection)**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과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**층 정규화(layer normalization)**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를 의미합니다.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55"/>
          <p:cNvSpPr txBox="1"/>
          <p:nvPr/>
        </p:nvSpPr>
        <p:spPr>
          <a:xfrm>
            <a:off x="0" y="0"/>
            <a:ext cx="3000000" cy="154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![](https://wikidocs.net/images/page/31379/transformer22.PNG)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위 그림은 입력 $x$와 $x$에 대한 어떤 함수 $F(x)$의 값을 더한 함수 $H(x)$ 의 구조를 보여줍니다.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어떤 함수 $F(x)$ 가 트랜스포머에서는 서브층에 해당됩니다. 다시 말해 잔차 연결은 서브층의 '입력'과 '출력'을 더하는 것을 말합니다.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앞서 언급했듯이 트랜스포머에서 서브층의 입력과 출력은 동일한 차원을 갖고 있으므로, 서브층의 입력과 서브층의 출력은 덧셈 연산을 할 수 있습니다.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이것이 바로 위의 인코더 그림에서 각 화살표가 서브층의 입력에서 출력으로 향하도록 그려졌던 이유입니다.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잔차 연결은 컴퓨터 비전 분야에서 주로 사용되는 모델의 학습을 돕는 기법입니다.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이를 식으로 표현하면 $x + Sublayer(x)$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입니다.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가령, 서브층이 멀티 헤드 어텐션이었다면 잔차 연결 연산은 다음과 같습니다.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$$H(x) = x + Multihead Attention(x)$$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![](https://wikidocs.net/images/page/31379/residual_connection.PNG)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위 그림은 멀티 헤드 어텐션의 입력과 멀티 헤드 어텐션의 결과가 더해지는 과정을 보여줍니다.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관련논문 : https://arxiv.org/pdf/1512.03385.pdf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"Deep Residual Learning for Image Recognition"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56"/>
          <p:cNvSpPr txBox="1"/>
          <p:nvPr/>
        </p:nvSpPr>
        <p:spPr>
          <a:xfrm>
            <a:off x="0" y="0"/>
            <a:ext cx="3000000" cy="148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### 2) 층 정규화(Layer Normalization)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잔차 연결을 거친 결과는 이어서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**층 정규화**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과정을 거치게됩니다.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잔차 연결의 입력을 $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{x}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$, 잔차 연결과 층 정규화 두 가지 연산을 모두 수행한 후의 결과 행렬을 $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{LN}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 이라고 하였을 때, 잔차 연결 후 층 정규화 연산을 수식으로 표현하자면 다음과 같습니다.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$$LN = LayerNorm(x + Sublayer(x))$$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층 정규화를 하는 과정에 대해서 이해해봅시다. 층 정규화는 텐서의 마지막 차원에 대해서 평균과 분산을 구하고, 이를 가지고 어떤 수식을 통해 값을 정규화하여 학습을 돕습니다. 여기서 텐서의 마지막 차원이란 것은 트랜스포머에서는 $d_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{model}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차원을 의미합니다. 아래 그림은 $d_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{model}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차원의 방향을 화살표로 표현하였습니다.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![](https://wikidocs.net/images/page/31379/layer_norm_new_1_final.PNG)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층 정규화를 위해서 우선, 화살표 방향으로 각각 평균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$\mu$ 과 분산 $\sigma^2$ 을 구합니다. 각 화살표 방향의 벡터를 $x_i$ 라고 명명해봅시다.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![](https://wikidocs.net/images/page/31379/layer_norm_new_2_final.PNG)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층 정규화를 수행한 후에는 벡터 $x_i$ 는 $ln_i$ 라는 벡터로 정규화가 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$$ln_i = LayerNorm(x_i)$$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57"/>
          <p:cNvSpPr txBox="1"/>
          <p:nvPr/>
        </p:nvSpPr>
        <p:spPr>
          <a:xfrm>
            <a:off x="0" y="0"/>
            <a:ext cx="3000000" cy="17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'층 정규화의 수식'을 알아봅시다. 여기서는 층 정규화를 두 가지 과정으로 나누어서 설명하겠습니다.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첫번째는 평균과 분산을 통한 정규화,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두번째는 감마와 베타를 도입하는 것입니다.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우선, 평균과 분산을 통해 벡터 $x_i$를 정규화 해줍니다.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$x_i$는 벡터인 반면, 평균 $\mu_i$ 과 분산 $\sigma_i^2$은 스칼라입니다.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벡터 $x</a:t>
            </a:r>
            <a:r>
              <a:rPr i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_i$의 각 차원을 $k$라고 하였을 때, $x_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{ik}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$는 다음의 수식과 같이 정규화 할 수 있습니다.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다시 말해 벡터 $x_i$의 각 $k$차원의 값이 다음과 같이 정규화 되는 것입니다.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$$\hat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{x}</a:t>
            </a:r>
            <a:r>
              <a:rPr i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_{ik}=\frac{x_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{i,k}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- \mu_i}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{\sqrt{\sigma^2_i + \epsilon}}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$$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$\epsilon$ (입실론)은 분모가 0이 되는 것을 방지하는 값.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이제 $\gamma$ (감마)와  $\beta$(베타)라는 벡터를 준비합니다. 단, 이들의 초기값은 각각 1과 0입니다.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![](https://wikidocs.net/images/page/31379/%EA%B0%90%EB%A7%88%EB%B2%A0%ED%83%80.PNG)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$\gamma$와 $\beta$ 를 도입한 층 정규화의 최종 수식은 다음과 같으며 $\gamma$ 와 $\beta$ 는 학습 가능한 파라미터입니다.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$$ln_i = \gamma \hat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{x}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_i + \beta = LayerNorm(x_i)$$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관련 논문 : https://arxiv.org/pdf/1607.06450.pdf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케라스에서는 층 정규화를 위한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**LayerNormalization()**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를 제공함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
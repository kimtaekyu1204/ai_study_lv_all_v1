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slide" Target="slides/slide41.xml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schemas.openxmlformats.org/officeDocument/2006/relationships/slide" Target="slides/slide43.xml"/><Relationship Id="rId25" Type="http://schemas.openxmlformats.org/officeDocument/2006/relationships/slide" Target="slides/slide20.xml"/><Relationship Id="rId47" Type="http://schemas.openxmlformats.org/officeDocument/2006/relationships/slide" Target="slides/slide42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5c0ec34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5c0ec34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5c0ec342f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5c0ec342f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5c0ec342f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65c0ec342f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5c0ec342f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5c0ec342f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5c0ec342f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5c0ec342f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5c0ec342f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5c0ec342f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5c0ec342f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5c0ec342f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5c0ec342f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65c0ec342f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5c0ec342f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65c0ec342f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5c0ec342f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5c0ec342f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5c0ec342f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5c0ec342f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5c0ec342f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5c0ec342f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5c0ec342f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65c0ec342f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5c0ec342f_1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5c0ec342f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5c0ec342f_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65c0ec342f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5c0ec342f_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65c0ec342f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65c0ec342f_1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65c0ec342f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5c0ec342f_1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65c0ec342f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65c0ec342f_1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65c0ec342f_1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65c0ec342f_1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65c0ec342f_1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65c0ec342f_1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65c0ec342f_1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5c0ec342f_1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65c0ec342f_1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65c0ec342f_1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65c0ec342f_1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65c0ec342f_1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65c0ec342f_1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65c0ec342f_1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65c0ec342f_1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65c0ec342f_1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65c0ec342f_1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5c0ec342f_1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5c0ec342f_1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5c0ec342f_1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65c0ec342f_1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65c0ec342f_1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65c0ec342f_1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5c0ec342f_1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5c0ec342f_1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65c0ec342f_1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65c0ec342f_1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65c0ec342f_1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65c0ec342f_1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65c0ec342f_1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65c0ec342f_1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65c0ec342f_1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65c0ec342f_1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65c0ec342f_1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65c0ec342f_1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65c0ec342f_1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65c0ec342f_1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65c0ec342f_1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65c0ec342f_1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65c0ec342f_1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65c0ec342f_1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65c0ec342f_1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65c0ec342f_1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65c0ec342f_1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65c0ec342f_1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65c0ec342f_1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65c0ec342f_1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65c0ec342f_1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65c0ec342f_1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platform.openai.com/docs/guides/text-generation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python.langchain.com/api_referenc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0"/>
            <a:ext cx="30000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↑ Chain 을 사용해 꽤나 간결한 코드로 작동시켰는지 보라!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사실 랭체인은 내부에서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.format_message() 호출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chat.invoke() 호출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parse() 호출한다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이러한 일련의 작업을 chain.invoke() 호출 단한번으로 끝낸다.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이러한 chain 구문으로 정말 다양한 작업의 흐름들을 수행할수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None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0" y="0"/>
            <a:ext cx="30000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chain 끼리도 결합할수 도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[예시]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chain_one = template | chat | CommaOutputParser()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chain_two = template_2 | chat | OutputParser2()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all = chain_one | chain_two | OutputParser3()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↑ chain_one 의 출력을 chain_two 의 입력값으로 사용 가능.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None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0" y="0"/>
            <a:ext cx="3000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공식]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https://python.langchain.com/docs/concepts/lcel/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https://python.langchain.com/docs/how_to/#langchain-expression-language-lcel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https://python.langchain.com/docs/how_to/lcel_cheatsheet/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0" y="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u="sng">
                <a:solidFill>
                  <a:schemeClr val="hlink"/>
                </a:solidFill>
                <a:hlinkClick r:id="rId3"/>
              </a:rPr>
              <a:t>https://platform.openai.com/docs/guides/text-generation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/>
        </p:nvSpPr>
        <p:spPr>
          <a:xfrm>
            <a:off x="0" y="0"/>
            <a:ext cx="3000000" cy="432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## LCEL 의 input / output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LangChain Expression Language (LCEL)은 LangChain에서 다양한 입력 유형을 활용하여 LLM과 도구를 결합하고 데이터 흐름을 제어하는 언어입니다. LCEL은 LLM의 입력과 처리에 사용되는 **입력 타입**(Input Types)을 명확하게 정의하여, 사용자 인터페이스와 도구 간의 상호작용을 더욱 효율적으로 만듭니다.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아래는 LCEL에서 자주 사용되는 주요 **입력 타입**에 대한 설명입니다.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### 1. **Plain Text**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**설명**: 단순한 텍스트 입력입니다. 이 형식은 가장 기본적인 입력으로, LLM이 자유로운 자연어 처리를 수행할 수 있도록 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**예시**: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```plaintext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What is the capital of France?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```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**특징**: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- 텍스트 분석, 생성 및 대화형 작업에 적합.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- 추가적인 구조나 메타데이터 없이 단순 텍스트로 전달.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### 2. **Structured Input**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**설명**: JSON, 딕셔너리, 또는 구조화된 형식의 입력입니다. 데이터 필드가 명시적으로 정의되어 있으며, 모델이 이 구조에 따라 데이터를 처리합니다.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**예시**: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```json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"question": "What is the capital of France?",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"context": "France is a country in Europe."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```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**특징**: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- 명시적인 데이터 필드를 통해 LLM이 필요한 정보를 더 정확히 추출 및 활용 가능.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- 복잡한 데이터 분석이나 멀티 필드 처리가 필요한 작업에 유용.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### 3. **Prompt Templates**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**설명**: 사용자가 정의한 프롬프트 템플릿을 입력으로 사용합니다. 템플릿에 변수 값을 채워 넣어 모델에 전달합니다.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**예시**: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```python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template = "Translate the following text to French: {text}"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input = template.format(text="Hello, how are you?")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```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**특징**: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- 변수 기반 입력을 통해 재사용 가능성이 높음.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- 사용자 정의 입력 생성 및 제어에 적합.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### 4. **Key-Value Pairs**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**설명**: 키-값 쌍의 입력 형식으로, 명시적인 쿼리 형태로 정보를 제공합니다.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**예시**: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```python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"name": "John",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"age": 30,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"location": "New York"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```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**특징**: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- 정형화된 데이터를 제공하여 LLM이 더 효율적으로 데이터를 분석 및 처리할 수 있음.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- 특정 정보 필드가 명확히 필요할 때 유용.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### 5. **Multi-modal Inputs**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**설명**: 텍스트, 이미지, 오디오 등 다양한 데이터 유형을 조합한 입력 형식입니다.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**예시**: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```python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"text": "Describe the image.",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"image": "&lt;image_data&gt;"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```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**특징**: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- 멀티모달 모델과 통합하여 다양한 입력 형식을 처리 가능.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- 이미지 캡셔닝, 오디오-텍스트 변환 등의 작업에서 활용.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### 6. **Serialized Inputs**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**설명**: 입력 데이터를 시리얼화(Serialize)하여 특정 형식으로 변환한 입력입니다. 예를 들어, JSON 문자열로 데이터를 전달합니다.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**예시**: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```python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input = '{"question": "What is the capital of France?", "context": "France is in Europe."}'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```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**특징**: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- 데이터가 외부 시스템이나 API와 통신할 때 유용.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- 데이터 포맷에 대한 유연성이 높음.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### 7. **Chat Messages**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**설명**: 채팅 메시지 형식의 입력으로, 사용자가 역할(role)과 내용(content)을 정의하여 LLM에게 대화 형식으로 정보를 전달합니다.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**예시**: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```python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[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{"role": "system", "content": "You are an assistant."},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{"role": "user", "content": "What is the weather today?"}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```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**특징**: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- ChatGPT 같은 대화형 모델에 적합.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- 대화의 맥락을 유지하고 다중 발화 입력을 처리할 수 있음.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### 8. **Custom Input Types**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**설명**: 사용자가 애플리케이션 요구 사항에 따라 정의하는 커스텀 입력 형식입니다.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**예시**: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```python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class CustomInput: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def __init__(self, field1, field2):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self.field1 = field1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self.field2 = field2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```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**특징**: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- 특정 애플리케이션 로직과 완벽히 맞는 형식으로 데이터 처리.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- 표준 입력 타입으로 표현하기 어려운 복잡한 구조를 다룰 때 유용.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### 요약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LCEL의 입력 타입은 단순 텍스트부터 구조화된 데이터, 멀티모달 입력까지 다양하게 제공되며, 각 타입은 특정 용도에 맞게 설계되었습니다. 입력 데이터를 정교하게 설계하고 적절한 형식을 선택함으로써 모델의 성능을 최적화할 수 있습니다.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/>
        </p:nvSpPr>
        <p:spPr>
          <a:xfrm>
            <a:off x="0" y="0"/>
            <a:ext cx="300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You are a world-class international chef.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You create easy to follow recipes for any type of cuisines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with easy to find ingredients.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/>
        </p:nvSpPr>
        <p:spPr>
          <a:xfrm>
            <a:off x="0" y="0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위 Chef 에게서 레시피를 받게 될텐데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두번째 chain 에선 채식 재료만 사용하도록 변형 할겁니다.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작업은 두개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1. 레시피를 전달해주는 셰프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2. 채식주의자를 위한 셰프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/>
        </p:nvSpPr>
        <p:spPr>
          <a:xfrm>
            <a:off x="0" y="0"/>
            <a:ext cx="3000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You are a vegetarian chef specialized 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making traditional recipies vegetarian.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You find alternative ingredients and explain their preparation.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You don't radically modify the recipe.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If there is no alternative for a foot just say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you don't know how to replace it.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/>
        </p:nvSpPr>
        <p:spPr>
          <a:xfrm>
            <a:off x="0" y="0"/>
            <a:ext cx="3000000" cy="51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↑ 전부 실행 완료 될때까지 기다리는게 지루하다.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어떻게 진행되는지도 궁금하다.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진행되는 과정을 실시간으로 출력 할수 있다!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Chat model 의 streaming=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streaming 은 LLM model 의 응답(resposne) 이 생성되는 것을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 실시간으로(?) 보게 해줌.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callbacks=[StreamingStdOutCallbackHandler()]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 볼수 있는 문자(토큰)가 생길 때마다 print 해준다.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callbacks 는 다양한 'event' 감지도 가능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 LLM 이 작업을 시작했다거나, 끝냈다거나.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 문자를 생성했다거나, 에러가 발생하거나..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/>
        </p:nvSpPr>
        <p:spPr>
          <a:xfrm>
            <a:off x="0" y="0"/>
            <a:ext cx="3000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v0.3    https://python.langchain.com/api_reference/core/callbacks/langchain_core.callbacks.streaming_stdout.StreamingStdOutCallbackHandler.html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langchain_core.callbacks.streaming_stdout import StreamingStdOutCallbackHandler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/>
        </p:nvSpPr>
        <p:spPr>
          <a:xfrm>
            <a:off x="0" y="0"/>
            <a:ext cx="30000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위 Chat model 로 다시 실행해보기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chef_chain = chef_prompt | chat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veg_chain = veg_chef_prompt | chat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final_chain = {"recipe": chef_chain} | veg_chain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result = final_chain.invoke({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"cuisine": "indian",  # chef_chain 의 {cuisine} 에 전달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print(result.content)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https://python.langchain.com/docs/how_to/#components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/>
        </p:nvSpPr>
        <p:spPr>
          <a:xfrm>
            <a:off x="0" y="0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prompts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https://python.langchain.com/api_reference/core/prompts.html#module-langchain_core.prompts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/>
          <p:nvPr/>
        </p:nvSpPr>
        <p:spPr>
          <a:xfrm>
            <a:off x="0" y="0"/>
            <a:ext cx="3000000" cy="77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prompts class 계층도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BasePromptTemplate --&gt; PipelinePromptTemplate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           StringPromptTemplate --&gt; PromptTemplate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                                    FewShotPromptTemplate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                                    FewShotPromptWithTemplates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           BaseChatPromptTemplate --&gt; AutoGPTPrompt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                                      ChatPromptTemplate --&gt; AgentScratchPadChatPromptTemplate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BaseMessagePromptTemplate --&gt; MessagesPlaceholder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                  BaseStringMessagePromptTemplate --&gt; ChatMessagePromptTemplate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                                                      HumanMessagePromptTemplate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                                                      AIMessagePromptTemplate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                                                      SystemMessagePromptTemplate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None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 txBox="1"/>
          <p:nvPr/>
        </p:nvSpPr>
        <p:spPr>
          <a:xfrm>
            <a:off x="0" y="0"/>
            <a:ext cx="30000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v0.3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langchain_openai.chat_models import ChatOpenAI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langchain_core.prompts.prompt import PromptTemplate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langchain_core.callbacks.streaming_stdout import StreamingStdOutCallbackHandler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/>
        </p:nvSpPr>
        <p:spPr>
          <a:xfrm>
            <a:off x="0" y="0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chat = ChatOpenAI(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temperature=0.1,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streaming=True,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callbacks=[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StreamingStdOutCallbackHandler()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/>
          <p:nvPr/>
        </p:nvSpPr>
        <p:spPr>
          <a:xfrm>
            <a:off x="0" y="0"/>
            <a:ext cx="30000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템플릿을 만드는 이점 또 한가지!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prompt template 을 디스크에 '저장'하고 'load' 할 수 있기 떼문이다.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나중에 LLM 다룰때 prompt 는 매우 중요합니다.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대규모 프로젝트에서는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'prompt 만 만드는 팀'이 있고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'코딩하는 팀'이 따로 있을것이다.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데이터베이스나 파일 등에 만들어 저장해 놓은 prompt 를 load 해야 할겁니다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0"/>
          <p:cNvSpPr txBox="1"/>
          <p:nvPr/>
        </p:nvSpPr>
        <p:spPr>
          <a:xfrm>
            <a:off x="0" y="0"/>
            <a:ext cx="30000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모델에게 '어떻게 대답해야 하는 지에 대한 예제'를 AI 모델에게 주는 것이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prompt 를 사용해서 '어떻게 대답해야 하는지 알려주는 것'보다 훨씬 좋다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/>
        </p:nvSpPr>
        <p:spPr>
          <a:xfrm>
            <a:off x="0" y="0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FewShotPromptTemplate 이 하는 일이 바로 그거다!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- 이를 통해 예제(샘플)를 형식화(포맷) 할수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- 이런 예제들을 데이터베이스등에 저장시켜놓고 활용할수도 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/>
        </p:nvSpPr>
        <p:spPr>
          <a:xfrm>
            <a:off x="0" y="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langchain_core.prompts.few_shot import FewShotPromptTemplate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"/>
          <p:cNvSpPr txBox="1"/>
          <p:nvPr/>
        </p:nvSpPr>
        <p:spPr>
          <a:xfrm>
            <a:off x="0" y="0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# ↓ 이 예제들은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# 모델이 나에게 '이런 식으로 답변해 줬으면 좋겠다' 하는 예제들입니다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examples = [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]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4"/>
          <p:cNvSpPr txBox="1"/>
          <p:nvPr/>
        </p:nvSpPr>
        <p:spPr>
          <a:xfrm>
            <a:off x="0" y="0"/>
            <a:ext cx="3000000" cy="79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"question": "What do you know about France?",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# ↓ 원하는 형식의 답변 이다..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"answer": 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Here is what I know: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Capital: Paris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Language: French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Food: Wine and Cheese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Currency: Euro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""",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"question": "What do you know about Italy?",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"answer": 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I know this: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Capital: Rome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Language: Italian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Food: Pizza and Pasta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Currency: Euro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""",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"question": "What do you know about Greece?",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"answer": 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I know this: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Capital: Athens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Language: Greek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Food: Souvlaki and Feta Cheese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Currency: Euro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""",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},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5"/>
          <p:cNvSpPr txBox="1"/>
          <p:nvPr/>
        </p:nvSpPr>
        <p:spPr>
          <a:xfrm>
            <a:off x="0" y="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↑ {question} 과 {answer} 는 위 샘플과 동일한 key를 사용하여 작성한다.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0" y="0"/>
            <a:ext cx="30000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# ↑ 이렇게만 해도 랭체인이 알아서 각각의 예제 리스트들을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#  위 prompt 를 사용하여 포맷팅(형식화) 합니다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# 여기에 유저의 질문을 넣어줄겁니다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# suffix=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# 형식화된 모든 예제 마지막에 나오는 내용.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# 그래서 한번 다 형식화가 끝난 다음, 사용자의 질문은 무엇인지 나옵니다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# 여기서는 위에 있는 동일한 형식을 사용할 겁니다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7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"Human: What do you know about {country}?",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8"/>
          <p:cNvSpPr txBox="1"/>
          <p:nvPr/>
        </p:nvSpPr>
        <p:spPr>
          <a:xfrm>
            <a:off x="0" y="0"/>
            <a:ext cx="30000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step1  example 리스트를 만들고   examples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step2  FewShotPromptTemplate 에 전달했고 examples=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step3  어떻게 전달한 예제들을 형식화 할지 알려주었고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step4  마지막에 질문을 포함시켰다.  suffix, input_variables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AI 는 우리의 예제들과 똑같은 구조, 형태로 답변하게 될겁니다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9"/>
          <p:cNvSpPr txBox="1"/>
          <p:nvPr/>
        </p:nvSpPr>
        <p:spPr>
          <a:xfrm>
            <a:off x="0" y="0"/>
            <a:ext cx="30000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v0.3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langchain_core.prompts.few_shot import FewShotChatMessagePromptTemplate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https://python.langchain.com/api_reference/core/prompts/langchain_core.prompts.few_shot.FewShotChatMessagePromptTemplate.html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v0.3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langchain_core.prompts.chat import ChatPromptTemplate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https://python.langchain.com/api_reference/core/prompts/langchain_core.prompts.chat.ChatPromptTemplate.html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0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"You are a geography expert, you give short answers."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1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"What do you know about {country}?"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2"/>
          <p:cNvSpPr txBox="1"/>
          <p:nvPr/>
        </p:nvSpPr>
        <p:spPr>
          <a:xfrm>
            <a:off x="0" y="0"/>
            <a:ext cx="3000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때로는 수천개의 예제를 가지고 있을텐데,  이를 모두 모델에게 줄수 없는 상황이 있을수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 이유1) 비용이 많이 든다..  많은 텍스트 땜에.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 이유2) '허용하는 범위' 라는게 있다 =&gt; 모~든 예제들을 모델에게 줄 수는 없다.  제한이 있다 (context window)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그래서 예제를 선별하는 방법에 대해 배워보자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3"/>
          <p:cNvSpPr txBox="1"/>
          <p:nvPr/>
        </p:nvSpPr>
        <p:spPr>
          <a:xfrm>
            <a:off x="0" y="0"/>
            <a:ext cx="30000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v0.3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langchain_core.example_selectors.length_based import LengthBasedExampleSelector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https://python.langchain.com/api_reference/core/example_selectors/langchain_core.example_selectors.length_based.LengthBasedExampleSelector.html#langchain_core.example_selectors.length_based.LengthBasedExampleSelector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4"/>
          <p:cNvSpPr txBox="1"/>
          <p:nvPr/>
        </p:nvSpPr>
        <p:spPr>
          <a:xfrm>
            <a:off x="0" y="0"/>
            <a:ext cx="3000000" cy="7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examples = [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"country": "France",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"answer": 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Here is what I know: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Capital: Paris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Language: French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Food: Wine and Cheese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Currency: Euro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""",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"country": "Italy",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"answer": 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I know this: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Capital: Rome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Language: Italian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Food: Pizza and Pasta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Currency: Euro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""",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"country": "Greece",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"answer": 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I know this: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Capital: Athens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Language: Greek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Food: Souvlaki and Feta Cheese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Currency: Euro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""",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]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5"/>
          <p:cNvSpPr txBox="1"/>
          <p:nvPr/>
        </p:nvSpPr>
        <p:spPr>
          <a:xfrm>
            <a:off x="0" y="0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example_prompt = PromptTemplate.from_template("Human: {country}\nAI: {answer}")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example_prompt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6"/>
          <p:cNvSpPr txBox="1"/>
          <p:nvPr/>
        </p:nvSpPr>
        <p:spPr>
          <a:xfrm>
            <a:off x="0" y="0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v0.3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langchain_core.example_selectors.base import BaseExampleSelector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7"/>
          <p:cNvSpPr txBox="1"/>
          <p:nvPr/>
        </p:nvSpPr>
        <p:spPr>
          <a:xfrm>
            <a:off x="0" y="0"/>
            <a:ext cx="300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BaseExampleSelector 의 구현객체를 만드려면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상속 받은뒤 select_examples() 과 add_example() 을 반드시 오버라이딩 해주어야 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8"/>
          <p:cNvSpPr txBox="1"/>
          <p:nvPr/>
        </p:nvSpPr>
        <p:spPr>
          <a:xfrm>
            <a:off x="0" y="0"/>
            <a:ext cx="30000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# select_examples()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# 입력에 따라 어떠한 샘플을 사용할지 select 함.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# 이번 예제에서는 examples 리스트 에서 random 으로 선택하게 하려 함.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# ※ 이는 얼마든지 복잡하게 만들어 볼수도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def select_examples(self, input_variables):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9"/>
          <p:cNvSpPr txBox="1"/>
          <p:nvPr/>
        </p:nvSpPr>
        <p:spPr>
          <a:xfrm>
            <a:off x="0" y="0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# add_example()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# Add new example to store.  이미 존재하는 example 에 example 을 추가하는 method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0"/>
          <p:cNvSpPr txBox="1"/>
          <p:nvPr/>
        </p:nvSpPr>
        <p:spPr>
          <a:xfrm>
            <a:off x="0" y="0"/>
            <a:ext cx="30000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prompt.json 파일을 생성합니다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"_type":"prompt",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"template":"What is the capital of {country}",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"input_variables":["country"]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None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1"/>
          <p:cNvSpPr txBox="1"/>
          <p:nvPr/>
        </p:nvSpPr>
        <p:spPr>
          <a:xfrm>
            <a:off x="0" y="0"/>
            <a:ext cx="3000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v0.3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langchain_core.prompts.loading import load_prompt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https://python.langchain.com/api_reference/core/prompts/langchain_core.prompts.loading.load_prompt.html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Unified method for loading a prompt from LangChainHub or local fs.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2"/>
          <p:cNvSpPr txBox="1"/>
          <p:nvPr/>
        </p:nvSpPr>
        <p:spPr>
          <a:xfrm>
            <a:off x="0" y="0"/>
            <a:ext cx="3000000" cy="49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v0.3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langchain_core.globals import set_llm_cache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https://python.langchain.com/api_reference/core/globals/langchain_core.globals.set_llm_cache.html#set-llm-cache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Set a new LLM cache, overwriting the previous value, if any.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v0.3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langchain_core.caches import InMemoryCache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https://python.langchain.com/api_reference/core/caches/langchain_core.caches.InMemoryCache.html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Cache that stores things in 'memory'.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Initialize with empty cache.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3"/>
          <p:cNvSpPr txBox="1"/>
          <p:nvPr/>
        </p:nvSpPr>
        <p:spPr>
          <a:xfrm>
            <a:off x="0" y="0"/>
            <a:ext cx="30000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v0.3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langchain_core.globals import set_debug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https://python.langchain.com/api_reference/core/globals/langchain_core.globals.set_debug.html#langchain_core.globals.set_debug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Set a new value for the debug global setting.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4"/>
          <p:cNvSpPr txBox="1"/>
          <p:nvPr/>
        </p:nvSpPr>
        <p:spPr>
          <a:xfrm>
            <a:off x="0" y="0"/>
            <a:ext cx="3000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v0.3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langchain_community.cache import SQLiteCache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Cache that uses SQLite as a backend.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Initialize by creating the engine and all tables.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https://python.langchain.com/api_reference/community/cache/langchain_community.cache.SQLiteCache.html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5"/>
          <p:cNvSpPr txBox="1"/>
          <p:nvPr/>
        </p:nvSpPr>
        <p:spPr>
          <a:xfrm>
            <a:off x="0" y="0"/>
            <a:ext cx="3000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D47A1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https://python.langchain.com/api_reference/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
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</p:sldIdLst>
  <p:sldSz cy="5143500" cx="9144000"/>
  <p:notesSz cx="6858000" cy="9144000"/>
  <p:embeddedFontLst>
    <p:embeddedFont>
      <p:font typeface="PT Sans Narrow"/>
      <p:regular r:id="rId93"/>
      <p:bold r:id="rId94"/>
    </p:embeddedFont>
    <p:embeddedFont>
      <p:font typeface="Roboto Mono"/>
      <p:regular r:id="rId95"/>
      <p:bold r:id="rId96"/>
      <p:italic r:id="rId97"/>
      <p:boldItalic r:id="rId98"/>
    </p:embeddedFont>
    <p:embeddedFont>
      <p:font typeface="Open Sans"/>
      <p:regular r:id="rId99"/>
      <p:bold r:id="rId100"/>
      <p:italic r:id="rId101"/>
      <p:boldItalic r:id="rId10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102" Type="http://schemas.openxmlformats.org/officeDocument/2006/relationships/font" Target="fonts/OpenSans-boldItalic.fntdata"/><Relationship Id="rId101" Type="http://schemas.openxmlformats.org/officeDocument/2006/relationships/font" Target="fonts/OpenSans-italic.fntdata"/><Relationship Id="rId100" Type="http://schemas.openxmlformats.org/officeDocument/2006/relationships/font" Target="fonts/OpenSans-bold.fntdata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95" Type="http://schemas.openxmlformats.org/officeDocument/2006/relationships/font" Target="fonts/RobotoMono-regular.fntdata"/><Relationship Id="rId94" Type="http://schemas.openxmlformats.org/officeDocument/2006/relationships/font" Target="fonts/PTSansNarrow-bold.fntdata"/><Relationship Id="rId97" Type="http://schemas.openxmlformats.org/officeDocument/2006/relationships/font" Target="fonts/RobotoMono-italic.fntdata"/><Relationship Id="rId96" Type="http://schemas.openxmlformats.org/officeDocument/2006/relationships/font" Target="fonts/RobotoMono-bold.fntdata"/><Relationship Id="rId11" Type="http://schemas.openxmlformats.org/officeDocument/2006/relationships/slide" Target="slides/slide6.xml"/><Relationship Id="rId99" Type="http://schemas.openxmlformats.org/officeDocument/2006/relationships/font" Target="fonts/OpenSans-regular.fntdata"/><Relationship Id="rId10" Type="http://schemas.openxmlformats.org/officeDocument/2006/relationships/slide" Target="slides/slide5.xml"/><Relationship Id="rId98" Type="http://schemas.openxmlformats.org/officeDocument/2006/relationships/font" Target="fonts/RobotoMon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91" Type="http://schemas.openxmlformats.org/officeDocument/2006/relationships/slide" Target="slides/slide86.xml"/><Relationship Id="rId90" Type="http://schemas.openxmlformats.org/officeDocument/2006/relationships/slide" Target="slides/slide85.xml"/><Relationship Id="rId93" Type="http://schemas.openxmlformats.org/officeDocument/2006/relationships/font" Target="fonts/PTSansNarrow-regular.fntdata"/><Relationship Id="rId92" Type="http://schemas.openxmlformats.org/officeDocument/2006/relationships/slide" Target="slides/slide8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86" Type="http://schemas.openxmlformats.org/officeDocument/2006/relationships/slide" Target="slides/slide81.xml"/><Relationship Id="rId85" Type="http://schemas.openxmlformats.org/officeDocument/2006/relationships/slide" Target="slides/slide80.xml"/><Relationship Id="rId88" Type="http://schemas.openxmlformats.org/officeDocument/2006/relationships/slide" Target="slides/slide83.xml"/><Relationship Id="rId87" Type="http://schemas.openxmlformats.org/officeDocument/2006/relationships/slide" Target="slides/slide82.xml"/><Relationship Id="rId89" Type="http://schemas.openxmlformats.org/officeDocument/2006/relationships/slide" Target="slides/slide84.xml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75" Type="http://schemas.openxmlformats.org/officeDocument/2006/relationships/slide" Target="slides/slide70.xml"/><Relationship Id="rId74" Type="http://schemas.openxmlformats.org/officeDocument/2006/relationships/slide" Target="slides/slide69.xml"/><Relationship Id="rId77" Type="http://schemas.openxmlformats.org/officeDocument/2006/relationships/slide" Target="slides/slide72.xml"/><Relationship Id="rId76" Type="http://schemas.openxmlformats.org/officeDocument/2006/relationships/slide" Target="slides/slide71.xml"/><Relationship Id="rId79" Type="http://schemas.openxmlformats.org/officeDocument/2006/relationships/slide" Target="slides/slide74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66" Type="http://schemas.openxmlformats.org/officeDocument/2006/relationships/slide" Target="slides/slide61.xml"/><Relationship Id="rId65" Type="http://schemas.openxmlformats.org/officeDocument/2006/relationships/slide" Target="slides/slide60.xml"/><Relationship Id="rId68" Type="http://schemas.openxmlformats.org/officeDocument/2006/relationships/slide" Target="slides/slide63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69" Type="http://schemas.openxmlformats.org/officeDocument/2006/relationships/slide" Target="slides/slide6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5" Type="http://schemas.openxmlformats.org/officeDocument/2006/relationships/slide" Target="slides/slide50.xml"/><Relationship Id="rId54" Type="http://schemas.openxmlformats.org/officeDocument/2006/relationships/slide" Target="slides/slide49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59" Type="http://schemas.openxmlformats.org/officeDocument/2006/relationships/slide" Target="slides/slide54.xml"/><Relationship Id="rId58" Type="http://schemas.openxmlformats.org/officeDocument/2006/relationships/slide" Target="slides/slide5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://ds31x.blogspot.com/2016/04/windows-windows-10.html" TargetMode="Externa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5ed758b338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5ed758b338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5ed758b338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5ed758b338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5ed758b338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5ed758b338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5ed758b338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5ed758b338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u="sng">
                <a:solidFill>
                  <a:schemeClr val="hlink"/>
                </a:solidFill>
                <a:hlinkClick r:id="rId2"/>
              </a:rPr>
              <a:t>http://ds31x.blogspot.com/2016/04/windows-windows-10.html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\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5ed758b338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5ed758b338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5ed758b338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5ed758b338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6a78fb02f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6a78fb02f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6a78fb02f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6a78fb02f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6a78fb02ff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6a78fb02ff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6a78fb02ff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6a78fb02ff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6a78fb02ff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6a78fb02ff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6a78fb02ff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6a78fb02ff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5ed758b338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5ed758b338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5ed939809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5ed939809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5ed9398096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5ed9398096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5ed9398096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5ed9398096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5ed9398096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5ed9398096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5ed9398096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5ed9398096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5ed9398096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5ed9398096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5ed9398096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5ed9398096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5ed9398096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5ed9398096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5ed9398096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5ed9398096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5ed758b338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5ed758b338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5ed758b338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5ed758b338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5ed758b338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5ed758b338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5ed9398096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5ed9398096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5ed9398096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5ed9398096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5ed9398096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5ed9398096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5ed9398096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5ed9398096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5ed9398096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5ed9398096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5ed9398096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5ed9398096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5ed9398096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5ed9398096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5ed9398096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5ed9398096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5ed9398096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35ed9398096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5ed9398096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5ed9398096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5ed9398096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35ed9398096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5ed9398096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35ed9398096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5ed9398096_0_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35ed9398096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5ed9398096_0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5ed9398096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5ed9398096_0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35ed9398096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5ed9398096_0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35ed9398096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5ed9398096_0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35ed9398096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5ed9398096_0_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35ed9398096_0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5ed9398096_0_3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35ed9398096_0_3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5ed9398096_0_3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35ed9398096_0_3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5ed9398096_0_3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35ed9398096_0_3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5ed9398096_0_3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35ed9398096_0_3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5ed9398096_0_3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35ed9398096_0_3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5ed9398096_0_3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35ed9398096_0_3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5ed9398096_0_3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35ed9398096_0_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6a78fb02ff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36a78fb02ff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5ed9398096_0_3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35ed9398096_0_3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35ed758b338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g35ed758b338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5ed758b338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35ed758b338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5ed9398096_0_5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Google Shape;471;g35ed9398096_0_5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35ed9398096_0_5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35ed9398096_0_5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5ed9398096_0_5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35ed9398096_0_5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5ed9398096_0_5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35ed9398096_0_5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35ed9398096_0_5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35ed9398096_0_5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5ed9398096_0_5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35ed9398096_0_5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5ed9398096_0_5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5ed9398096_0_5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35ed9398096_0_5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8" name="Google Shape;538;g35ed9398096_0_5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35ed9398096_0_6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5" name="Google Shape;545;g35ed9398096_0_6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35ed9398096_0_6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2" name="Google Shape;552;g35ed9398096_0_6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35ed9398096_0_6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8" name="Google Shape;558;g35ed9398096_0_6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35ed9398096_0_6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6" name="Google Shape;566;g35ed9398096_0_6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35ed9398096_0_6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5" name="Google Shape;575;g35ed9398096_0_6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35ed9398096_0_6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1" name="Google Shape;581;g35ed9398096_0_6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35ed9398096_0_6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0" name="Google Shape;590;g35ed9398096_0_6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35ed9398096_0_6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9" name="Google Shape;599;g35ed9398096_0_6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35ed9398096_0_6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7" name="Google Shape;607;g35ed9398096_0_6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35ed9398096_0_6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5" name="Google Shape;615;g35ed9398096_0_6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g35ed9398096_0_6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3" name="Google Shape;623;g35ed9398096_0_6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g35ed9398096_0_6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0" name="Google Shape;630;g35ed9398096_0_6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g35ed9398096_0_6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6" name="Google Shape;636;g35ed9398096_0_6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g35ed9398096_0_6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6" name="Google Shape;646;g35ed9398096_0_6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35ed758b338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2" name="Google Shape;652;g35ed758b338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35ed758b338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8" name="Google Shape;658;g35ed758b338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35ed758b338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4" name="Google Shape;664;g35ed758b338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g35ed758b338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0" name="Google Shape;670;g35ed758b338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g35ed758b338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6" name="Google Shape;676;g35ed758b338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g35ed758b338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2" name="Google Shape;682;g35ed758b338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g35ed758b338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8" name="Google Shape;688;g35ed758b338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g35ed758b338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4" name="Google Shape;694;g35ed758b338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g35ed758b338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0" name="Google Shape;700;g35ed758b338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g35ed758b338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6" name="Google Shape;706;g35ed758b338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1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1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learn.microsoft.com/ko-kr/cpp/windows/latest-supported-vc-redist?view=msvc-170#latest-microsoft-visual-c-redistributable-version" TargetMode="External"/><Relationship Id="rId4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www.python.org/downloads/windows/" TargetMode="Externa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Relationship Id="rId4" Type="http://schemas.openxmlformats.org/officeDocument/2006/relationships/image" Target="../media/image2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0.png"/><Relationship Id="rId4" Type="http://schemas.openxmlformats.org/officeDocument/2006/relationships/image" Target="../media/image17.png"/><Relationship Id="rId5" Type="http://schemas.openxmlformats.org/officeDocument/2006/relationships/hyperlink" Target="https://www.jetbrains.com/lp/devecosystem-2022/javascript/#what-editor-ide-do-you-mostly-use-" TargetMode="External"/><Relationship Id="rId6" Type="http://schemas.openxmlformats.org/officeDocument/2006/relationships/image" Target="../media/image1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0.png"/><Relationship Id="rId4" Type="http://schemas.openxmlformats.org/officeDocument/2006/relationships/hyperlink" Target="https://code.visualstudio.com/Download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8.png"/><Relationship Id="rId4" Type="http://schemas.openxmlformats.org/officeDocument/2006/relationships/image" Target="../media/image2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1.png"/><Relationship Id="rId4" Type="http://schemas.openxmlformats.org/officeDocument/2006/relationships/image" Target="../media/image3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0.png"/><Relationship Id="rId4" Type="http://schemas.openxmlformats.org/officeDocument/2006/relationships/image" Target="../media/image3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4.png"/><Relationship Id="rId4" Type="http://schemas.openxmlformats.org/officeDocument/2006/relationships/image" Target="../media/image2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6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5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7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2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9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8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1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2.png"/><Relationship Id="rId4" Type="http://schemas.openxmlformats.org/officeDocument/2006/relationships/image" Target="../media/image36.png"/><Relationship Id="rId5" Type="http://schemas.openxmlformats.org/officeDocument/2006/relationships/image" Target="../media/image34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0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9.png"/><Relationship Id="rId4" Type="http://schemas.openxmlformats.org/officeDocument/2006/relationships/image" Target="../media/image37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52.png"/><Relationship Id="rId4" Type="http://schemas.openxmlformats.org/officeDocument/2006/relationships/image" Target="../media/image44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56.png"/><Relationship Id="rId4" Type="http://schemas.openxmlformats.org/officeDocument/2006/relationships/image" Target="../media/image43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hyperlink" Target="https://codesyun.tistory.com/133" TargetMode="External"/><Relationship Id="rId4" Type="http://schemas.openxmlformats.org/officeDocument/2006/relationships/hyperlink" Target="https://rudalskim.tistory.com/133" TargetMode="External"/><Relationship Id="rId5" Type="http://schemas.openxmlformats.org/officeDocument/2006/relationships/image" Target="../media/image48.png"/><Relationship Id="rId6" Type="http://schemas.openxmlformats.org/officeDocument/2006/relationships/image" Target="../media/image51.png"/><Relationship Id="rId7" Type="http://schemas.openxmlformats.org/officeDocument/2006/relationships/image" Target="../media/image45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60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64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54.png"/><Relationship Id="rId4" Type="http://schemas.openxmlformats.org/officeDocument/2006/relationships/image" Target="../media/image57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53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47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55.png"/><Relationship Id="rId4" Type="http://schemas.openxmlformats.org/officeDocument/2006/relationships/image" Target="../media/image72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61.png"/><Relationship Id="rId4" Type="http://schemas.openxmlformats.org/officeDocument/2006/relationships/image" Target="../media/image59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70.png"/><Relationship Id="rId4" Type="http://schemas.openxmlformats.org/officeDocument/2006/relationships/image" Target="../media/image63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71.png"/><Relationship Id="rId4" Type="http://schemas.openxmlformats.org/officeDocument/2006/relationships/image" Target="../media/image58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66.png"/><Relationship Id="rId4" Type="http://schemas.openxmlformats.org/officeDocument/2006/relationships/image" Target="../media/image62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68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74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69.png"/><Relationship Id="rId4" Type="http://schemas.openxmlformats.org/officeDocument/2006/relationships/image" Target="../media/image65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67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73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랭체인 개발환경 설정</a:t>
            </a:r>
            <a:endParaRPr/>
          </a:p>
        </p:txBody>
      </p:sp>
      <p:sp>
        <p:nvSpPr>
          <p:cNvPr id="67" name="Google Shape;67;p13"/>
          <p:cNvSpPr txBox="1"/>
          <p:nvPr>
            <p:ph idx="1" type="subTitle"/>
          </p:nvPr>
        </p:nvSpPr>
        <p:spPr>
          <a:xfrm>
            <a:off x="2137225" y="2850055"/>
            <a:ext cx="4870500" cy="11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0000FF"/>
                </a:solidFill>
              </a:rPr>
              <a:t>Native Python</a:t>
            </a:r>
            <a:r>
              <a:rPr lang="ko"/>
              <a:t> +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0000FF"/>
                </a:solidFill>
              </a:rPr>
              <a:t>Visual Studio Code</a:t>
            </a:r>
            <a:r>
              <a:rPr lang="ko"/>
              <a:t> +</a:t>
            </a:r>
            <a:r>
              <a:rPr lang="ko">
                <a:solidFill>
                  <a:srgbClr val="0000FF"/>
                </a:solidFill>
              </a:rPr>
              <a:t> </a:t>
            </a:r>
            <a:endParaRPr>
              <a:solidFill>
                <a:srgbClr val="0000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0000FF"/>
                </a:solidFill>
              </a:rPr>
              <a:t>Virtual Envrionment</a:t>
            </a:r>
            <a:endParaRPr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>
            <p:ph type="title"/>
          </p:nvPr>
        </p:nvSpPr>
        <p:spPr>
          <a:xfrm>
            <a:off x="311700" y="310750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사전 안내</a:t>
            </a:r>
            <a:endParaRPr/>
          </a:p>
        </p:txBody>
      </p:sp>
      <p:sp>
        <p:nvSpPr>
          <p:cNvPr id="73" name="Google Shape;73;p14"/>
          <p:cNvSpPr txBox="1"/>
          <p:nvPr>
            <p:ph idx="1" type="body"/>
          </p:nvPr>
        </p:nvSpPr>
        <p:spPr>
          <a:xfrm>
            <a:off x="311700" y="121467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로컬컴퓨터에 </a:t>
            </a:r>
            <a:r>
              <a:rPr b="1" lang="ko" sz="36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Python </a:t>
            </a:r>
            <a:r>
              <a:rPr lang="ko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설치및 </a:t>
            </a:r>
            <a:r>
              <a:rPr b="1" lang="ko" sz="36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가상환경</a:t>
            </a:r>
            <a:r>
              <a:rPr lang="ko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을 세팅할 예정이고,  개발도구는 </a:t>
            </a:r>
            <a:r>
              <a:rPr b="1" lang="ko" sz="36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Visual Studio Code </a:t>
            </a:r>
            <a:r>
              <a:rPr lang="ko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를 사용할 예정입니다.</a:t>
            </a:r>
            <a:endParaRPr sz="3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파이썬 개발환경 세팅관련하여 발생되는 문제점은 </a:t>
            </a:r>
            <a:r>
              <a:rPr b="1" lang="ko" sz="3600">
                <a:solidFill>
                  <a:srgbClr val="FF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비대면</a:t>
            </a:r>
            <a:r>
              <a:rPr lang="ko" sz="3600">
                <a:solidFill>
                  <a:srgbClr val="FF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 상황에서는 질의응답해드리기 매우 어렵습니다</a:t>
            </a:r>
            <a:r>
              <a:rPr lang="ko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  본인의 노트북을 들고 오시거나 대면으로 전환하여 학원컴에서 학습하시는 것을 추천합니다.</a:t>
            </a:r>
            <a:endParaRPr sz="3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※ Anaconda 사용하지 않습니다.  Anaconda는 비추합니다.</a:t>
            </a:r>
            <a:endParaRPr sz="3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※ Windows 사용자는</a:t>
            </a:r>
            <a:endParaRPr sz="3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-</a:t>
            </a:r>
            <a:r>
              <a:rPr lang="ko" sz="36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사용자 이름</a:t>
            </a:r>
            <a:r>
              <a:rPr lang="ko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에 한글, 띄어쓰기, 특수문자 있으면 안됩니다.</a:t>
            </a:r>
            <a:endParaRPr sz="3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- </a:t>
            </a:r>
            <a:r>
              <a:rPr lang="ko" sz="36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컴퓨터 이름 (장치이름) </a:t>
            </a:r>
            <a:r>
              <a:rPr lang="ko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에도 한글, 띄어쓰기, 특수문자 있으면 안됩니다.</a:t>
            </a:r>
            <a:endParaRPr sz="3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※ MacOS 사용자는 케어해드리지 못하는 점 양해 드립니다. 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/>
        </p:nvSpPr>
        <p:spPr>
          <a:xfrm>
            <a:off x="911200" y="471064"/>
            <a:ext cx="7136700" cy="102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5400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설치전 확인</a:t>
            </a:r>
            <a:endParaRPr b="1" sz="5400">
              <a:solidFill>
                <a:srgbClr val="EF6C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844">
                <a:solidFill>
                  <a:srgbClr val="FF00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사용자명, 장치명, 폴더</a:t>
            </a:r>
            <a:endParaRPr b="1" sz="3844">
              <a:solidFill>
                <a:srgbClr val="FF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2044275" y="1569339"/>
            <a:ext cx="48705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24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개발자 공통 (</a:t>
            </a:r>
            <a:r>
              <a:rPr lang="ko" sz="24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Windows 환경</a:t>
            </a:r>
            <a:r>
              <a:rPr lang="ko" sz="24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)</a:t>
            </a:r>
            <a:endParaRPr sz="24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설치하기 전에</a:t>
            </a:r>
            <a:endParaRPr/>
          </a:p>
        </p:txBody>
      </p:sp>
      <p:sp>
        <p:nvSpPr>
          <p:cNvPr id="85" name="Google Shape;85;p16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ko"/>
              <a:t>폴더 옵션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ko"/>
              <a:t>OS bit 확인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ko"/>
              <a:t>사용자이름, 컴퓨터이름 확인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51650" y="44050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‘MS 윈도우’ 환경 개발자라면..</a:t>
            </a:r>
            <a:endParaRPr/>
          </a:p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656725"/>
            <a:ext cx="8520600" cy="2213100"/>
          </a:xfrm>
          <a:prstGeom prst="rect">
            <a:avLst/>
          </a:prstGeom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FF0000"/>
                </a:solidFill>
              </a:rPr>
              <a:t>사용자 이름이 ‘한글’ 이 있거나,  ‘공백’ 등의 특수 문자가 있다면</a:t>
            </a:r>
            <a:r>
              <a:rPr lang="ko"/>
              <a:t>,  새로운 사용자 이름을 등록하거나,  설치시 매우 주의를 기울여서 사용자 경로에 설치 되지 않도록 신경 써야 합니다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많은 개발 관련 프로그램들이 다국어 폴더 경로를 인식 못하는 경우가 많습니다.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400">
                <a:solidFill>
                  <a:srgbClr val="FF0000"/>
                </a:solidFill>
              </a:rPr>
              <a:t>(기존 사용자폴더 변경하지 말고 새로 만드시는게 가장 스트레스 덜 받습니다.  (관리자 권한 꼭!)</a:t>
            </a:r>
            <a:endParaRPr sz="14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7"/>
          <p:cNvSpPr txBox="1"/>
          <p:nvPr/>
        </p:nvSpPr>
        <p:spPr>
          <a:xfrm>
            <a:off x="242825" y="3145700"/>
            <a:ext cx="8629500" cy="17328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latin typeface="Open Sans"/>
                <a:ea typeface="Open Sans"/>
                <a:cs typeface="Open Sans"/>
                <a:sym typeface="Open Sans"/>
              </a:rPr>
              <a:t>탐색기에서 </a:t>
            </a:r>
            <a:r>
              <a:rPr b="1" lang="ko" sz="1800">
                <a:latin typeface="Open Sans"/>
                <a:ea typeface="Open Sans"/>
                <a:cs typeface="Open Sans"/>
                <a:sym typeface="Open Sans"/>
              </a:rPr>
              <a:t>파일 확장명</a:t>
            </a:r>
            <a:r>
              <a:rPr lang="ko" sz="1800">
                <a:latin typeface="Open Sans"/>
                <a:ea typeface="Open Sans"/>
                <a:cs typeface="Open Sans"/>
                <a:sym typeface="Open Sans"/>
              </a:rPr>
              <a:t>과 </a:t>
            </a:r>
            <a:r>
              <a:rPr b="1" lang="ko" sz="1800">
                <a:latin typeface="Open Sans"/>
                <a:ea typeface="Open Sans"/>
                <a:cs typeface="Open Sans"/>
                <a:sym typeface="Open Sans"/>
              </a:rPr>
              <a:t>숨긴항목</a:t>
            </a:r>
            <a:r>
              <a:rPr lang="ko" sz="1800">
                <a:latin typeface="Open Sans"/>
                <a:ea typeface="Open Sans"/>
                <a:cs typeface="Open Sans"/>
                <a:sym typeface="Open Sans"/>
              </a:rPr>
              <a:t>은 봅시다.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93" name="Google Shape;9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2925" y="3653425"/>
            <a:ext cx="7991151" cy="1072650"/>
          </a:xfrm>
          <a:prstGeom prst="rect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/>
          <p:nvPr>
            <p:ph type="title"/>
          </p:nvPr>
        </p:nvSpPr>
        <p:spPr>
          <a:xfrm>
            <a:off x="160050" y="269450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OS 비트 확인</a:t>
            </a:r>
            <a:endParaRPr/>
          </a:p>
        </p:txBody>
      </p:sp>
      <p:pic>
        <p:nvPicPr>
          <p:cNvPr id="99" name="Google Shape;9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050" y="1802125"/>
            <a:ext cx="3382399" cy="173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8"/>
          <p:cNvPicPr preferRelativeResize="0"/>
          <p:nvPr/>
        </p:nvPicPr>
        <p:blipFill rotWithShape="1">
          <a:blip r:embed="rId4">
            <a:alphaModFix/>
          </a:blip>
          <a:srcRect b="0" l="0" r="8256" t="0"/>
          <a:stretch/>
        </p:blipFill>
        <p:spPr>
          <a:xfrm>
            <a:off x="3787300" y="1788925"/>
            <a:ext cx="5238700" cy="2209825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1" name="Google Shape;101;p18"/>
          <p:cNvSpPr/>
          <p:nvPr/>
        </p:nvSpPr>
        <p:spPr>
          <a:xfrm>
            <a:off x="3665175" y="2972375"/>
            <a:ext cx="542400" cy="367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8"/>
          <p:cNvSpPr txBox="1"/>
          <p:nvPr/>
        </p:nvSpPr>
        <p:spPr>
          <a:xfrm>
            <a:off x="384900" y="3591950"/>
            <a:ext cx="3184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‘실행’ 에서 control system 입력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 txBox="1"/>
          <p:nvPr>
            <p:ph type="title"/>
          </p:nvPr>
        </p:nvSpPr>
        <p:spPr>
          <a:xfrm>
            <a:off x="311700" y="30450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FF0000"/>
                </a:solidFill>
              </a:rPr>
              <a:t>사용자이름</a:t>
            </a:r>
            <a:r>
              <a:rPr lang="ko"/>
              <a:t>, </a:t>
            </a:r>
            <a:r>
              <a:rPr lang="ko">
                <a:solidFill>
                  <a:srgbClr val="FF0000"/>
                </a:solidFill>
              </a:rPr>
              <a:t>컴퓨터이름(장치이름) 은!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08" name="Google Shape;108;p19"/>
          <p:cNvSpPr txBox="1"/>
          <p:nvPr>
            <p:ph idx="1" type="body"/>
          </p:nvPr>
        </p:nvSpPr>
        <p:spPr>
          <a:xfrm>
            <a:off x="311700" y="631025"/>
            <a:ext cx="8520600" cy="475500"/>
          </a:xfrm>
          <a:prstGeom prst="rect">
            <a:avLst/>
          </a:prstGeom>
          <a:solidFill>
            <a:srgbClr val="FFFF00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300">
                <a:solidFill>
                  <a:srgbClr val="FF0000"/>
                </a:solidFill>
                <a:highlight>
                  <a:srgbClr val="FFFF00"/>
                </a:highlight>
              </a:rPr>
              <a:t>한글, 띄어쓰기, 특수문자 사용하면 안됩니다</a:t>
            </a:r>
            <a:endParaRPr b="1" sz="2300">
              <a:solidFill>
                <a:srgbClr val="FF0000"/>
              </a:solidFill>
              <a:highlight>
                <a:srgbClr val="FFFF00"/>
              </a:highlight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2300">
              <a:highlight>
                <a:srgbClr val="FFFF00"/>
              </a:highlight>
            </a:endParaRPr>
          </a:p>
        </p:txBody>
      </p:sp>
      <p:sp>
        <p:nvSpPr>
          <p:cNvPr id="109" name="Google Shape;109;p19"/>
          <p:cNvSpPr txBox="1"/>
          <p:nvPr/>
        </p:nvSpPr>
        <p:spPr>
          <a:xfrm>
            <a:off x="4837250" y="1574250"/>
            <a:ext cx="3481800" cy="138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F3F3F3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ko" sz="1300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set user</a:t>
            </a:r>
            <a:endParaRPr sz="1300">
              <a:solidFill>
                <a:srgbClr val="00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F3F3F3"/>
                </a:solidFill>
                <a:latin typeface="Consolas"/>
                <a:ea typeface="Consolas"/>
                <a:cs typeface="Consolas"/>
                <a:sym typeface="Consolas"/>
              </a:rPr>
              <a:t>USERDOMAIN=KCLASS</a:t>
            </a:r>
            <a:endParaRPr sz="1300">
              <a:solidFill>
                <a:srgbClr val="F3F3F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F3F3F3"/>
                </a:solidFill>
                <a:latin typeface="Consolas"/>
                <a:ea typeface="Consolas"/>
                <a:cs typeface="Consolas"/>
                <a:sym typeface="Consolas"/>
              </a:rPr>
              <a:t>USERDOMAIN_ROAMINGPROFILE=KCLASS</a:t>
            </a:r>
            <a:endParaRPr sz="1300">
              <a:solidFill>
                <a:srgbClr val="F3F3F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USERNAME=User</a:t>
            </a:r>
            <a:endParaRPr sz="1300">
              <a:solidFill>
                <a:srgbClr val="FFFF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F3F3F3"/>
                </a:solidFill>
                <a:latin typeface="Consolas"/>
                <a:ea typeface="Consolas"/>
                <a:cs typeface="Consolas"/>
                <a:sym typeface="Consolas"/>
              </a:rPr>
              <a:t>USERPROFILE=C:\Users\User</a:t>
            </a:r>
            <a:endParaRPr sz="1300">
              <a:solidFill>
                <a:srgbClr val="F3F3F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F3F3F3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0" name="Google Shape;110;p19"/>
          <p:cNvSpPr txBox="1"/>
          <p:nvPr/>
        </p:nvSpPr>
        <p:spPr>
          <a:xfrm>
            <a:off x="180650" y="1550925"/>
            <a:ext cx="4147200" cy="11853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F3F3F3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ko" sz="1300">
                <a:solidFill>
                  <a:srgbClr val="00FFFF"/>
                </a:solidFill>
                <a:highlight>
                  <a:srgbClr val="000000"/>
                </a:highlight>
                <a:latin typeface="Consolas"/>
                <a:ea typeface="Consolas"/>
                <a:cs typeface="Consolas"/>
                <a:sym typeface="Consolas"/>
              </a:rPr>
              <a:t>ipconfig /all</a:t>
            </a:r>
            <a:endParaRPr sz="1300">
              <a:solidFill>
                <a:srgbClr val="00FFFF"/>
              </a:solidFill>
              <a:highlight>
                <a:srgbClr val="0000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F3F3F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F3F3F3"/>
                </a:solidFill>
                <a:latin typeface="Consolas"/>
                <a:ea typeface="Consolas"/>
                <a:cs typeface="Consolas"/>
                <a:sym typeface="Consolas"/>
              </a:rPr>
              <a:t>Windows IP 구성</a:t>
            </a:r>
            <a:endParaRPr sz="1300">
              <a:solidFill>
                <a:srgbClr val="F3F3F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F3F3F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F3F3F3"/>
                </a:solidFill>
                <a:latin typeface="Consolas"/>
                <a:ea typeface="Consolas"/>
                <a:cs typeface="Consolas"/>
                <a:sym typeface="Consolas"/>
              </a:rPr>
              <a:t>   호스트 이름 . . . . . . . . : </a:t>
            </a:r>
            <a:r>
              <a:rPr lang="ko" sz="1300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Kclass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111" name="Google Shape;111;p19"/>
          <p:cNvSpPr/>
          <p:nvPr/>
        </p:nvSpPr>
        <p:spPr>
          <a:xfrm>
            <a:off x="1753050" y="1220125"/>
            <a:ext cx="1347600" cy="549300"/>
          </a:xfrm>
          <a:prstGeom prst="wedgeRoundRectCallout">
            <a:avLst>
              <a:gd fmla="val 6154" name="adj1"/>
              <a:gd fmla="val 77722" name="adj2"/>
              <a:gd fmla="val 0" name="adj3"/>
            </a:avLst>
          </a:prstGeom>
          <a:solidFill>
            <a:srgbClr val="FFFFFF">
              <a:alpha val="81130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장치명 확인</a:t>
            </a:r>
            <a:endParaRPr sz="1100"/>
          </a:p>
        </p:txBody>
      </p:sp>
      <p:sp>
        <p:nvSpPr>
          <p:cNvPr id="112" name="Google Shape;112;p19"/>
          <p:cNvSpPr/>
          <p:nvPr/>
        </p:nvSpPr>
        <p:spPr>
          <a:xfrm>
            <a:off x="6584575" y="1156000"/>
            <a:ext cx="1347600" cy="549300"/>
          </a:xfrm>
          <a:prstGeom prst="wedgeRoundRectCallout">
            <a:avLst>
              <a:gd fmla="val -59602" name="adj1"/>
              <a:gd fmla="val 89450" name="adj2"/>
              <a:gd fmla="val 0" name="adj3"/>
            </a:avLst>
          </a:prstGeom>
          <a:solidFill>
            <a:srgbClr val="FFFFFF">
              <a:alpha val="81130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사용자명 확인</a:t>
            </a:r>
            <a:endParaRPr sz="1100"/>
          </a:p>
        </p:txBody>
      </p:sp>
      <p:sp>
        <p:nvSpPr>
          <p:cNvPr id="113" name="Google Shape;113;p19"/>
          <p:cNvSpPr txBox="1"/>
          <p:nvPr/>
        </p:nvSpPr>
        <p:spPr>
          <a:xfrm>
            <a:off x="4862963" y="3096875"/>
            <a:ext cx="3280200" cy="585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F3F3F3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ko" sz="1300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echo %UserProfile%</a:t>
            </a:r>
            <a:endParaRPr sz="1300">
              <a:solidFill>
                <a:srgbClr val="00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F3F3F3"/>
                </a:solidFill>
                <a:latin typeface="Consolas"/>
                <a:ea typeface="Consolas"/>
                <a:cs typeface="Consolas"/>
                <a:sym typeface="Consolas"/>
              </a:rPr>
              <a:t>C:\Users\User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114" name="Google Shape;114;p19"/>
          <p:cNvSpPr/>
          <p:nvPr/>
        </p:nvSpPr>
        <p:spPr>
          <a:xfrm>
            <a:off x="6945755" y="3114725"/>
            <a:ext cx="1886400" cy="549300"/>
          </a:xfrm>
          <a:prstGeom prst="wedgeRoundRectCallout">
            <a:avLst>
              <a:gd fmla="val -72425" name="adj1"/>
              <a:gd fmla="val 28982" name="adj2"/>
              <a:gd fmla="val 0" name="adj3"/>
            </a:avLst>
          </a:prstGeom>
          <a:solidFill>
            <a:srgbClr val="FFFFFF">
              <a:alpha val="81130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사용자 폴더 확인해보면 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사용자 명으로 만들어져 있다</a:t>
            </a:r>
            <a:endParaRPr sz="1100"/>
          </a:p>
        </p:txBody>
      </p:sp>
      <p:pic>
        <p:nvPicPr>
          <p:cNvPr id="115" name="Google Shape;11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9001" y="2682125"/>
            <a:ext cx="1676725" cy="239592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6" name="Google Shape;116;p19"/>
          <p:cNvSpPr/>
          <p:nvPr/>
        </p:nvSpPr>
        <p:spPr>
          <a:xfrm>
            <a:off x="2452850" y="4181825"/>
            <a:ext cx="1347600" cy="549300"/>
          </a:xfrm>
          <a:prstGeom prst="wedgeRoundRectCallout">
            <a:avLst>
              <a:gd fmla="val -90995" name="adj1"/>
              <a:gd fmla="val 59776" name="adj2"/>
              <a:gd fmla="val 0" name="adj3"/>
            </a:avLst>
          </a:prstGeom>
          <a:solidFill>
            <a:srgbClr val="FFFFFF">
              <a:alpha val="81130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장치 이름은 변경 가능.</a:t>
            </a:r>
            <a:endParaRPr sz="1100"/>
          </a:p>
        </p:txBody>
      </p:sp>
      <p:sp>
        <p:nvSpPr>
          <p:cNvPr id="117" name="Google Shape;117;p19"/>
          <p:cNvSpPr/>
          <p:nvPr/>
        </p:nvSpPr>
        <p:spPr>
          <a:xfrm>
            <a:off x="4837250" y="3819100"/>
            <a:ext cx="3592800" cy="843000"/>
          </a:xfrm>
          <a:prstGeom prst="wedgeRoundRectCallout">
            <a:avLst>
              <a:gd fmla="val -22152" name="adj1"/>
              <a:gd fmla="val -75141" name="adj2"/>
              <a:gd fmla="val 0" name="adj3"/>
            </a:avLst>
          </a:prstGeom>
          <a:solidFill>
            <a:srgbClr val="FFFF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FF0000"/>
                </a:solidFill>
              </a:rPr>
              <a:t>사용자명(폴더) 는 함부로 바꾸거나 삭제하면 안된다.</a:t>
            </a:r>
            <a:endParaRPr sz="11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FF0000"/>
                </a:solidFill>
              </a:rPr>
              <a:t>새로 만드셔야 합니다.</a:t>
            </a:r>
            <a:endParaRPr sz="11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0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Visual C++ Redistributable 설치</a:t>
            </a:r>
            <a:endParaRPr/>
          </a:p>
        </p:txBody>
      </p:sp>
      <p:sp>
        <p:nvSpPr>
          <p:cNvPr id="123" name="Google Shape;123;p20"/>
          <p:cNvSpPr txBox="1"/>
          <p:nvPr>
            <p:ph idx="4294967295" type="subTitle"/>
          </p:nvPr>
        </p:nvSpPr>
        <p:spPr>
          <a:xfrm>
            <a:off x="2162100" y="1604803"/>
            <a:ext cx="4870500" cy="5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ko">
                <a:solidFill>
                  <a:srgbClr val="0000FF"/>
                </a:solidFill>
              </a:rPr>
              <a:t>Windows  환경</a:t>
            </a:r>
            <a:r>
              <a:rPr lang="ko">
                <a:solidFill>
                  <a:srgbClr val="0000FF"/>
                </a:solidFill>
              </a:rPr>
              <a:t> 개발자만!</a:t>
            </a:r>
            <a:endParaRPr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1"/>
          <p:cNvSpPr txBox="1"/>
          <p:nvPr>
            <p:ph type="title"/>
          </p:nvPr>
        </p:nvSpPr>
        <p:spPr>
          <a:xfrm>
            <a:off x="365850" y="20137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Visual C++ 재배포 가능 패키지 최신 버젼 설치</a:t>
            </a:r>
            <a:endParaRPr/>
          </a:p>
        </p:txBody>
      </p:sp>
      <p:sp>
        <p:nvSpPr>
          <p:cNvPr id="129" name="Google Shape;129;p21"/>
          <p:cNvSpPr txBox="1"/>
          <p:nvPr>
            <p:ph idx="1" type="body"/>
          </p:nvPr>
        </p:nvSpPr>
        <p:spPr>
          <a:xfrm>
            <a:off x="311700" y="12663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 u="sng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https://learn.microsoft.com/ko-kr/cpp/windows/latest-supported-vc-redist?view=msvc-170#latest-microsoft-visual-c-redistributable-version</a:t>
            </a:r>
            <a:endParaRPr/>
          </a:p>
        </p:txBody>
      </p:sp>
      <p:pic>
        <p:nvPicPr>
          <p:cNvPr id="130" name="Google Shape;130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83450" y="1693975"/>
            <a:ext cx="4346708" cy="316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2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Chrome 브라우저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3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우클릭 차단 확장 프로그램들은 제거해주세요</a:t>
            </a:r>
            <a:endParaRPr/>
          </a:p>
        </p:txBody>
      </p:sp>
      <p:sp>
        <p:nvSpPr>
          <p:cNvPr id="141" name="Google Shape;141;p23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4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회사의 보안 설정된 노트북 </a:t>
            </a:r>
            <a:r>
              <a:rPr lang="ko">
                <a:solidFill>
                  <a:srgbClr val="FF0000"/>
                </a:solidFill>
              </a:rPr>
              <a:t>불가</a:t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5"/>
          <p:cNvSpPr txBox="1"/>
          <p:nvPr>
            <p:ph type="title"/>
          </p:nvPr>
        </p:nvSpPr>
        <p:spPr>
          <a:xfrm>
            <a:off x="311700" y="225150"/>
            <a:ext cx="8520600" cy="126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회사에서 각종 보안 설정된 노트북은 </a:t>
            </a:r>
            <a:r>
              <a:rPr lang="ko">
                <a:solidFill>
                  <a:srgbClr val="FF0000"/>
                </a:solidFill>
              </a:rPr>
              <a:t>사용 불가능 </a:t>
            </a:r>
            <a:r>
              <a:rPr lang="ko"/>
              <a:t>할수 있습니다</a:t>
            </a:r>
            <a:endParaRPr/>
          </a:p>
        </p:txBody>
      </p:sp>
      <p:sp>
        <p:nvSpPr>
          <p:cNvPr id="152" name="Google Shape;152;p25"/>
          <p:cNvSpPr txBox="1"/>
          <p:nvPr>
            <p:ph idx="1" type="body"/>
          </p:nvPr>
        </p:nvSpPr>
        <p:spPr>
          <a:xfrm>
            <a:off x="311700" y="1680850"/>
            <a:ext cx="8520600" cy="28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ex) 네트워크 차단 → 강의실내 인터넷 접속 안됨.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ex) http 차단  → jupyter notebok 안됨.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6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파이썬 설치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7"/>
          <p:cNvSpPr txBox="1"/>
          <p:nvPr>
            <p:ph type="title"/>
          </p:nvPr>
        </p:nvSpPr>
        <p:spPr>
          <a:xfrm>
            <a:off x="311700" y="2164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파이썬 설치 파일 다운로드 (64bit 의 경우)</a:t>
            </a:r>
            <a:endParaRPr/>
          </a:p>
        </p:txBody>
      </p:sp>
      <p:sp>
        <p:nvSpPr>
          <p:cNvPr id="163" name="Google Shape;163;p27"/>
          <p:cNvSpPr txBox="1"/>
          <p:nvPr>
            <p:ph idx="1" type="body"/>
          </p:nvPr>
        </p:nvSpPr>
        <p:spPr>
          <a:xfrm>
            <a:off x="311700" y="1037725"/>
            <a:ext cx="6352800" cy="50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ko" u="sng">
                <a:solidFill>
                  <a:schemeClr val="hlink"/>
                </a:solidFill>
                <a:hlinkClick r:id="rId3"/>
              </a:rPr>
              <a:t>https://www.python.org/downloads/windows/</a:t>
            </a:r>
            <a:endParaRPr/>
          </a:p>
        </p:txBody>
      </p:sp>
      <p:sp>
        <p:nvSpPr>
          <p:cNvPr id="164" name="Google Shape;164;p27"/>
          <p:cNvSpPr/>
          <p:nvPr/>
        </p:nvSpPr>
        <p:spPr>
          <a:xfrm>
            <a:off x="4410800" y="3028650"/>
            <a:ext cx="1230900" cy="334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5" name="Google Shape;165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9425" y="1539325"/>
            <a:ext cx="4080218" cy="23890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66" name="Google Shape;166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02850" y="2901950"/>
            <a:ext cx="2941625" cy="4609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8"/>
          <p:cNvSpPr txBox="1"/>
          <p:nvPr>
            <p:ph type="title"/>
          </p:nvPr>
        </p:nvSpPr>
        <p:spPr>
          <a:xfrm>
            <a:off x="311700" y="2926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파이썬 설치</a:t>
            </a:r>
            <a:endParaRPr/>
          </a:p>
        </p:txBody>
      </p:sp>
      <p:pic>
        <p:nvPicPr>
          <p:cNvPr id="172" name="Google Shape;17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900" y="1000025"/>
            <a:ext cx="6220778" cy="3838675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8"/>
          <p:cNvSpPr/>
          <p:nvPr/>
        </p:nvSpPr>
        <p:spPr>
          <a:xfrm>
            <a:off x="4520875" y="3512650"/>
            <a:ext cx="1923000" cy="549300"/>
          </a:xfrm>
          <a:prstGeom prst="wedgeRoundRectCallout">
            <a:avLst>
              <a:gd fmla="val -65244" name="adj1"/>
              <a:gd fmla="val 81308" name="adj2"/>
              <a:gd fmla="val 0" name="adj3"/>
            </a:avLst>
          </a:prstGeom>
          <a:solidFill>
            <a:srgbClr val="FFFFFF">
              <a:alpha val="81130"/>
            </a:srgbClr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FF0000"/>
                </a:solidFill>
              </a:rPr>
              <a:t>반드시 체크!</a:t>
            </a:r>
            <a:endParaRPr sz="11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9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파이썬 설치</a:t>
            </a:r>
            <a:endParaRPr/>
          </a:p>
        </p:txBody>
      </p:sp>
      <p:pic>
        <p:nvPicPr>
          <p:cNvPr id="179" name="Google Shape;17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63976"/>
            <a:ext cx="4176399" cy="257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83225" y="1422900"/>
            <a:ext cx="4309500" cy="2659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0"/>
          <p:cNvSpPr txBox="1"/>
          <p:nvPr>
            <p:ph type="title"/>
          </p:nvPr>
        </p:nvSpPr>
        <p:spPr>
          <a:xfrm>
            <a:off x="311700" y="216425"/>
            <a:ext cx="8520600" cy="707400"/>
          </a:xfrm>
          <a:prstGeom prst="rect">
            <a:avLst/>
          </a:prstGeom>
          <a:solidFill>
            <a:srgbClr val="FFFF00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환경변수 세팅 (확인)</a:t>
            </a:r>
            <a:endParaRPr/>
          </a:p>
        </p:txBody>
      </p:sp>
      <p:sp>
        <p:nvSpPr>
          <p:cNvPr id="186" name="Google Shape;186;p30"/>
          <p:cNvSpPr txBox="1"/>
          <p:nvPr>
            <p:ph idx="1" type="body"/>
          </p:nvPr>
        </p:nvSpPr>
        <p:spPr>
          <a:xfrm>
            <a:off x="231975" y="1062100"/>
            <a:ext cx="8248500" cy="56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ko"/>
              <a:t>시스템 창에서 ‘고급 시스템 설정’ 클릭   ( 커맨드 명령 : sysdm.cpl )</a:t>
            </a:r>
            <a:endParaRPr/>
          </a:p>
        </p:txBody>
      </p:sp>
      <p:pic>
        <p:nvPicPr>
          <p:cNvPr id="187" name="Google Shape;18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1100" y="1623700"/>
            <a:ext cx="3198211" cy="32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1"/>
          <p:cNvSpPr txBox="1"/>
          <p:nvPr>
            <p:ph type="title"/>
          </p:nvPr>
        </p:nvSpPr>
        <p:spPr>
          <a:xfrm>
            <a:off x="311700" y="2164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환경변수 세팅 (확인)</a:t>
            </a:r>
            <a:endParaRPr/>
          </a:p>
        </p:txBody>
      </p:sp>
      <p:pic>
        <p:nvPicPr>
          <p:cNvPr id="193" name="Google Shape;19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793041"/>
            <a:ext cx="3267624" cy="4190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31"/>
          <p:cNvPicPr preferRelativeResize="0"/>
          <p:nvPr/>
        </p:nvPicPr>
        <p:blipFill rotWithShape="1">
          <a:blip r:embed="rId4">
            <a:alphaModFix/>
          </a:blip>
          <a:srcRect b="16839" l="0" r="23983" t="0"/>
          <a:stretch/>
        </p:blipFill>
        <p:spPr>
          <a:xfrm>
            <a:off x="5068650" y="706100"/>
            <a:ext cx="3562475" cy="4277176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31"/>
          <p:cNvSpPr/>
          <p:nvPr/>
        </p:nvSpPr>
        <p:spPr>
          <a:xfrm>
            <a:off x="3915500" y="2688700"/>
            <a:ext cx="975900" cy="246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31"/>
          <p:cNvSpPr/>
          <p:nvPr/>
        </p:nvSpPr>
        <p:spPr>
          <a:xfrm>
            <a:off x="6901000" y="295475"/>
            <a:ext cx="1347600" cy="549300"/>
          </a:xfrm>
          <a:prstGeom prst="wedgeRoundRectCallout">
            <a:avLst>
              <a:gd fmla="val -41808" name="adj1"/>
              <a:gd fmla="val 96955" name="adj2"/>
              <a:gd fmla="val 0" name="adj3"/>
            </a:avLst>
          </a:prstGeom>
          <a:solidFill>
            <a:srgbClr val="FFFFFF">
              <a:alpha val="81130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'사용자 변수'의 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'Path' 변수</a:t>
            </a:r>
            <a:endParaRPr sz="1100"/>
          </a:p>
        </p:txBody>
      </p:sp>
      <p:sp>
        <p:nvSpPr>
          <p:cNvPr id="197" name="Google Shape;197;p31"/>
          <p:cNvSpPr/>
          <p:nvPr/>
        </p:nvSpPr>
        <p:spPr>
          <a:xfrm>
            <a:off x="1211975" y="1040680"/>
            <a:ext cx="450900" cy="2463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2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환경변수 세팅 (확인)</a:t>
            </a:r>
            <a:endParaRPr/>
          </a:p>
        </p:txBody>
      </p:sp>
      <p:pic>
        <p:nvPicPr>
          <p:cNvPr id="203" name="Google Shape;203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9525" y="1152425"/>
            <a:ext cx="7103198" cy="368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3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설치확인</a:t>
            </a:r>
            <a:endParaRPr/>
          </a:p>
        </p:txBody>
      </p:sp>
      <p:sp>
        <p:nvSpPr>
          <p:cNvPr id="209" name="Google Shape;209;p33"/>
          <p:cNvSpPr txBox="1"/>
          <p:nvPr>
            <p:ph idx="1" type="body"/>
          </p:nvPr>
        </p:nvSpPr>
        <p:spPr>
          <a:xfrm>
            <a:off x="311700" y="1266325"/>
            <a:ext cx="5148300" cy="80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ko"/>
              <a:t>환경변수가 정상적으로 세팅 되었다면</a:t>
            </a:r>
            <a:br>
              <a:rPr lang="ko"/>
            </a:br>
            <a:r>
              <a:rPr lang="ko"/>
              <a:t>커맨드 창에서 아래 명령어가 실행되어야 한다</a:t>
            </a:r>
            <a:endParaRPr/>
          </a:p>
        </p:txBody>
      </p:sp>
      <p:pic>
        <p:nvPicPr>
          <p:cNvPr id="210" name="Google Shape;21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57850" y="462650"/>
            <a:ext cx="2781300" cy="2143125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11" name="Google Shape;211;p33"/>
          <p:cNvSpPr txBox="1"/>
          <p:nvPr/>
        </p:nvSpPr>
        <p:spPr>
          <a:xfrm>
            <a:off x="142800" y="3200850"/>
            <a:ext cx="9001200" cy="11853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F3F3F3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ko" sz="1300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python</a:t>
            </a:r>
            <a:endParaRPr sz="1300">
              <a:solidFill>
                <a:srgbClr val="00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F3F3F3"/>
                </a:solidFill>
                <a:latin typeface="Consolas"/>
                <a:ea typeface="Consolas"/>
                <a:cs typeface="Consolas"/>
                <a:sym typeface="Consolas"/>
              </a:rPr>
              <a:t>Python 3.12.5 (tags/v3.12.5:ff3bc82, Aug  6 2024, 20:45:27) [MSC v.1940 64 bit (AMD64)] on win32</a:t>
            </a:r>
            <a:endParaRPr sz="1300">
              <a:solidFill>
                <a:srgbClr val="F3F3F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F3F3F3"/>
                </a:solidFill>
                <a:latin typeface="Consolas"/>
                <a:ea typeface="Consolas"/>
                <a:cs typeface="Consolas"/>
                <a:sym typeface="Consolas"/>
              </a:rPr>
              <a:t>Type "help", "copyright", "credits" or "license" for more information.</a:t>
            </a:r>
            <a:endParaRPr sz="1300">
              <a:solidFill>
                <a:srgbClr val="F3F3F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F3F3F3"/>
                </a:solidFill>
                <a:latin typeface="Consolas"/>
                <a:ea typeface="Consolas"/>
                <a:cs typeface="Consolas"/>
                <a:sym typeface="Consolas"/>
              </a:rPr>
              <a:t>&gt;&gt;&gt; </a:t>
            </a:r>
            <a:r>
              <a:rPr lang="ko" sz="1300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quit()</a:t>
            </a:r>
            <a:endParaRPr sz="1300">
              <a:solidFill>
                <a:srgbClr val="FFFF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F3F3F3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Windows 에서 버젼 및 설치 경로 확인</a:t>
            </a:r>
            <a:endParaRPr/>
          </a:p>
        </p:txBody>
      </p:sp>
      <p:sp>
        <p:nvSpPr>
          <p:cNvPr id="217" name="Google Shape;217;p34"/>
          <p:cNvSpPr txBox="1"/>
          <p:nvPr>
            <p:ph idx="1" type="body"/>
          </p:nvPr>
        </p:nvSpPr>
        <p:spPr>
          <a:xfrm>
            <a:off x="311700" y="1190125"/>
            <a:ext cx="8520600" cy="379800"/>
          </a:xfrm>
          <a:prstGeom prst="rect">
            <a:avLst/>
          </a:prstGeom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커맨드 상에서 명령어 입력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34"/>
          <p:cNvSpPr/>
          <p:nvPr/>
        </p:nvSpPr>
        <p:spPr>
          <a:xfrm>
            <a:off x="2321175" y="3623075"/>
            <a:ext cx="4264200" cy="624300"/>
          </a:xfrm>
          <a:prstGeom prst="wedgeRoundRectCallout">
            <a:avLst>
              <a:gd fmla="val -35773" name="adj1"/>
              <a:gd fmla="val -123234" name="adj2"/>
              <a:gd fmla="val 0" name="adj3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위 설치 경로는 잘 기억해둡니다.</a:t>
            </a:r>
            <a:br>
              <a:rPr lang="ko"/>
            </a:br>
            <a:r>
              <a:rPr lang="ko"/>
              <a:t>복사했다가 잠시뒤에 사용하게 될겁니다</a:t>
            </a:r>
            <a:endParaRPr/>
          </a:p>
        </p:txBody>
      </p:sp>
      <p:sp>
        <p:nvSpPr>
          <p:cNvPr id="219" name="Google Shape;219;p34"/>
          <p:cNvSpPr txBox="1"/>
          <p:nvPr/>
        </p:nvSpPr>
        <p:spPr>
          <a:xfrm>
            <a:off x="236100" y="1776850"/>
            <a:ext cx="8671800" cy="138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F3F3F3"/>
                </a:solidFill>
                <a:latin typeface="Consolas"/>
                <a:ea typeface="Consolas"/>
                <a:cs typeface="Consolas"/>
                <a:sym typeface="Consolas"/>
              </a:rPr>
              <a:t>C:\Users\Administrator&gt;</a:t>
            </a:r>
            <a:r>
              <a:rPr lang="ko" sz="1300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python -V</a:t>
            </a:r>
            <a:endParaRPr sz="1300">
              <a:solidFill>
                <a:srgbClr val="00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F3F3F3"/>
                </a:solidFill>
                <a:latin typeface="Consolas"/>
                <a:ea typeface="Consolas"/>
                <a:cs typeface="Consolas"/>
                <a:sym typeface="Consolas"/>
              </a:rPr>
              <a:t>Python 3.12.5</a:t>
            </a:r>
            <a:endParaRPr sz="1300">
              <a:solidFill>
                <a:srgbClr val="F3F3F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F3F3F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F3F3F3"/>
                </a:solidFill>
                <a:latin typeface="Consolas"/>
                <a:ea typeface="Consolas"/>
                <a:cs typeface="Consolas"/>
                <a:sym typeface="Consolas"/>
              </a:rPr>
              <a:t>C:\Users\Administrator&gt;</a:t>
            </a:r>
            <a:r>
              <a:rPr lang="ko" sz="1300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where python</a:t>
            </a:r>
            <a:endParaRPr sz="1300">
              <a:solidFill>
                <a:srgbClr val="00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C:\Users\Administrator\AppData\Local\Programs\Python\Python312\python.exe</a:t>
            </a:r>
            <a:endParaRPr sz="1300">
              <a:solidFill>
                <a:srgbClr val="FFFF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F3F3F3"/>
                </a:solidFill>
                <a:latin typeface="Consolas"/>
                <a:ea typeface="Consolas"/>
                <a:cs typeface="Consolas"/>
                <a:sym typeface="Consolas"/>
              </a:rPr>
              <a:t>C:\Users\Administrator\AppData\Local\Microsoft\WindowsApps\python.exe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5"/>
          <p:cNvSpPr txBox="1"/>
          <p:nvPr>
            <p:ph type="title"/>
          </p:nvPr>
        </p:nvSpPr>
        <p:spPr>
          <a:xfrm>
            <a:off x="311700" y="292625"/>
            <a:ext cx="8520600" cy="707400"/>
          </a:xfrm>
          <a:prstGeom prst="rect">
            <a:avLst/>
          </a:prstGeom>
          <a:solidFill>
            <a:srgbClr val="FFFF00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우선 pip 부터 최신 버젼으로 업그레이드</a:t>
            </a:r>
            <a:endParaRPr/>
          </a:p>
        </p:txBody>
      </p:sp>
      <p:sp>
        <p:nvSpPr>
          <p:cNvPr id="225" name="Google Shape;225;p35"/>
          <p:cNvSpPr txBox="1"/>
          <p:nvPr>
            <p:ph idx="1" type="body"/>
          </p:nvPr>
        </p:nvSpPr>
        <p:spPr>
          <a:xfrm>
            <a:off x="311700" y="3739475"/>
            <a:ext cx="8520600" cy="82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ko"/>
              <a:t>PIP 는 파이썬의 패키지들을 설치 &amp; 업그레이드 하는 프로그램으로 우선 PIP 자신부터 최신버젼으로 업그레이드 해둡니다.</a:t>
            </a:r>
            <a:endParaRPr/>
          </a:p>
        </p:txBody>
      </p:sp>
      <p:pic>
        <p:nvPicPr>
          <p:cNvPr id="226" name="Google Shape;226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4075" y="1152429"/>
            <a:ext cx="6656025" cy="236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6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프로젝트 폴더 생성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7"/>
          <p:cNvSpPr txBox="1"/>
          <p:nvPr/>
        </p:nvSpPr>
        <p:spPr>
          <a:xfrm>
            <a:off x="29300" y="85675"/>
            <a:ext cx="1794300" cy="412800"/>
          </a:xfrm>
          <a:prstGeom prst="rect">
            <a:avLst/>
          </a:prstGeom>
          <a:solidFill>
            <a:srgbClr val="EAD1DC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rgbClr val="595959"/>
                </a:solidFill>
              </a:rPr>
              <a:t>\NLP2501</a:t>
            </a:r>
            <a:endParaRPr b="1" sz="1800">
              <a:solidFill>
                <a:srgbClr val="595959"/>
              </a:solidFill>
            </a:endParaRPr>
          </a:p>
        </p:txBody>
      </p:sp>
      <p:sp>
        <p:nvSpPr>
          <p:cNvPr id="237" name="Google Shape;237;p37"/>
          <p:cNvSpPr txBox="1"/>
          <p:nvPr/>
        </p:nvSpPr>
        <p:spPr>
          <a:xfrm>
            <a:off x="1877325" y="684133"/>
            <a:ext cx="1424400" cy="3387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700"/>
              <a:t>\NLPWork</a:t>
            </a:r>
            <a:endParaRPr b="1" sz="1700">
              <a:solidFill>
                <a:srgbClr val="595959"/>
              </a:solidFill>
              <a:highlight>
                <a:srgbClr val="D9EAD3"/>
              </a:highlight>
            </a:endParaRPr>
          </a:p>
        </p:txBody>
      </p:sp>
      <p:cxnSp>
        <p:nvCxnSpPr>
          <p:cNvPr id="238" name="Google Shape;238;p37"/>
          <p:cNvCxnSpPr>
            <a:stCxn id="236" idx="2"/>
            <a:endCxn id="237" idx="1"/>
          </p:cNvCxnSpPr>
          <p:nvPr/>
        </p:nvCxnSpPr>
        <p:spPr>
          <a:xfrm flipH="1" rot="-5400000">
            <a:off x="1224500" y="200425"/>
            <a:ext cx="354900" cy="951000"/>
          </a:xfrm>
          <a:prstGeom prst="bentConnector2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9" name="Google Shape;239;p37"/>
          <p:cNvSpPr txBox="1"/>
          <p:nvPr/>
        </p:nvSpPr>
        <p:spPr>
          <a:xfrm>
            <a:off x="5349950" y="85675"/>
            <a:ext cx="3681000" cy="5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800">
                <a:solidFill>
                  <a:srgbClr val="000000"/>
                </a:solidFill>
              </a:rPr>
              <a:t>202</a:t>
            </a:r>
            <a:r>
              <a:rPr lang="ko" sz="2800"/>
              <a:t>5</a:t>
            </a:r>
            <a:r>
              <a:rPr lang="ko" sz="2800">
                <a:solidFill>
                  <a:srgbClr val="000000"/>
                </a:solidFill>
              </a:rPr>
              <a:t>. </a:t>
            </a:r>
            <a:r>
              <a:rPr lang="ko" sz="2800"/>
              <a:t>1</a:t>
            </a:r>
            <a:r>
              <a:rPr lang="ko" sz="2800">
                <a:solidFill>
                  <a:srgbClr val="000000"/>
                </a:solidFill>
              </a:rPr>
              <a:t> </a:t>
            </a:r>
            <a:r>
              <a:rPr lang="ko" sz="2800"/>
              <a:t> 자연어처리</a:t>
            </a:r>
            <a:endParaRPr sz="2800">
              <a:solidFill>
                <a:srgbClr val="000000"/>
              </a:solidFill>
            </a:endParaRPr>
          </a:p>
        </p:txBody>
      </p:sp>
      <p:sp>
        <p:nvSpPr>
          <p:cNvPr id="240" name="Google Shape;240;p37"/>
          <p:cNvSpPr/>
          <p:nvPr/>
        </p:nvSpPr>
        <p:spPr>
          <a:xfrm>
            <a:off x="2810650" y="36075"/>
            <a:ext cx="1347600" cy="549300"/>
          </a:xfrm>
          <a:prstGeom prst="wedgeRoundRectCallout">
            <a:avLst>
              <a:gd fmla="val -55920" name="adj1"/>
              <a:gd fmla="val 78377" name="adj2"/>
              <a:gd fmla="val 0" name="adj3"/>
            </a:avLst>
          </a:prstGeom>
          <a:solidFill>
            <a:srgbClr val="FFFFFF">
              <a:alpha val="81130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VSC 로 open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git repository</a:t>
            </a:r>
            <a:endParaRPr sz="11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8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Visual Studio Code </a:t>
            </a:r>
            <a:r>
              <a:rPr lang="ko"/>
              <a:t>설치</a:t>
            </a:r>
            <a:endParaRPr/>
          </a:p>
        </p:txBody>
      </p:sp>
      <p:pic>
        <p:nvPicPr>
          <p:cNvPr id="246" name="Google Shape;246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49400" y="2788900"/>
            <a:ext cx="2990850" cy="153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9"/>
          <p:cNvSpPr txBox="1"/>
          <p:nvPr>
            <p:ph type="title"/>
          </p:nvPr>
        </p:nvSpPr>
        <p:spPr>
          <a:xfrm>
            <a:off x="997500" y="292625"/>
            <a:ext cx="34167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Visual Studio Code</a:t>
            </a:r>
            <a:endParaRPr/>
          </a:p>
        </p:txBody>
      </p:sp>
      <p:sp>
        <p:nvSpPr>
          <p:cNvPr id="252" name="Google Shape;252;p39"/>
          <p:cNvSpPr txBox="1"/>
          <p:nvPr>
            <p:ph idx="1" type="body"/>
          </p:nvPr>
        </p:nvSpPr>
        <p:spPr>
          <a:xfrm>
            <a:off x="235500" y="1037725"/>
            <a:ext cx="46503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MS 개발, 텍스트 에디터, </a:t>
            </a:r>
            <a:br>
              <a:rPr lang="ko"/>
            </a:br>
            <a:r>
              <a:rPr lang="ko"/>
              <a:t>무료 + 크로스플랫폼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다양한 언어에 대한 강력한 </a:t>
            </a:r>
            <a:br>
              <a:rPr lang="ko"/>
            </a:br>
            <a:r>
              <a:rPr lang="ko"/>
              <a:t>텍스트 에디터 + 확장기능 제공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lang="ko"/>
            </a:br>
            <a:r>
              <a:rPr lang="ko"/>
              <a:t>특히 Web FrontEnd 관련 개발 에디터로 현재 전세계 적으로 가장 많이 애용됨.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53" name="Google Shape;253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398" y="116798"/>
            <a:ext cx="809200" cy="80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34600" y="4181900"/>
            <a:ext cx="1618400" cy="8092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39"/>
          <p:cNvSpPr/>
          <p:nvPr/>
        </p:nvSpPr>
        <p:spPr>
          <a:xfrm>
            <a:off x="943700" y="4340425"/>
            <a:ext cx="2328300" cy="556800"/>
          </a:xfrm>
          <a:prstGeom prst="wedgeRectCallout">
            <a:avLst>
              <a:gd fmla="val 60088" name="adj1"/>
              <a:gd fmla="val -14274" name="adj2"/>
            </a:avLst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Visual Studio 와는 다르다!</a:t>
            </a:r>
            <a:endParaRPr/>
          </a:p>
        </p:txBody>
      </p:sp>
      <p:sp>
        <p:nvSpPr>
          <p:cNvPr id="256" name="Google Shape;256;p39"/>
          <p:cNvSpPr txBox="1"/>
          <p:nvPr/>
        </p:nvSpPr>
        <p:spPr>
          <a:xfrm>
            <a:off x="5209875" y="162400"/>
            <a:ext cx="2871600" cy="5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 u="sng">
                <a:solidFill>
                  <a:srgbClr val="CE93D8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2022 Devecosystem survey 조사결과</a:t>
            </a:r>
            <a:endParaRPr sz="1100">
              <a:solidFill>
                <a:srgbClr val="695D46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100">
              <a:solidFill>
                <a:srgbClr val="695D46"/>
              </a:solidFill>
            </a:endParaRPr>
          </a:p>
        </p:txBody>
      </p:sp>
      <p:pic>
        <p:nvPicPr>
          <p:cNvPr id="257" name="Google Shape;257;p3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85800" y="528350"/>
            <a:ext cx="4135976" cy="3686276"/>
          </a:xfrm>
          <a:prstGeom prst="rect">
            <a:avLst/>
          </a:prstGeom>
          <a:noFill/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90200" y="1601125"/>
            <a:ext cx="6542099" cy="3023391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40"/>
          <p:cNvSpPr txBox="1"/>
          <p:nvPr>
            <p:ph type="title"/>
          </p:nvPr>
        </p:nvSpPr>
        <p:spPr>
          <a:xfrm>
            <a:off x="311700" y="1402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다운로드</a:t>
            </a:r>
            <a:endParaRPr/>
          </a:p>
        </p:txBody>
      </p:sp>
      <p:sp>
        <p:nvSpPr>
          <p:cNvPr id="264" name="Google Shape;264;p40"/>
          <p:cNvSpPr txBox="1"/>
          <p:nvPr>
            <p:ph idx="1" type="body"/>
          </p:nvPr>
        </p:nvSpPr>
        <p:spPr>
          <a:xfrm>
            <a:off x="311700" y="961525"/>
            <a:ext cx="8520600" cy="4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400" u="sng">
                <a:solidFill>
                  <a:schemeClr val="hlink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  <a:hlinkClick r:id="rId4"/>
              </a:rPr>
              <a:t>https://code.visualstudio.com/Download</a:t>
            </a:r>
            <a:r>
              <a:rPr lang="ko" sz="2400">
                <a:solidFill>
                  <a:srgbClr val="666666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" sz="2400"/>
              <a:t>에서 다운로드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265" name="Google Shape;265;p40"/>
          <p:cNvSpPr/>
          <p:nvPr/>
        </p:nvSpPr>
        <p:spPr>
          <a:xfrm>
            <a:off x="538600" y="2009775"/>
            <a:ext cx="1337700" cy="857100"/>
          </a:xfrm>
          <a:prstGeom prst="wedgeRectCallout">
            <a:avLst>
              <a:gd fmla="val 72355" name="adj1"/>
              <a:gd fmla="val -18518" name="adj2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시스템 버젼에 맞는걸로 선택</a:t>
            </a:r>
            <a:endParaRPr/>
          </a:p>
        </p:txBody>
      </p:sp>
      <p:sp>
        <p:nvSpPr>
          <p:cNvPr id="266" name="Google Shape;266;p40"/>
          <p:cNvSpPr/>
          <p:nvPr/>
        </p:nvSpPr>
        <p:spPr>
          <a:xfrm>
            <a:off x="207300" y="3044650"/>
            <a:ext cx="1930500" cy="1943400"/>
          </a:xfrm>
          <a:prstGeom prst="wedgeRectCallout">
            <a:avLst>
              <a:gd fmla="val 68271" name="adj1"/>
              <a:gd fmla="val -7975" name="adj2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9900FF"/>
                </a:solidFill>
              </a:rPr>
              <a:t>User Installer</a:t>
            </a:r>
            <a:r>
              <a:rPr lang="ko"/>
              <a:t>는 현재 로그온된 사용자 계정에만 설치를 </a:t>
            </a:r>
            <a:r>
              <a:rPr lang="ko">
                <a:solidFill>
                  <a:srgbClr val="9900FF"/>
                </a:solidFill>
              </a:rPr>
              <a:t>System Installer</a:t>
            </a:r>
            <a:r>
              <a:rPr lang="ko"/>
              <a:t>는 Windows 전체 사용자 계정에서 사용할 수 있도록 설치(관리자 권한 필요)</a:t>
            </a:r>
            <a:endParaRPr/>
          </a:p>
        </p:txBody>
      </p:sp>
      <p:sp>
        <p:nvSpPr>
          <p:cNvPr id="267" name="Google Shape;267;p40"/>
          <p:cNvSpPr/>
          <p:nvPr/>
        </p:nvSpPr>
        <p:spPr>
          <a:xfrm>
            <a:off x="3187825" y="4500850"/>
            <a:ext cx="2544300" cy="487200"/>
          </a:xfrm>
          <a:prstGeom prst="wedgeRoundRectCallout">
            <a:avLst>
              <a:gd fmla="val -24284" name="adj1"/>
              <a:gd fmla="val -78628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/>
              <a:t>가이드에 따라 설치</a:t>
            </a:r>
            <a:endParaRPr sz="10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설치 실행</a:t>
            </a:r>
            <a:endParaRPr/>
          </a:p>
        </p:txBody>
      </p:sp>
      <p:pic>
        <p:nvPicPr>
          <p:cNvPr id="273" name="Google Shape;273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04825"/>
            <a:ext cx="3141475" cy="53284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43400" y="284625"/>
            <a:ext cx="4888889" cy="3686274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41"/>
          <p:cNvSpPr/>
          <p:nvPr/>
        </p:nvSpPr>
        <p:spPr>
          <a:xfrm>
            <a:off x="3141475" y="1819100"/>
            <a:ext cx="647700" cy="345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0" name="Google Shape;280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975" y="666900"/>
            <a:ext cx="4261249" cy="321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29775" y="666933"/>
            <a:ext cx="4261249" cy="3213018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42"/>
          <p:cNvSpPr/>
          <p:nvPr/>
        </p:nvSpPr>
        <p:spPr>
          <a:xfrm>
            <a:off x="4248150" y="2286700"/>
            <a:ext cx="647700" cy="345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42"/>
          <p:cNvSpPr/>
          <p:nvPr/>
        </p:nvSpPr>
        <p:spPr>
          <a:xfrm>
            <a:off x="507675" y="4191075"/>
            <a:ext cx="4470600" cy="459600"/>
          </a:xfrm>
          <a:prstGeom prst="wedgeRoundRectCallout">
            <a:avLst>
              <a:gd fmla="val 5831" name="adj1"/>
              <a:gd fmla="val -88567" name="adj2"/>
              <a:gd fmla="val 0" name="adj3"/>
            </a:avLst>
          </a:prstGeom>
          <a:solidFill>
            <a:srgbClr val="FFFFFF">
              <a:alpha val="81130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※User install 의 경우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C:\Users\User\AppData\Local\Programs\Microsoft VS Code  일거다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Google Shape;288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550" y="297200"/>
            <a:ext cx="4224775" cy="31855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90625" y="314225"/>
            <a:ext cx="4224775" cy="3185526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43"/>
          <p:cNvSpPr/>
          <p:nvPr/>
        </p:nvSpPr>
        <p:spPr>
          <a:xfrm>
            <a:off x="509650" y="2290417"/>
            <a:ext cx="388800" cy="4701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5" name="Google Shape;295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300" y="885325"/>
            <a:ext cx="4380174" cy="3302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62491" y="923825"/>
            <a:ext cx="4329108" cy="3264199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44"/>
          <p:cNvSpPr/>
          <p:nvPr/>
        </p:nvSpPr>
        <p:spPr>
          <a:xfrm>
            <a:off x="5083325" y="3457025"/>
            <a:ext cx="1886700" cy="847500"/>
          </a:xfrm>
          <a:prstGeom prst="wedgeRectCallout">
            <a:avLst>
              <a:gd fmla="val -4237" name="adj1"/>
              <a:gd fmla="val -99053" name="adj2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설치후 시작시켜 보세요.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2" name="Google Shape;302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2387" y="59563"/>
            <a:ext cx="6985475" cy="4638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" name="Google Shape;307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8175" y="457200"/>
            <a:ext cx="7419624" cy="3941675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46"/>
          <p:cNvSpPr/>
          <p:nvPr/>
        </p:nvSpPr>
        <p:spPr>
          <a:xfrm>
            <a:off x="259100" y="304800"/>
            <a:ext cx="1153200" cy="1382700"/>
          </a:xfrm>
          <a:prstGeom prst="wedgeRectCallout">
            <a:avLst>
              <a:gd fmla="val 66842" name="adj1"/>
              <a:gd fmla="val -13889" name="adj2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ALT 를 누르면 메뉴가 보입니다.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7"/>
          <p:cNvSpPr txBox="1"/>
          <p:nvPr>
            <p:ph type="title"/>
          </p:nvPr>
        </p:nvSpPr>
        <p:spPr>
          <a:xfrm>
            <a:off x="117375" y="263625"/>
            <a:ext cx="737700" cy="360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기본화면구성</a:t>
            </a:r>
            <a:endParaRPr/>
          </a:p>
        </p:txBody>
      </p:sp>
      <p:pic>
        <p:nvPicPr>
          <p:cNvPr id="314" name="Google Shape;314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7799" y="-76200"/>
            <a:ext cx="798490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47"/>
          <p:cNvSpPr txBox="1"/>
          <p:nvPr/>
        </p:nvSpPr>
        <p:spPr>
          <a:xfrm>
            <a:off x="1319475" y="464250"/>
            <a:ext cx="305400" cy="40683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6" name="Google Shape;316;p47"/>
          <p:cNvSpPr txBox="1"/>
          <p:nvPr/>
        </p:nvSpPr>
        <p:spPr>
          <a:xfrm>
            <a:off x="1700475" y="464250"/>
            <a:ext cx="1207200" cy="40683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7" name="Google Shape;317;p47"/>
          <p:cNvSpPr txBox="1"/>
          <p:nvPr/>
        </p:nvSpPr>
        <p:spPr>
          <a:xfrm>
            <a:off x="2995875" y="3029900"/>
            <a:ext cx="5886000" cy="15027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8" name="Google Shape;318;p47"/>
          <p:cNvSpPr txBox="1"/>
          <p:nvPr/>
        </p:nvSpPr>
        <p:spPr>
          <a:xfrm>
            <a:off x="1319475" y="4532600"/>
            <a:ext cx="7638600" cy="1524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9" name="Google Shape;319;p47"/>
          <p:cNvSpPr txBox="1"/>
          <p:nvPr/>
        </p:nvSpPr>
        <p:spPr>
          <a:xfrm>
            <a:off x="2995875" y="417800"/>
            <a:ext cx="5886000" cy="25020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0" name="Google Shape;320;p47"/>
          <p:cNvSpPr txBox="1"/>
          <p:nvPr/>
        </p:nvSpPr>
        <p:spPr>
          <a:xfrm>
            <a:off x="8372400" y="494000"/>
            <a:ext cx="509400" cy="22794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1" name="Google Shape;321;p47"/>
          <p:cNvSpPr/>
          <p:nvPr/>
        </p:nvSpPr>
        <p:spPr>
          <a:xfrm>
            <a:off x="8039000" y="36650"/>
            <a:ext cx="1079700" cy="330000"/>
          </a:xfrm>
          <a:prstGeom prst="wedgeRoundRectCallout">
            <a:avLst>
              <a:gd fmla="val -2473" name="adj1"/>
              <a:gd fmla="val 83280" name="adj2"/>
              <a:gd fmla="val 0" name="adj3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mini map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8"/>
          <p:cNvSpPr txBox="1"/>
          <p:nvPr>
            <p:ph type="title"/>
          </p:nvPr>
        </p:nvSpPr>
        <p:spPr>
          <a:xfrm>
            <a:off x="311700" y="243150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0000FF"/>
                </a:solidFill>
              </a:rPr>
              <a:t>시스템 설치</a:t>
            </a:r>
            <a:r>
              <a:rPr lang="ko"/>
              <a:t> 혹은 </a:t>
            </a:r>
            <a:r>
              <a:rPr lang="ko">
                <a:solidFill>
                  <a:srgbClr val="9900FF"/>
                </a:solidFill>
              </a:rPr>
              <a:t>User 설치</a:t>
            </a:r>
            <a:r>
              <a:rPr lang="ko"/>
              <a:t> 여부 확인</a:t>
            </a:r>
            <a:endParaRPr/>
          </a:p>
        </p:txBody>
      </p:sp>
      <p:sp>
        <p:nvSpPr>
          <p:cNvPr id="327" name="Google Shape;327;p48"/>
          <p:cNvSpPr txBox="1"/>
          <p:nvPr>
            <p:ph idx="1" type="body"/>
          </p:nvPr>
        </p:nvSpPr>
        <p:spPr>
          <a:xfrm>
            <a:off x="4653175" y="3867450"/>
            <a:ext cx="4080300" cy="52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ko" sz="1000"/>
              <a:t>C:\Users\{사용자}\AppData\Local\Programs\Microsoft VS Code\Code.exe</a:t>
            </a:r>
            <a:endParaRPr sz="1000"/>
          </a:p>
        </p:txBody>
      </p:sp>
      <p:pic>
        <p:nvPicPr>
          <p:cNvPr id="328" name="Google Shape;328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5288" y="1083650"/>
            <a:ext cx="3667125" cy="25908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9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기초 세팅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50"/>
          <p:cNvSpPr txBox="1"/>
          <p:nvPr>
            <p:ph type="title"/>
          </p:nvPr>
        </p:nvSpPr>
        <p:spPr>
          <a:xfrm>
            <a:off x="311700" y="64025"/>
            <a:ext cx="3805500" cy="707400"/>
          </a:xfrm>
          <a:prstGeom prst="rect">
            <a:avLst/>
          </a:prstGeom>
          <a:solidFill>
            <a:srgbClr val="FFFF00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AutoSave 활성화</a:t>
            </a:r>
            <a:endParaRPr/>
          </a:p>
        </p:txBody>
      </p:sp>
      <p:sp>
        <p:nvSpPr>
          <p:cNvPr id="339" name="Google Shape;339;p50"/>
          <p:cNvSpPr txBox="1"/>
          <p:nvPr>
            <p:ph idx="1" type="body"/>
          </p:nvPr>
        </p:nvSpPr>
        <p:spPr>
          <a:xfrm>
            <a:off x="311700" y="2651175"/>
            <a:ext cx="4477500" cy="8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40" name="Google Shape;340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5975" y="82625"/>
            <a:ext cx="2144475" cy="4308625"/>
          </a:xfrm>
          <a:prstGeom prst="rect">
            <a:avLst/>
          </a:prstGeom>
          <a:noFill/>
          <a:ln cap="flat" cmpd="sng" w="25400">
            <a:solidFill>
              <a:srgbClr val="999999"/>
            </a:solidFill>
            <a:prstDash val="solid"/>
            <a:miter lim="8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51"/>
          <p:cNvSpPr txBox="1"/>
          <p:nvPr>
            <p:ph idx="1" type="body"/>
          </p:nvPr>
        </p:nvSpPr>
        <p:spPr>
          <a:xfrm>
            <a:off x="311700" y="1266325"/>
            <a:ext cx="4187100" cy="9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ko"/>
              <a:t>왼쪽하단 톱니바퀴 - Setting</a:t>
            </a:r>
            <a:endParaRPr/>
          </a:p>
        </p:txBody>
      </p:sp>
      <p:pic>
        <p:nvPicPr>
          <p:cNvPr id="346" name="Google Shape;346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67227" y="376163"/>
            <a:ext cx="3696200" cy="4391175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51"/>
          <p:cNvSpPr txBox="1"/>
          <p:nvPr>
            <p:ph type="title"/>
          </p:nvPr>
        </p:nvSpPr>
        <p:spPr>
          <a:xfrm>
            <a:off x="311700" y="445025"/>
            <a:ext cx="3696300" cy="707400"/>
          </a:xfrm>
          <a:prstGeom prst="rect">
            <a:avLst/>
          </a:prstGeom>
          <a:solidFill>
            <a:srgbClr val="FFFF00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Setting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2" name="Google Shape;352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6973" y="471475"/>
            <a:ext cx="6431251" cy="4048150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52"/>
          <p:cNvSpPr txBox="1"/>
          <p:nvPr/>
        </p:nvSpPr>
        <p:spPr>
          <a:xfrm>
            <a:off x="342075" y="2260200"/>
            <a:ext cx="1734900" cy="23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Open Sans"/>
                <a:ea typeface="Open Sans"/>
                <a:cs typeface="Open Sans"/>
                <a:sym typeface="Open Sans"/>
              </a:rPr>
              <a:t>CTRL + 마우스 휠  움직이면 에디터 창이 확대/축소 됩니다.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4" name="Google Shape;354;p52"/>
          <p:cNvSpPr txBox="1"/>
          <p:nvPr>
            <p:ph type="title"/>
          </p:nvPr>
        </p:nvSpPr>
        <p:spPr>
          <a:xfrm>
            <a:off x="115475" y="62875"/>
            <a:ext cx="3696300" cy="707400"/>
          </a:xfrm>
          <a:prstGeom prst="rect">
            <a:avLst/>
          </a:prstGeom>
          <a:solidFill>
            <a:srgbClr val="FFFFFF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마우스 줌 활성화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53"/>
          <p:cNvSpPr txBox="1"/>
          <p:nvPr>
            <p:ph type="title"/>
          </p:nvPr>
        </p:nvSpPr>
        <p:spPr>
          <a:xfrm>
            <a:off x="311700" y="445025"/>
            <a:ext cx="2522700" cy="707400"/>
          </a:xfrm>
          <a:prstGeom prst="rect">
            <a:avLst/>
          </a:prstGeom>
          <a:solidFill>
            <a:srgbClr val="FFFFFF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테마 설정</a:t>
            </a:r>
            <a:endParaRPr/>
          </a:p>
        </p:txBody>
      </p:sp>
      <p:sp>
        <p:nvSpPr>
          <p:cNvPr id="360" name="Google Shape;360;p53"/>
          <p:cNvSpPr txBox="1"/>
          <p:nvPr>
            <p:ph idx="1" type="body"/>
          </p:nvPr>
        </p:nvSpPr>
        <p:spPr>
          <a:xfrm>
            <a:off x="311700" y="1266325"/>
            <a:ext cx="29031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Settings 들어가서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ko"/>
              <a:t>Color Theme</a:t>
            </a:r>
            <a:r>
              <a:rPr lang="ko"/>
              <a:t> 값 수정</a:t>
            </a:r>
            <a:endParaRPr/>
          </a:p>
        </p:txBody>
      </p:sp>
      <p:pic>
        <p:nvPicPr>
          <p:cNvPr id="361" name="Google Shape;361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4800" y="379600"/>
            <a:ext cx="5624401" cy="3006803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54"/>
          <p:cNvSpPr txBox="1"/>
          <p:nvPr>
            <p:ph type="title"/>
          </p:nvPr>
        </p:nvSpPr>
        <p:spPr>
          <a:xfrm>
            <a:off x="311700" y="-12175"/>
            <a:ext cx="5749500" cy="631800"/>
          </a:xfrm>
          <a:prstGeom prst="rect">
            <a:avLst/>
          </a:prstGeom>
          <a:solidFill>
            <a:srgbClr val="FFFFFF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tree indent size 조정  하기</a:t>
            </a:r>
            <a:endParaRPr/>
          </a:p>
        </p:txBody>
      </p:sp>
      <p:sp>
        <p:nvSpPr>
          <p:cNvPr id="367" name="Google Shape;367;p54"/>
          <p:cNvSpPr txBox="1"/>
          <p:nvPr>
            <p:ph idx="1" type="body"/>
          </p:nvPr>
        </p:nvSpPr>
        <p:spPr>
          <a:xfrm>
            <a:off x="136800" y="656725"/>
            <a:ext cx="6021600" cy="63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ko"/>
              <a:t>최초 indent size 는 너무 좁다..</a:t>
            </a:r>
            <a:endParaRPr/>
          </a:p>
        </p:txBody>
      </p:sp>
      <p:pic>
        <p:nvPicPr>
          <p:cNvPr id="368" name="Google Shape;368;p54"/>
          <p:cNvPicPr preferRelativeResize="0"/>
          <p:nvPr/>
        </p:nvPicPr>
        <p:blipFill rotWithShape="1">
          <a:blip r:embed="rId3">
            <a:alphaModFix/>
          </a:blip>
          <a:srcRect b="16645" l="-1942" r="8545" t="0"/>
          <a:stretch/>
        </p:blipFill>
        <p:spPr>
          <a:xfrm>
            <a:off x="122250" y="1330025"/>
            <a:ext cx="5171601" cy="29669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69" name="Google Shape;369;p54"/>
          <p:cNvPicPr preferRelativeResize="0"/>
          <p:nvPr/>
        </p:nvPicPr>
        <p:blipFill rotWithShape="1">
          <a:blip r:embed="rId4">
            <a:alphaModFix/>
          </a:blip>
          <a:srcRect b="0" l="0" r="16902" t="0"/>
          <a:stretch/>
        </p:blipFill>
        <p:spPr>
          <a:xfrm>
            <a:off x="7638862" y="1330025"/>
            <a:ext cx="1390938" cy="29669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70" name="Google Shape;370;p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61100" y="1335601"/>
            <a:ext cx="1309800" cy="29958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71" name="Google Shape;371;p54"/>
          <p:cNvSpPr/>
          <p:nvPr/>
        </p:nvSpPr>
        <p:spPr>
          <a:xfrm>
            <a:off x="7238025" y="2615675"/>
            <a:ext cx="532500" cy="407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55"/>
          <p:cNvSpPr txBox="1"/>
          <p:nvPr>
            <p:ph type="title"/>
          </p:nvPr>
        </p:nvSpPr>
        <p:spPr>
          <a:xfrm>
            <a:off x="311700" y="290100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Window zoom 레벨 조정하기</a:t>
            </a:r>
            <a:endParaRPr/>
          </a:p>
        </p:txBody>
      </p:sp>
      <p:sp>
        <p:nvSpPr>
          <p:cNvPr id="377" name="Google Shape;377;p55"/>
          <p:cNvSpPr txBox="1"/>
          <p:nvPr>
            <p:ph idx="1" type="body"/>
          </p:nvPr>
        </p:nvSpPr>
        <p:spPr>
          <a:xfrm>
            <a:off x="5105050" y="1266325"/>
            <a:ext cx="3727200" cy="30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기본 가동시의 Window zoom 레벨 설정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Window zoom 레벨은 CTRL + '+' / '-' 로도 이후에 조정은 가능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편집기 zoom  과는 다른설정이다!</a:t>
            </a:r>
            <a:endParaRPr/>
          </a:p>
        </p:txBody>
      </p:sp>
      <p:pic>
        <p:nvPicPr>
          <p:cNvPr id="378" name="Google Shape;378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5600" y="1166038"/>
            <a:ext cx="4598675" cy="32245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56"/>
          <p:cNvSpPr txBox="1"/>
          <p:nvPr>
            <p:ph type="title"/>
          </p:nvPr>
        </p:nvSpPr>
        <p:spPr>
          <a:xfrm>
            <a:off x="311700" y="195050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상단 메뉴바 설정</a:t>
            </a:r>
            <a:endParaRPr/>
          </a:p>
        </p:txBody>
      </p:sp>
      <p:sp>
        <p:nvSpPr>
          <p:cNvPr id="384" name="Google Shape;384;p56"/>
          <p:cNvSpPr txBox="1"/>
          <p:nvPr>
            <p:ph idx="1" type="body"/>
          </p:nvPr>
        </p:nvSpPr>
        <p:spPr>
          <a:xfrm>
            <a:off x="311700" y="2194625"/>
            <a:ext cx="8520600" cy="12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ko"/>
              <a:t>메뉴바  외의 다른것들이 오히려 걸리적 거린다면, Command Center 와 Layout Controls 는 꺼두자</a:t>
            </a:r>
            <a:endParaRPr/>
          </a:p>
        </p:txBody>
      </p:sp>
      <p:pic>
        <p:nvPicPr>
          <p:cNvPr id="385" name="Google Shape;385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54850"/>
            <a:ext cx="8839201" cy="8529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86" name="Google Shape;386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3491125"/>
            <a:ext cx="8839201" cy="294952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5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Python extension 설치</a:t>
            </a:r>
            <a:endParaRPr/>
          </a:p>
        </p:txBody>
      </p:sp>
      <p:sp>
        <p:nvSpPr>
          <p:cNvPr id="392" name="Google Shape;392;p57"/>
          <p:cNvSpPr txBox="1"/>
          <p:nvPr>
            <p:ph idx="1" type="body"/>
          </p:nvPr>
        </p:nvSpPr>
        <p:spPr>
          <a:xfrm>
            <a:off x="311700" y="1266325"/>
            <a:ext cx="42018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93" name="Google Shape;393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421" y="1392500"/>
            <a:ext cx="3494450" cy="822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65900" y="1304825"/>
            <a:ext cx="4325701" cy="3096627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57"/>
          <p:cNvSpPr/>
          <p:nvPr/>
        </p:nvSpPr>
        <p:spPr>
          <a:xfrm>
            <a:off x="3590875" y="1620175"/>
            <a:ext cx="1118700" cy="366900"/>
          </a:xfrm>
          <a:prstGeom prst="rightArrow">
            <a:avLst>
              <a:gd fmla="val 58675" name="adj1"/>
              <a:gd fmla="val 26311" name="adj2"/>
            </a:avLst>
          </a:prstGeom>
          <a:solidFill>
            <a:srgbClr val="00FFFF"/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설치결과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58"/>
          <p:cNvSpPr txBox="1"/>
          <p:nvPr>
            <p:ph type="title"/>
          </p:nvPr>
        </p:nvSpPr>
        <p:spPr>
          <a:xfrm>
            <a:off x="156775" y="106425"/>
            <a:ext cx="31587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Select Interpreter</a:t>
            </a:r>
            <a:endParaRPr/>
          </a:p>
        </p:txBody>
      </p:sp>
      <p:sp>
        <p:nvSpPr>
          <p:cNvPr id="401" name="Google Shape;401;p58"/>
          <p:cNvSpPr txBox="1"/>
          <p:nvPr>
            <p:ph idx="1" type="body"/>
          </p:nvPr>
        </p:nvSpPr>
        <p:spPr>
          <a:xfrm>
            <a:off x="70250" y="1399050"/>
            <a:ext cx="2301300" cy="21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ko"/>
              <a:t>자신의 컴퓨터에 설치된 Python 환경이 여러개일수 있다!  사용하고자 하는 파이썬을 선택해야 한다</a:t>
            </a:r>
            <a:endParaRPr/>
          </a:p>
        </p:txBody>
      </p:sp>
      <p:pic>
        <p:nvPicPr>
          <p:cNvPr id="402" name="Google Shape;402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1298" y="106425"/>
            <a:ext cx="5668524" cy="224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32976" y="2571750"/>
            <a:ext cx="5668524" cy="2286997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58"/>
          <p:cNvSpPr/>
          <p:nvPr/>
        </p:nvSpPr>
        <p:spPr>
          <a:xfrm>
            <a:off x="5410100" y="1858325"/>
            <a:ext cx="492900" cy="10158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0FFFF"/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59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Jupyter 설치</a:t>
            </a:r>
            <a:endParaRPr/>
          </a:p>
        </p:txBody>
      </p:sp>
      <p:sp>
        <p:nvSpPr>
          <p:cNvPr id="410" name="Google Shape;410;p59"/>
          <p:cNvSpPr txBox="1"/>
          <p:nvPr>
            <p:ph idx="1" type="body"/>
          </p:nvPr>
        </p:nvSpPr>
        <p:spPr>
          <a:xfrm>
            <a:off x="311700" y="1266325"/>
            <a:ext cx="45012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411" name="Google Shape;411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3575" y="1571173"/>
            <a:ext cx="4317450" cy="100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16000" y="1304825"/>
            <a:ext cx="3175600" cy="3229627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59"/>
          <p:cNvSpPr/>
          <p:nvPr/>
        </p:nvSpPr>
        <p:spPr>
          <a:xfrm>
            <a:off x="4654700" y="1888032"/>
            <a:ext cx="1118700" cy="585300"/>
          </a:xfrm>
          <a:prstGeom prst="rightArrow">
            <a:avLst>
              <a:gd fmla="val 58675" name="adj1"/>
              <a:gd fmla="val 26311" name="adj2"/>
            </a:avLst>
          </a:prstGeom>
          <a:solidFill>
            <a:srgbClr val="00FFFF"/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설치결과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60"/>
          <p:cNvSpPr txBox="1"/>
          <p:nvPr>
            <p:ph type="title"/>
          </p:nvPr>
        </p:nvSpPr>
        <p:spPr>
          <a:xfrm>
            <a:off x="377325" y="0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Code Runner 설치</a:t>
            </a:r>
            <a:endParaRPr/>
          </a:p>
        </p:txBody>
      </p:sp>
      <p:sp>
        <p:nvSpPr>
          <p:cNvPr id="419" name="Google Shape;419;p60"/>
          <p:cNvSpPr txBox="1"/>
          <p:nvPr>
            <p:ph idx="1" type="body"/>
          </p:nvPr>
        </p:nvSpPr>
        <p:spPr>
          <a:xfrm>
            <a:off x="487275" y="2412775"/>
            <a:ext cx="8520600" cy="114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u="sng">
                <a:solidFill>
                  <a:schemeClr val="hlink"/>
                </a:solidFill>
                <a:hlinkClick r:id="rId3"/>
              </a:rPr>
              <a:t>[Python] VS Code에서 Code Runner로 Python 빌드 및 실행하기, 한글 깨짐 해결</a:t>
            </a:r>
            <a:endParaRPr b="1" sz="230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u="sng">
                <a:solidFill>
                  <a:schemeClr val="hlink"/>
                </a:solidFill>
                <a:hlinkClick r:id="rId4"/>
              </a:rPr>
              <a:t>https://rudalskim.tistory.com/133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420" name="Google Shape;420;p6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2900" y="3929325"/>
            <a:ext cx="4752975" cy="10191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21" name="Google Shape;421;p60"/>
          <p:cNvSpPr/>
          <p:nvPr/>
        </p:nvSpPr>
        <p:spPr>
          <a:xfrm>
            <a:off x="5915575" y="3933325"/>
            <a:ext cx="2454300" cy="1149000"/>
          </a:xfrm>
          <a:prstGeom prst="wedgeRoundRectCallout">
            <a:avLst>
              <a:gd fmla="val -71914" name="adj1"/>
              <a:gd fmla="val -3192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22" name="Google Shape;422;p6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2075" y="565025"/>
            <a:ext cx="3937276" cy="82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3" name="Google Shape;423;p6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892175" y="63601"/>
            <a:ext cx="3623051" cy="211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8" name="Google Shape;428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7025" y="204025"/>
            <a:ext cx="4464351" cy="223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62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Terminal 창에서 보기 / 안보기</a:t>
            </a:r>
            <a:endParaRPr/>
          </a:p>
        </p:txBody>
      </p:sp>
      <p:sp>
        <p:nvSpPr>
          <p:cNvPr id="434" name="Google Shape;434;p62"/>
          <p:cNvSpPr txBox="1"/>
          <p:nvPr>
            <p:ph idx="1" type="body"/>
          </p:nvPr>
        </p:nvSpPr>
        <p:spPr>
          <a:xfrm>
            <a:off x="311700" y="1266325"/>
            <a:ext cx="22377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435" name="Google Shape;435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1800" y="1304825"/>
            <a:ext cx="6289799" cy="32588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63"/>
          <p:cNvSpPr txBox="1"/>
          <p:nvPr>
            <p:ph type="title"/>
          </p:nvPr>
        </p:nvSpPr>
        <p:spPr>
          <a:xfrm>
            <a:off x="311700" y="73200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기본 실행 터미널 변경하려면</a:t>
            </a:r>
            <a:endParaRPr/>
          </a:p>
        </p:txBody>
      </p:sp>
      <p:sp>
        <p:nvSpPr>
          <p:cNvPr id="441" name="Google Shape;441;p63"/>
          <p:cNvSpPr txBox="1"/>
          <p:nvPr>
            <p:ph idx="1" type="body"/>
          </p:nvPr>
        </p:nvSpPr>
        <p:spPr>
          <a:xfrm>
            <a:off x="311700" y="780600"/>
            <a:ext cx="8520600" cy="43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ko"/>
              <a:t>터미널로 실행할때  기본 터미널 설정</a:t>
            </a:r>
            <a:endParaRPr/>
          </a:p>
        </p:txBody>
      </p:sp>
      <p:pic>
        <p:nvPicPr>
          <p:cNvPr id="442" name="Google Shape;442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98" y="1304048"/>
            <a:ext cx="2507612" cy="33771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43" name="Google Shape;443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85600" y="1962950"/>
            <a:ext cx="5532625" cy="14998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44" name="Google Shape;444;p63"/>
          <p:cNvSpPr/>
          <p:nvPr/>
        </p:nvSpPr>
        <p:spPr>
          <a:xfrm>
            <a:off x="2558025" y="3095900"/>
            <a:ext cx="752100" cy="366900"/>
          </a:xfrm>
          <a:prstGeom prst="rightArrow">
            <a:avLst>
              <a:gd fmla="val 58675" name="adj1"/>
              <a:gd fmla="val 26311" name="adj2"/>
            </a:avLst>
          </a:prstGeom>
          <a:solidFill>
            <a:srgbClr val="00FFFF"/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6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터미널 폰트 크기 설정</a:t>
            </a:r>
            <a:endParaRPr/>
          </a:p>
        </p:txBody>
      </p:sp>
      <p:pic>
        <p:nvPicPr>
          <p:cNvPr id="450" name="Google Shape;450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175" y="1215025"/>
            <a:ext cx="5620576" cy="31249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6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옵션: sqlite viewer</a:t>
            </a:r>
            <a:endParaRPr/>
          </a:p>
        </p:txBody>
      </p:sp>
      <p:sp>
        <p:nvSpPr>
          <p:cNvPr id="456" name="Google Shape;456;p65"/>
          <p:cNvSpPr txBox="1"/>
          <p:nvPr>
            <p:ph idx="1" type="body"/>
          </p:nvPr>
        </p:nvSpPr>
        <p:spPr>
          <a:xfrm>
            <a:off x="311700" y="2571750"/>
            <a:ext cx="8520600" cy="19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ko"/>
              <a:t>과정에 필요한 경우 설치</a:t>
            </a:r>
            <a:endParaRPr/>
          </a:p>
        </p:txBody>
      </p:sp>
      <p:pic>
        <p:nvPicPr>
          <p:cNvPr id="457" name="Google Shape;457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3425" y="1152425"/>
            <a:ext cx="5200650" cy="104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6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66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67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가상환경 설정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68"/>
          <p:cNvSpPr txBox="1"/>
          <p:nvPr>
            <p:ph type="title"/>
          </p:nvPr>
        </p:nvSpPr>
        <p:spPr>
          <a:xfrm>
            <a:off x="311700" y="0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가상환경 (Virtual Environment) </a:t>
            </a:r>
            <a:endParaRPr/>
          </a:p>
        </p:txBody>
      </p:sp>
      <p:sp>
        <p:nvSpPr>
          <p:cNvPr id="474" name="Google Shape;474;p68"/>
          <p:cNvSpPr txBox="1"/>
          <p:nvPr/>
        </p:nvSpPr>
        <p:spPr>
          <a:xfrm>
            <a:off x="311700" y="749625"/>
            <a:ext cx="8634600" cy="39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ko" sz="1700"/>
              <a:t>✅ 가상환경을 만드는 이유</a:t>
            </a:r>
            <a:endParaRPr b="1" sz="17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ko" sz="1300"/>
              <a:t>1. 프로젝트마다 다른 라이브러리 버전을 관리하기 위해</a:t>
            </a:r>
            <a:endParaRPr b="1" sz="13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ko" sz="1100"/>
              <a:t>예를 들어, 프로젝트 A는 </a:t>
            </a: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Django 2.x</a:t>
            </a:r>
            <a:r>
              <a:rPr lang="ko" sz="1100"/>
              <a:t>, 프로젝트 B는 </a:t>
            </a: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Django 4.x</a:t>
            </a:r>
            <a:r>
              <a:rPr lang="ko" sz="1100"/>
              <a:t>를 필요로 한다면,</a:t>
            </a:r>
            <a:br>
              <a:rPr lang="ko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ko" sz="1100"/>
              <a:t>시스템 전체에 설치하면 충돌이 생기지만, 각 프로젝트마다 가상환경을 만들면 </a:t>
            </a:r>
            <a:r>
              <a:rPr b="1" lang="ko" sz="1100"/>
              <a:t>독립적으로 버전을 관리</a:t>
            </a:r>
            <a:r>
              <a:rPr lang="ko" sz="1100"/>
              <a:t>할 수 있습니다.</a:t>
            </a:r>
            <a:br>
              <a:rPr lang="ko" sz="1100"/>
            </a:b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ko" sz="1300"/>
              <a:t>2. 시스템 파이썬 환경을 깨뜨리지 않기 위해</a:t>
            </a:r>
            <a:endParaRPr b="1" sz="13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ko" sz="1100"/>
              <a:t>전역 환경(global environment)에 직접 라이브러리를 설치하면 다른 프로그램이 영향을 받을 수 있습니다.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ko" sz="1100"/>
              <a:t>심지어 파이썬이 여러개 설치하여 운영 하는 경우도 있을것이다.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ko" sz="1100"/>
              <a:t>가상환경은 </a:t>
            </a:r>
            <a:r>
              <a:rPr b="1" lang="ko" sz="1100"/>
              <a:t>격리된 공간</a:t>
            </a:r>
            <a:r>
              <a:rPr lang="ko" sz="1100"/>
              <a:t>이기 때문에, 실험하거나 특정 설정을 테스트하기에 안전합니다.</a:t>
            </a:r>
            <a:br>
              <a:rPr lang="ko" sz="1100"/>
            </a:b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ko" sz="1300"/>
              <a:t>3. 배포 및 협업을 용이하게 하기 위해</a:t>
            </a:r>
            <a:endParaRPr b="1" sz="13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requirements.txt</a:t>
            </a:r>
            <a:r>
              <a:rPr lang="ko" sz="1100"/>
              <a:t>로 가상환경에 설치된 패키지를 기록하고 공유하면, 다른 사람도 </a:t>
            </a:r>
            <a:r>
              <a:rPr b="1" lang="ko" sz="1100"/>
              <a:t>같은 환경을 재현</a:t>
            </a:r>
            <a:r>
              <a:rPr lang="ko" sz="1100"/>
              <a:t>할 수 있습니다.</a:t>
            </a:r>
            <a:endParaRPr sz="1100"/>
          </a:p>
        </p:txBody>
      </p:sp>
      <p:sp>
        <p:nvSpPr>
          <p:cNvPr id="475" name="Google Shape;475;p68"/>
          <p:cNvSpPr/>
          <p:nvPr/>
        </p:nvSpPr>
        <p:spPr>
          <a:xfrm>
            <a:off x="6341600" y="212225"/>
            <a:ext cx="2401200" cy="1236600"/>
          </a:xfrm>
          <a:prstGeom prst="wedgeRoundRectCallout">
            <a:avLst>
              <a:gd fmla="val -70647" name="adj1"/>
              <a:gd fmla="val 21600" name="adj2"/>
              <a:gd fmla="val 0" name="adj3"/>
            </a:avLst>
          </a:prstGeom>
          <a:solidFill>
            <a:srgbClr val="FFFFFF">
              <a:alpha val="81130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2개월차에 했었다.</a:t>
            </a:r>
            <a:endParaRPr sz="110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69"/>
          <p:cNvSpPr txBox="1"/>
          <p:nvPr>
            <p:ph type="title"/>
          </p:nvPr>
        </p:nvSpPr>
        <p:spPr>
          <a:xfrm>
            <a:off x="311700" y="238450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Terminal - </a:t>
            </a:r>
            <a:r>
              <a:rPr lang="ko">
                <a:solidFill>
                  <a:srgbClr val="0000FF"/>
                </a:solidFill>
              </a:rPr>
              <a:t>Commant Prompt</a:t>
            </a:r>
            <a:r>
              <a:rPr lang="ko"/>
              <a:t> 로 열기</a:t>
            </a:r>
            <a:endParaRPr/>
          </a:p>
        </p:txBody>
      </p:sp>
      <p:sp>
        <p:nvSpPr>
          <p:cNvPr id="481" name="Google Shape;481;p69"/>
          <p:cNvSpPr txBox="1"/>
          <p:nvPr>
            <p:ph idx="1" type="body"/>
          </p:nvPr>
        </p:nvSpPr>
        <p:spPr>
          <a:xfrm>
            <a:off x="311700" y="1039100"/>
            <a:ext cx="85206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ko"/>
              <a:t>Terminal 을 열면 Windows 에선 기본적으로 Powershell 을 여나,  비추합니다</a:t>
            </a:r>
            <a:br>
              <a:rPr lang="ko"/>
            </a:br>
            <a:r>
              <a:rPr lang="ko"/>
              <a:t>Command Prompt 로 여세요</a:t>
            </a:r>
            <a:endParaRPr/>
          </a:p>
        </p:txBody>
      </p:sp>
      <p:pic>
        <p:nvPicPr>
          <p:cNvPr id="482" name="Google Shape;482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775" y="3088550"/>
            <a:ext cx="8839202" cy="133890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83" name="Google Shape;483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55150" y="1586250"/>
            <a:ext cx="2507250" cy="1774800"/>
          </a:xfrm>
          <a:prstGeom prst="rect">
            <a:avLst/>
          </a:prstGeom>
          <a:noFill/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70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where python 으로 확인</a:t>
            </a:r>
            <a:endParaRPr/>
          </a:p>
        </p:txBody>
      </p:sp>
      <p:sp>
        <p:nvSpPr>
          <p:cNvPr id="489" name="Google Shape;489;p70"/>
          <p:cNvSpPr txBox="1"/>
          <p:nvPr>
            <p:ph idx="1" type="body"/>
          </p:nvPr>
        </p:nvSpPr>
        <p:spPr>
          <a:xfrm>
            <a:off x="167100" y="3001475"/>
            <a:ext cx="8520600" cy="106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70"/>
          <p:cNvSpPr txBox="1"/>
          <p:nvPr/>
        </p:nvSpPr>
        <p:spPr>
          <a:xfrm>
            <a:off x="363350" y="1208100"/>
            <a:ext cx="8004300" cy="785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F3F3F3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ko" sz="1300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where python</a:t>
            </a:r>
            <a:endParaRPr sz="1300">
              <a:solidFill>
                <a:srgbClr val="00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F3F3F3"/>
                </a:solidFill>
                <a:latin typeface="Consolas"/>
                <a:ea typeface="Consolas"/>
                <a:cs typeface="Consolas"/>
                <a:sym typeface="Consolas"/>
              </a:rPr>
              <a:t>C:\Users\User\AppData\Local\Programs\Python\Python312\python.exe</a:t>
            </a:r>
            <a:endParaRPr sz="1300">
              <a:solidFill>
                <a:srgbClr val="F3F3F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F3F3F3"/>
                </a:solidFill>
                <a:latin typeface="Consolas"/>
                <a:ea typeface="Consolas"/>
                <a:cs typeface="Consolas"/>
                <a:sym typeface="Consolas"/>
              </a:rPr>
              <a:t>C:\Users\User\AppData\Local\Microsoft\WindowsApps\python.exe</a:t>
            </a:r>
            <a:endParaRPr sz="1300">
              <a:solidFill>
                <a:srgbClr val="F3F3F3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91" name="Google Shape;491;p70"/>
          <p:cNvSpPr/>
          <p:nvPr/>
        </p:nvSpPr>
        <p:spPr>
          <a:xfrm>
            <a:off x="6239875" y="658800"/>
            <a:ext cx="2301600" cy="549300"/>
          </a:xfrm>
          <a:prstGeom prst="wedgeRoundRectCallout">
            <a:avLst>
              <a:gd fmla="val -108365" name="adj1"/>
              <a:gd fmla="val 120139" name="adj2"/>
              <a:gd fmla="val 0" name="adj3"/>
            </a:avLst>
          </a:prstGeom>
          <a:solidFill>
            <a:srgbClr val="FFFFFF">
              <a:alpha val="81130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맨 위에 있는게 인터프리터 기본적으로 가장 우선적으로 동작</a:t>
            </a:r>
            <a:endParaRPr sz="110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71"/>
          <p:cNvSpPr txBox="1"/>
          <p:nvPr>
            <p:ph type="title"/>
          </p:nvPr>
        </p:nvSpPr>
        <p:spPr>
          <a:xfrm>
            <a:off x="311700" y="124850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가상환경 만들기</a:t>
            </a:r>
            <a:endParaRPr/>
          </a:p>
        </p:txBody>
      </p:sp>
      <p:sp>
        <p:nvSpPr>
          <p:cNvPr id="497" name="Google Shape;497;p71"/>
          <p:cNvSpPr txBox="1"/>
          <p:nvPr/>
        </p:nvSpPr>
        <p:spPr>
          <a:xfrm>
            <a:off x="467500" y="832250"/>
            <a:ext cx="3312600" cy="384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F3F3F3"/>
                </a:solidFill>
                <a:latin typeface="Consolas"/>
                <a:ea typeface="Consolas"/>
                <a:cs typeface="Consolas"/>
                <a:sym typeface="Consolas"/>
              </a:rPr>
              <a:t>python -m venv </a:t>
            </a:r>
            <a:r>
              <a:rPr lang="ko" sz="1300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가상환경이름</a:t>
            </a:r>
            <a:endParaRPr sz="1300">
              <a:solidFill>
                <a:srgbClr val="FFFF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98" name="Google Shape;498;p71"/>
          <p:cNvSpPr txBox="1"/>
          <p:nvPr/>
        </p:nvSpPr>
        <p:spPr>
          <a:xfrm>
            <a:off x="4019175" y="891425"/>
            <a:ext cx="3377100" cy="384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F3F3F3"/>
                </a:solidFill>
                <a:latin typeface="Consolas"/>
                <a:ea typeface="Consolas"/>
                <a:cs typeface="Consolas"/>
                <a:sym typeface="Consolas"/>
              </a:rPr>
              <a:t>python -m venv </a:t>
            </a:r>
            <a:r>
              <a:rPr lang="ko" sz="1300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.venv</a:t>
            </a:r>
            <a:endParaRPr sz="1300">
              <a:solidFill>
                <a:srgbClr val="FFFF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99" name="Google Shape;499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775" y="1445062"/>
            <a:ext cx="6199524" cy="26021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00" name="Google Shape;500;p71"/>
          <p:cNvPicPr preferRelativeResize="0"/>
          <p:nvPr/>
        </p:nvPicPr>
        <p:blipFill rotWithShape="1">
          <a:blip r:embed="rId4">
            <a:alphaModFix/>
          </a:blip>
          <a:srcRect b="0" l="52239" r="0" t="68625"/>
          <a:stretch/>
        </p:blipFill>
        <p:spPr>
          <a:xfrm>
            <a:off x="4727775" y="3671175"/>
            <a:ext cx="4416224" cy="1182099"/>
          </a:xfrm>
          <a:prstGeom prst="rect">
            <a:avLst/>
          </a:prstGeom>
          <a:noFill/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01" name="Google Shape;501;p71"/>
          <p:cNvSpPr/>
          <p:nvPr/>
        </p:nvSpPr>
        <p:spPr>
          <a:xfrm>
            <a:off x="6821900" y="2471500"/>
            <a:ext cx="1700100" cy="549300"/>
          </a:xfrm>
          <a:prstGeom prst="wedgeRoundRectCallout">
            <a:avLst>
              <a:gd fmla="val -61682" name="adj1"/>
              <a:gd fmla="val 58126" name="adj2"/>
              <a:gd fmla="val 0" name="adj3"/>
            </a:avLst>
          </a:prstGeom>
          <a:solidFill>
            <a:srgbClr val="FFFFFF">
              <a:alpha val="81130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가상환경을 만들었다.</a:t>
            </a:r>
            <a:endParaRPr sz="1100"/>
          </a:p>
        </p:txBody>
      </p:sp>
      <p:sp>
        <p:nvSpPr>
          <p:cNvPr id="502" name="Google Shape;502;p71"/>
          <p:cNvSpPr/>
          <p:nvPr/>
        </p:nvSpPr>
        <p:spPr>
          <a:xfrm>
            <a:off x="519075" y="4121500"/>
            <a:ext cx="1700100" cy="549300"/>
          </a:xfrm>
          <a:prstGeom prst="wedgeRoundRectCallout">
            <a:avLst>
              <a:gd fmla="val -38007" name="adj1"/>
              <a:gd fmla="val -294015" name="adj2"/>
              <a:gd fmla="val 0" name="adj3"/>
            </a:avLst>
          </a:prstGeom>
          <a:solidFill>
            <a:srgbClr val="FFFF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FF0000"/>
                </a:solidFill>
              </a:rPr>
              <a:t>아직 가상환경이 활성화 된건 아니다!!</a:t>
            </a:r>
            <a:endParaRPr sz="11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72"/>
          <p:cNvSpPr txBox="1"/>
          <p:nvPr>
            <p:ph type="title"/>
          </p:nvPr>
        </p:nvSpPr>
        <p:spPr>
          <a:xfrm>
            <a:off x="136100" y="70700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생성된 가상환경 들여다 보기</a:t>
            </a:r>
            <a:endParaRPr/>
          </a:p>
        </p:txBody>
      </p:sp>
      <p:pic>
        <p:nvPicPr>
          <p:cNvPr id="508" name="Google Shape;508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12050" y="605023"/>
            <a:ext cx="4071499" cy="41795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09" name="Google Shape;509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0475" y="778100"/>
            <a:ext cx="1894576" cy="400645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10" name="Google Shape;510;p72"/>
          <p:cNvSpPr/>
          <p:nvPr/>
        </p:nvSpPr>
        <p:spPr>
          <a:xfrm>
            <a:off x="2615050" y="2987900"/>
            <a:ext cx="1700100" cy="549300"/>
          </a:xfrm>
          <a:prstGeom prst="wedgeRoundRectCallout">
            <a:avLst>
              <a:gd fmla="val -61682" name="adj1"/>
              <a:gd fmla="val 58126" name="adj2"/>
              <a:gd fmla="val 0" name="adj3"/>
            </a:avLst>
          </a:prstGeom>
          <a:solidFill>
            <a:srgbClr val="FFFFFF">
              <a:alpha val="81130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인터프리터와 pip </a:t>
            </a:r>
            <a:endParaRPr sz="1100"/>
          </a:p>
        </p:txBody>
      </p:sp>
      <p:sp>
        <p:nvSpPr>
          <p:cNvPr id="511" name="Google Shape;511;p72"/>
          <p:cNvSpPr/>
          <p:nvPr/>
        </p:nvSpPr>
        <p:spPr>
          <a:xfrm>
            <a:off x="2538850" y="4054700"/>
            <a:ext cx="1700100" cy="549300"/>
          </a:xfrm>
          <a:prstGeom prst="wedgeRoundRectCallout">
            <a:avLst>
              <a:gd fmla="val -79656" name="adj1"/>
              <a:gd fmla="val 35914" name="adj2"/>
              <a:gd fmla="val 0" name="adj3"/>
            </a:avLst>
          </a:prstGeom>
          <a:solidFill>
            <a:srgbClr val="FFFFFF">
              <a:alpha val="81130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가상환경 설정 파일</a:t>
            </a:r>
            <a:endParaRPr sz="1100"/>
          </a:p>
        </p:txBody>
      </p:sp>
      <p:sp>
        <p:nvSpPr>
          <p:cNvPr id="512" name="Google Shape;512;p72"/>
          <p:cNvSpPr/>
          <p:nvPr/>
        </p:nvSpPr>
        <p:spPr>
          <a:xfrm>
            <a:off x="2478250" y="2022450"/>
            <a:ext cx="1700100" cy="549300"/>
          </a:xfrm>
          <a:prstGeom prst="wedgeRoundRectCallout">
            <a:avLst>
              <a:gd fmla="val -61682" name="adj1"/>
              <a:gd fmla="val 58126" name="adj2"/>
              <a:gd fmla="val 0" name="adj3"/>
            </a:avLst>
          </a:prstGeom>
          <a:solidFill>
            <a:srgbClr val="FFFFFF">
              <a:alpha val="81130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가상환경 활성화를 위한 activate  명령</a:t>
            </a:r>
            <a:endParaRPr sz="1100"/>
          </a:p>
        </p:txBody>
      </p:sp>
      <p:sp>
        <p:nvSpPr>
          <p:cNvPr id="513" name="Google Shape;513;p72"/>
          <p:cNvSpPr/>
          <p:nvPr/>
        </p:nvSpPr>
        <p:spPr>
          <a:xfrm>
            <a:off x="881475" y="4404797"/>
            <a:ext cx="1050000" cy="1527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72"/>
          <p:cNvSpPr/>
          <p:nvPr/>
        </p:nvSpPr>
        <p:spPr>
          <a:xfrm>
            <a:off x="1110075" y="3947597"/>
            <a:ext cx="1050000" cy="1527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72"/>
          <p:cNvSpPr/>
          <p:nvPr/>
        </p:nvSpPr>
        <p:spPr>
          <a:xfrm>
            <a:off x="1110075" y="3261801"/>
            <a:ext cx="1050000" cy="1527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72"/>
          <p:cNvSpPr/>
          <p:nvPr/>
        </p:nvSpPr>
        <p:spPr>
          <a:xfrm>
            <a:off x="1110075" y="2576002"/>
            <a:ext cx="1050000" cy="2361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72"/>
          <p:cNvSpPr/>
          <p:nvPr/>
        </p:nvSpPr>
        <p:spPr>
          <a:xfrm>
            <a:off x="881475" y="1416697"/>
            <a:ext cx="1494000" cy="7074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72"/>
          <p:cNvSpPr/>
          <p:nvPr/>
        </p:nvSpPr>
        <p:spPr>
          <a:xfrm>
            <a:off x="2434425" y="945775"/>
            <a:ext cx="1700100" cy="549300"/>
          </a:xfrm>
          <a:prstGeom prst="wedgeRoundRectCallout">
            <a:avLst>
              <a:gd fmla="val -61682" name="adj1"/>
              <a:gd fmla="val 58126" name="adj2"/>
              <a:gd fmla="val 0" name="adj3"/>
            </a:avLst>
          </a:prstGeom>
          <a:solidFill>
            <a:srgbClr val="FFFFFF">
              <a:alpha val="81130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가상환경 에 설치될 패키지들이 위치하게 될 폴더.</a:t>
            </a:r>
            <a:endParaRPr sz="110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73"/>
          <p:cNvSpPr txBox="1"/>
          <p:nvPr>
            <p:ph type="title"/>
          </p:nvPr>
        </p:nvSpPr>
        <p:spPr>
          <a:xfrm>
            <a:off x="311700" y="145500"/>
            <a:ext cx="8520600" cy="707400"/>
          </a:xfrm>
          <a:prstGeom prst="rect">
            <a:avLst/>
          </a:prstGeom>
          <a:solidFill>
            <a:srgbClr val="FFFF00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가상환경 활성화 하기</a:t>
            </a:r>
            <a:endParaRPr/>
          </a:p>
        </p:txBody>
      </p:sp>
      <p:sp>
        <p:nvSpPr>
          <p:cNvPr id="524" name="Google Shape;524;p73"/>
          <p:cNvSpPr txBox="1"/>
          <p:nvPr/>
        </p:nvSpPr>
        <p:spPr>
          <a:xfrm>
            <a:off x="402800" y="1063800"/>
            <a:ext cx="7952700" cy="11853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F3F3F3"/>
                </a:solidFill>
                <a:latin typeface="Consolas"/>
                <a:ea typeface="Consolas"/>
                <a:cs typeface="Consolas"/>
                <a:sym typeface="Consolas"/>
              </a:rPr>
              <a:t>D:\Lang2505\PyWork&gt;</a:t>
            </a:r>
            <a:r>
              <a:rPr lang="ko" sz="1300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cd .venv</a:t>
            </a:r>
            <a:endParaRPr sz="1300">
              <a:solidFill>
                <a:srgbClr val="00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F3F3F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F3F3F3"/>
                </a:solidFill>
                <a:latin typeface="Consolas"/>
                <a:ea typeface="Consolas"/>
                <a:cs typeface="Consolas"/>
                <a:sym typeface="Consolas"/>
              </a:rPr>
              <a:t>D:\Lang2505\PyWork\.venv&gt;</a:t>
            </a:r>
            <a:r>
              <a:rPr lang="ko" sz="1300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cd Scripts</a:t>
            </a:r>
            <a:endParaRPr sz="1300">
              <a:solidFill>
                <a:srgbClr val="00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F3F3F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F3F3F3"/>
                </a:solidFill>
                <a:latin typeface="Consolas"/>
                <a:ea typeface="Consolas"/>
                <a:cs typeface="Consolas"/>
                <a:sym typeface="Consolas"/>
              </a:rPr>
              <a:t>D:\Lang2505\PyWork\.venv\Scripts&gt;</a:t>
            </a:r>
            <a:r>
              <a:rPr lang="ko" sz="1300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activate</a:t>
            </a:r>
            <a:endParaRPr sz="1300">
              <a:solidFill>
                <a:srgbClr val="00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25" name="Google Shape;525;p73"/>
          <p:cNvSpPr txBox="1"/>
          <p:nvPr/>
        </p:nvSpPr>
        <p:spPr>
          <a:xfrm>
            <a:off x="311700" y="2804800"/>
            <a:ext cx="4853100" cy="384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F3F3F3"/>
                </a:solidFill>
                <a:latin typeface="Consolas"/>
                <a:ea typeface="Consolas"/>
                <a:cs typeface="Consolas"/>
                <a:sym typeface="Consolas"/>
              </a:rPr>
              <a:t>(.venv) D:\Lang2505\PyWork\.venv\Scripts&gt;</a:t>
            </a:r>
            <a:endParaRPr sz="1300">
              <a:solidFill>
                <a:srgbClr val="F3F3F3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26" name="Google Shape;526;p73"/>
          <p:cNvSpPr/>
          <p:nvPr/>
        </p:nvSpPr>
        <p:spPr>
          <a:xfrm>
            <a:off x="2915825" y="2098300"/>
            <a:ext cx="634200" cy="7065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0FFFF"/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73"/>
          <p:cNvSpPr txBox="1"/>
          <p:nvPr/>
        </p:nvSpPr>
        <p:spPr>
          <a:xfrm>
            <a:off x="311700" y="3652500"/>
            <a:ext cx="8520600" cy="4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이제 가상환경이 돌고 있다는 뜻.  </a:t>
            </a:r>
            <a:r>
              <a:rPr lang="ko" sz="1800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이 가상환경에서 필요한 패키지 들을 설치</a:t>
            </a: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해주시면 된다.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7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where python 으로 확인</a:t>
            </a:r>
            <a:endParaRPr/>
          </a:p>
        </p:txBody>
      </p:sp>
      <p:sp>
        <p:nvSpPr>
          <p:cNvPr id="533" name="Google Shape;533;p74"/>
          <p:cNvSpPr txBox="1"/>
          <p:nvPr>
            <p:ph idx="1" type="body"/>
          </p:nvPr>
        </p:nvSpPr>
        <p:spPr>
          <a:xfrm>
            <a:off x="105200" y="2732925"/>
            <a:ext cx="8520600" cy="1060500"/>
          </a:xfrm>
          <a:prstGeom prst="rect">
            <a:avLst/>
          </a:prstGeom>
          <a:solidFill>
            <a:srgbClr val="FFFF00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ko">
                <a:solidFill>
                  <a:srgbClr val="FF0000"/>
                </a:solidFill>
              </a:rPr>
              <a:t>작업할때, 가상환경이 가동하고 있는지 이와 같이 꼭 확인해보세요.  가상환경이 가동중이 아니라면 꼭 가상환경 활성화 부터 해야 합니다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534" name="Google Shape;534;p74"/>
          <p:cNvSpPr txBox="1"/>
          <p:nvPr/>
        </p:nvSpPr>
        <p:spPr>
          <a:xfrm>
            <a:off x="363350" y="1208100"/>
            <a:ext cx="8004300" cy="985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F3F3F3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ko" sz="1300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where python</a:t>
            </a:r>
            <a:endParaRPr sz="1300">
              <a:solidFill>
                <a:srgbClr val="00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F3F3F3"/>
                </a:solidFill>
                <a:latin typeface="Consolas"/>
                <a:ea typeface="Consolas"/>
                <a:cs typeface="Consolas"/>
                <a:sym typeface="Consolas"/>
              </a:rPr>
              <a:t>D:\Lang2505\PyWork\.venv\Scripts\python.exe</a:t>
            </a:r>
            <a:endParaRPr sz="1300">
              <a:solidFill>
                <a:srgbClr val="F3F3F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F3F3F3"/>
                </a:solidFill>
                <a:latin typeface="Consolas"/>
                <a:ea typeface="Consolas"/>
                <a:cs typeface="Consolas"/>
                <a:sym typeface="Consolas"/>
              </a:rPr>
              <a:t>C:\Users\User\AppData\Local\Programs\Python\Python312\python.exe</a:t>
            </a:r>
            <a:endParaRPr sz="1300">
              <a:solidFill>
                <a:srgbClr val="F3F3F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F3F3F3"/>
                </a:solidFill>
                <a:latin typeface="Consolas"/>
                <a:ea typeface="Consolas"/>
                <a:cs typeface="Consolas"/>
                <a:sym typeface="Consolas"/>
              </a:rPr>
              <a:t>C:\Users\User\AppData\Local\Microsoft\WindowsApps\python.exe</a:t>
            </a:r>
            <a:endParaRPr sz="1300">
              <a:solidFill>
                <a:srgbClr val="F3F3F3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35" name="Google Shape;535;p74"/>
          <p:cNvSpPr/>
          <p:nvPr/>
        </p:nvSpPr>
        <p:spPr>
          <a:xfrm>
            <a:off x="4241875" y="863150"/>
            <a:ext cx="2275200" cy="549300"/>
          </a:xfrm>
          <a:prstGeom prst="wedgeRoundRectCallout">
            <a:avLst>
              <a:gd fmla="val -61682" name="adj1"/>
              <a:gd fmla="val 58126" name="adj2"/>
              <a:gd fmla="val 0" name="adj3"/>
            </a:avLst>
          </a:prstGeom>
          <a:solidFill>
            <a:srgbClr val="FFFFFF">
              <a:alpha val="81130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가상환경의 파이썬이 우선적으로 실행된다.</a:t>
            </a:r>
            <a:endParaRPr sz="110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7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path 로도 현재 가상환경 동작중 확인</a:t>
            </a:r>
            <a:endParaRPr/>
          </a:p>
        </p:txBody>
      </p:sp>
      <p:sp>
        <p:nvSpPr>
          <p:cNvPr id="541" name="Google Shape;541;p75"/>
          <p:cNvSpPr txBox="1"/>
          <p:nvPr>
            <p:ph idx="1" type="body"/>
          </p:nvPr>
        </p:nvSpPr>
        <p:spPr>
          <a:xfrm>
            <a:off x="311700" y="3245900"/>
            <a:ext cx="8520600" cy="13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75"/>
          <p:cNvSpPr txBox="1"/>
          <p:nvPr/>
        </p:nvSpPr>
        <p:spPr>
          <a:xfrm>
            <a:off x="482025" y="1152425"/>
            <a:ext cx="8262600" cy="1831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F3F3F3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ko" sz="1300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path</a:t>
            </a:r>
            <a:endParaRPr sz="1300">
              <a:solidFill>
                <a:srgbClr val="00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F3F3F3"/>
                </a:solidFill>
                <a:latin typeface="Consolas"/>
                <a:ea typeface="Consolas"/>
                <a:cs typeface="Consolas"/>
                <a:sym typeface="Consolas"/>
              </a:rPr>
              <a:t>PATH=</a:t>
            </a:r>
            <a:r>
              <a:rPr lang="ko" sz="1300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D:\Lang2505\PyWork\.venv\Scripts</a:t>
            </a:r>
            <a:r>
              <a:rPr lang="ko" sz="1300">
                <a:solidFill>
                  <a:srgbClr val="F3F3F3"/>
                </a:solidFill>
                <a:latin typeface="Consolas"/>
                <a:ea typeface="Consolas"/>
                <a:cs typeface="Consolas"/>
                <a:sym typeface="Consolas"/>
              </a:rPr>
              <a:t>;C:\Program Files\Common Files\Oracle\Java\javapath;C:\Windows\system32;C:\Windows;C:\Windows\System32\Wbem;C:\Windows\System32\WindowsPowerShell\v1.0\;C:\Windows\System32\OpenSSH\;C:\Program Files\dotnet\;C:\Program Files (x86)\Windows Kits\10\Windows Performance Toolkit\;...</a:t>
            </a:r>
            <a:r>
              <a:rPr lang="ko"/>
              <a:t>Files\Bandizip\;C:\Users\User\.dotnet\tools;C:\Users\User\AppData\Local\GitHubDesktop\bin;C:\Users\User\AppData\Roaming\npm;C:\Program Files\JetBrains\PyCharm 2024.3.5\bin;;C:\Users\User\AppData\Local\Programs\Ollama;</a:t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7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다시 open  한 폴더 위치로 이동</a:t>
            </a:r>
            <a:endParaRPr/>
          </a:p>
        </p:txBody>
      </p:sp>
      <p:sp>
        <p:nvSpPr>
          <p:cNvPr id="548" name="Google Shape;548;p76"/>
          <p:cNvSpPr txBox="1"/>
          <p:nvPr>
            <p:ph idx="1" type="body"/>
          </p:nvPr>
        </p:nvSpPr>
        <p:spPr>
          <a:xfrm>
            <a:off x="156775" y="1242225"/>
            <a:ext cx="8520600" cy="4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ko"/>
              <a:t>꼭 지금 당장해야 하는건 아니지만, 만약의 실수대비하여 지금 해두겠습니다.</a:t>
            </a:r>
            <a:endParaRPr/>
          </a:p>
        </p:txBody>
      </p:sp>
      <p:sp>
        <p:nvSpPr>
          <p:cNvPr id="549" name="Google Shape;549;p76"/>
          <p:cNvSpPr txBox="1"/>
          <p:nvPr/>
        </p:nvSpPr>
        <p:spPr>
          <a:xfrm>
            <a:off x="371825" y="2148275"/>
            <a:ext cx="6465600" cy="11853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F3F3F3"/>
                </a:solidFill>
                <a:latin typeface="Consolas"/>
                <a:ea typeface="Consolas"/>
                <a:cs typeface="Consolas"/>
                <a:sym typeface="Consolas"/>
              </a:rPr>
              <a:t>(.venv) D:\Lang2505\PyWork\.venv\Scripts&gt;</a:t>
            </a:r>
            <a:r>
              <a:rPr lang="ko" sz="1300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cd ..</a:t>
            </a:r>
            <a:endParaRPr sz="1300">
              <a:solidFill>
                <a:srgbClr val="00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F3F3F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F3F3F3"/>
                </a:solidFill>
                <a:latin typeface="Consolas"/>
                <a:ea typeface="Consolas"/>
                <a:cs typeface="Consolas"/>
                <a:sym typeface="Consolas"/>
              </a:rPr>
              <a:t>(.venv) D:\Lang2505\PyWork\.venv&gt;</a:t>
            </a:r>
            <a:r>
              <a:rPr lang="ko" sz="1300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cd ..</a:t>
            </a:r>
            <a:endParaRPr sz="1300">
              <a:solidFill>
                <a:srgbClr val="00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F3F3F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F3F3F3"/>
                </a:solidFill>
                <a:latin typeface="Consolas"/>
                <a:ea typeface="Consolas"/>
                <a:cs typeface="Consolas"/>
                <a:sym typeface="Consolas"/>
              </a:rPr>
              <a:t>(.venv) D:\Lang2505\PyWork&gt;</a:t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7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가상환경에서 pip 업데이트 부터 하세요</a:t>
            </a:r>
            <a:endParaRPr/>
          </a:p>
        </p:txBody>
      </p:sp>
      <p:sp>
        <p:nvSpPr>
          <p:cNvPr id="555" name="Google Shape;555;p77"/>
          <p:cNvSpPr txBox="1"/>
          <p:nvPr>
            <p:ph idx="1" type="body"/>
          </p:nvPr>
        </p:nvSpPr>
        <p:spPr>
          <a:xfrm>
            <a:off x="311700" y="1266325"/>
            <a:ext cx="8520600" cy="2650800"/>
          </a:xfrm>
          <a:prstGeom prst="rect">
            <a:avLst/>
          </a:prstGeom>
          <a:solidFill>
            <a:srgbClr val="000000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F3F3F3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ko" sz="1300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python -m pip install --upgrade pip</a:t>
            </a:r>
            <a:r>
              <a:rPr lang="ko" sz="1300">
                <a:solidFill>
                  <a:srgbClr val="F3F3F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300">
              <a:solidFill>
                <a:srgbClr val="F3F3F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F3F3F3"/>
                </a:solidFill>
                <a:latin typeface="Consolas"/>
                <a:ea typeface="Consolas"/>
                <a:cs typeface="Consolas"/>
                <a:sym typeface="Consolas"/>
              </a:rPr>
              <a:t>Requirement already satisfied: pip in d:\lang2505\pywork\.venv\lib\site-packages (24.2)</a:t>
            </a:r>
            <a:endParaRPr sz="1300">
              <a:solidFill>
                <a:srgbClr val="F3F3F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F3F3F3"/>
                </a:solidFill>
                <a:latin typeface="Consolas"/>
                <a:ea typeface="Consolas"/>
                <a:cs typeface="Consolas"/>
                <a:sym typeface="Consolas"/>
              </a:rPr>
              <a:t>Collecting pip</a:t>
            </a:r>
            <a:endParaRPr sz="1300">
              <a:solidFill>
                <a:srgbClr val="F3F3F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F3F3F3"/>
                </a:solidFill>
                <a:latin typeface="Consolas"/>
                <a:ea typeface="Consolas"/>
                <a:cs typeface="Consolas"/>
                <a:sym typeface="Consolas"/>
              </a:rPr>
              <a:t>  Using cached pip-25.1.1-py3-none-any.whl.metadata (3.6 kB)</a:t>
            </a:r>
            <a:endParaRPr sz="1300">
              <a:solidFill>
                <a:srgbClr val="F3F3F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F3F3F3"/>
                </a:solidFill>
                <a:latin typeface="Consolas"/>
                <a:ea typeface="Consolas"/>
                <a:cs typeface="Consolas"/>
                <a:sym typeface="Consolas"/>
              </a:rPr>
              <a:t>Using cached pip-25.1.1-py3-none-any.whl (1.8 MB)</a:t>
            </a:r>
            <a:endParaRPr sz="1300">
              <a:solidFill>
                <a:srgbClr val="F3F3F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F3F3F3"/>
                </a:solidFill>
                <a:latin typeface="Consolas"/>
                <a:ea typeface="Consolas"/>
                <a:cs typeface="Consolas"/>
                <a:sym typeface="Consolas"/>
              </a:rPr>
              <a:t>Installing collected packages: pip</a:t>
            </a:r>
            <a:endParaRPr sz="1300">
              <a:solidFill>
                <a:srgbClr val="F3F3F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F3F3F3"/>
                </a:solidFill>
                <a:latin typeface="Consolas"/>
                <a:ea typeface="Consolas"/>
                <a:cs typeface="Consolas"/>
                <a:sym typeface="Consolas"/>
              </a:rPr>
              <a:t>  Attempting uninstall: pip</a:t>
            </a:r>
            <a:endParaRPr sz="1300">
              <a:solidFill>
                <a:srgbClr val="F3F3F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F3F3F3"/>
                </a:solidFill>
                <a:latin typeface="Consolas"/>
                <a:ea typeface="Consolas"/>
                <a:cs typeface="Consolas"/>
                <a:sym typeface="Consolas"/>
              </a:rPr>
              <a:t>    Found existing installation: pip 24.2</a:t>
            </a:r>
            <a:endParaRPr sz="1300">
              <a:solidFill>
                <a:srgbClr val="F3F3F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F3F3F3"/>
                </a:solidFill>
                <a:latin typeface="Consolas"/>
                <a:ea typeface="Consolas"/>
                <a:cs typeface="Consolas"/>
                <a:sym typeface="Consolas"/>
              </a:rPr>
              <a:t>    Uninstalling pip-24.2:</a:t>
            </a:r>
            <a:endParaRPr sz="1300">
              <a:solidFill>
                <a:srgbClr val="F3F3F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F3F3F3"/>
                </a:solidFill>
                <a:latin typeface="Consolas"/>
                <a:ea typeface="Consolas"/>
                <a:cs typeface="Consolas"/>
                <a:sym typeface="Consolas"/>
              </a:rPr>
              <a:t>      Successfully uninstalled pip-24.2</a:t>
            </a:r>
            <a:endParaRPr sz="1300">
              <a:solidFill>
                <a:srgbClr val="F3F3F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F3F3F3"/>
                </a:solidFill>
                <a:latin typeface="Consolas"/>
                <a:ea typeface="Consolas"/>
                <a:cs typeface="Consolas"/>
                <a:sym typeface="Consolas"/>
              </a:rPr>
              <a:t>Successfully installed pip-25.1.1</a:t>
            </a:r>
            <a:endParaRPr sz="1300">
              <a:solidFill>
                <a:srgbClr val="F3F3F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F3F3F3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78"/>
          <p:cNvSpPr txBox="1"/>
          <p:nvPr>
            <p:ph type="title"/>
          </p:nvPr>
        </p:nvSpPr>
        <p:spPr>
          <a:xfrm>
            <a:off x="129488" y="17647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Select Interpreter 로 가상환경의 python 선택</a:t>
            </a:r>
            <a:endParaRPr/>
          </a:p>
        </p:txBody>
      </p:sp>
      <p:pic>
        <p:nvPicPr>
          <p:cNvPr id="561" name="Google Shape;561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8748" y="2162598"/>
            <a:ext cx="7002074" cy="2771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2" name="Google Shape;562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8374" y="1007824"/>
            <a:ext cx="7668350" cy="897625"/>
          </a:xfrm>
          <a:prstGeom prst="rect">
            <a:avLst/>
          </a:prstGeom>
          <a:noFill/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63" name="Google Shape;563;p78"/>
          <p:cNvSpPr/>
          <p:nvPr/>
        </p:nvSpPr>
        <p:spPr>
          <a:xfrm>
            <a:off x="3201700" y="1805000"/>
            <a:ext cx="393000" cy="4890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0FFFF"/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79"/>
          <p:cNvSpPr txBox="1"/>
          <p:nvPr>
            <p:ph type="title"/>
          </p:nvPr>
        </p:nvSpPr>
        <p:spPr>
          <a:xfrm>
            <a:off x="249725" y="13517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파이썬 파일 (*.py) 하나 생성</a:t>
            </a:r>
            <a:endParaRPr/>
          </a:p>
        </p:txBody>
      </p:sp>
      <p:pic>
        <p:nvPicPr>
          <p:cNvPr id="569" name="Google Shape;569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3000" y="797538"/>
            <a:ext cx="2345725" cy="9780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70" name="Google Shape;570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58900" y="1766150"/>
            <a:ext cx="6657975" cy="5048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71" name="Google Shape;571;p79"/>
          <p:cNvSpPr/>
          <p:nvPr/>
        </p:nvSpPr>
        <p:spPr>
          <a:xfrm>
            <a:off x="4405425" y="1011900"/>
            <a:ext cx="2964900" cy="549300"/>
          </a:xfrm>
          <a:prstGeom prst="wedgeRoundRectCallout">
            <a:avLst>
              <a:gd fmla="val 57104" name="adj1"/>
              <a:gd fmla="val 106577" name="adj2"/>
              <a:gd fmla="val 0" name="adj3"/>
            </a:avLst>
          </a:prstGeom>
          <a:solidFill>
            <a:srgbClr val="FFFFFF">
              <a:alpha val="81130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*.py 파일을 열면  하단에서 동작하는 환경 확인 가능.</a:t>
            </a:r>
            <a:endParaRPr sz="1100"/>
          </a:p>
        </p:txBody>
      </p:sp>
      <p:sp>
        <p:nvSpPr>
          <p:cNvPr id="572" name="Google Shape;572;p79"/>
          <p:cNvSpPr txBox="1"/>
          <p:nvPr/>
        </p:nvSpPr>
        <p:spPr>
          <a:xfrm>
            <a:off x="1249750" y="2644025"/>
            <a:ext cx="6021300" cy="1682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25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os</a:t>
            </a:r>
            <a:endParaRPr sz="125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25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sys</a:t>
            </a:r>
            <a:endParaRPr sz="125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5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print(</a:t>
            </a:r>
            <a:r>
              <a:rPr lang="ko" sz="12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'💙'</a:t>
            </a:r>
            <a:r>
              <a:rPr lang="ko" sz="125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ko" sz="12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'hello python'</a:t>
            </a:r>
            <a:r>
              <a:rPr lang="ko" sz="125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25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5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print(</a:t>
            </a:r>
            <a:r>
              <a:rPr lang="ko" sz="12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'🧡'</a:t>
            </a:r>
            <a:r>
              <a:rPr lang="ko" sz="125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os.getcwd()) </a:t>
            </a:r>
            <a:r>
              <a:rPr lang="ko" sz="12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현재 작업경로 확인</a:t>
            </a:r>
            <a:endParaRPr sz="12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5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print(</a:t>
            </a:r>
            <a:r>
              <a:rPr lang="ko" sz="12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'💛'</a:t>
            </a:r>
            <a:r>
              <a:rPr lang="ko" sz="125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sys.version) </a:t>
            </a:r>
            <a:r>
              <a:rPr lang="ko" sz="12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파이썬 인터프리터 버젼 확인</a:t>
            </a:r>
            <a:endParaRPr sz="12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5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print(</a:t>
            </a:r>
            <a:r>
              <a:rPr lang="ko" sz="12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'💚'</a:t>
            </a:r>
            <a:r>
              <a:rPr lang="ko" sz="125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sys.path)  </a:t>
            </a:r>
            <a:r>
              <a:rPr lang="ko" sz="12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인터프리터 경로 확인</a:t>
            </a:r>
            <a:endParaRPr sz="12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80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실행</a:t>
            </a:r>
            <a:endParaRPr/>
          </a:p>
        </p:txBody>
      </p:sp>
      <p:sp>
        <p:nvSpPr>
          <p:cNvPr id="578" name="Google Shape;578;p80"/>
          <p:cNvSpPr txBox="1"/>
          <p:nvPr/>
        </p:nvSpPr>
        <p:spPr>
          <a:xfrm>
            <a:off x="208350" y="1152425"/>
            <a:ext cx="8727300" cy="17085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latin typeface="Consolas"/>
                <a:ea typeface="Consolas"/>
                <a:cs typeface="Consolas"/>
                <a:sym typeface="Consolas"/>
              </a:rPr>
              <a:t>(.venv) D:\Lang2505\PyWork&gt;</a:t>
            </a:r>
            <a:r>
              <a:rPr lang="ko" sz="11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python test1-python.py</a:t>
            </a:r>
            <a:endParaRPr sz="11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latin typeface="Consolas"/>
                <a:ea typeface="Consolas"/>
                <a:cs typeface="Consolas"/>
                <a:sym typeface="Consolas"/>
              </a:rPr>
              <a:t>💙 hello python</a:t>
            </a:r>
            <a:endParaRPr sz="11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latin typeface="Consolas"/>
                <a:ea typeface="Consolas"/>
                <a:cs typeface="Consolas"/>
                <a:sym typeface="Consolas"/>
              </a:rPr>
              <a:t>🧡 D:\Lang2505\PyWork</a:t>
            </a:r>
            <a:endParaRPr sz="11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latin typeface="Consolas"/>
                <a:ea typeface="Consolas"/>
                <a:cs typeface="Consolas"/>
                <a:sym typeface="Consolas"/>
              </a:rPr>
              <a:t>💛 3.12.5 (tags/v3.12.5:ff3bc82, Aug  6 2024, 20:45:27) [MSC v.1940 64 bit (AMD64)]</a:t>
            </a:r>
            <a:endParaRPr sz="11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latin typeface="Consolas"/>
                <a:ea typeface="Consolas"/>
                <a:cs typeface="Consolas"/>
                <a:sym typeface="Consolas"/>
              </a:rPr>
              <a:t>💚 ['D:\\Lang2505\\PyWork', 'C:\\Users\\User\\AppData\\Local\\Programs\\Python\\Python312\\python312.zip', 'C:\\Users\\User\\AppData\\Local\\Programs\\Python\\Python312\\DLLs', 'C:\\Users\\User\\AppData\\Local\\Programs\\Python\\Python312\\Lib', 'C:\\Users\\User\\AppData\\Local\\Programs\\Python\\Python312', 'D:\\Lang2505\\PyWork\\.venv', 'D:\\Lang2505\\PyWork\\.venv\\Lib\\site-packages'] </a:t>
            </a:r>
            <a:endParaRPr sz="11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81"/>
          <p:cNvSpPr txBox="1"/>
          <p:nvPr>
            <p:ph type="title"/>
          </p:nvPr>
        </p:nvSpPr>
        <p:spPr>
          <a:xfrm>
            <a:off x="208425" y="197150"/>
            <a:ext cx="8520600" cy="707400"/>
          </a:xfrm>
          <a:prstGeom prst="rect">
            <a:avLst/>
          </a:prstGeom>
          <a:solidFill>
            <a:srgbClr val="FFFF00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980000"/>
                </a:solidFill>
              </a:rPr>
              <a:t>requirements.txt </a:t>
            </a:r>
            <a:r>
              <a:rPr lang="ko"/>
              <a:t>로 가상환경에 필요 패키지 설치</a:t>
            </a:r>
            <a:endParaRPr/>
          </a:p>
        </p:txBody>
      </p:sp>
      <p:sp>
        <p:nvSpPr>
          <p:cNvPr id="584" name="Google Shape;584;p81"/>
          <p:cNvSpPr txBox="1"/>
          <p:nvPr>
            <p:ph idx="1" type="body"/>
          </p:nvPr>
        </p:nvSpPr>
        <p:spPr>
          <a:xfrm>
            <a:off x="3780300" y="1217025"/>
            <a:ext cx="5052000" cy="60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ko"/>
              <a:t>← 파일 생성후, 주어진 내용으로 편집하세요</a:t>
            </a:r>
            <a:endParaRPr/>
          </a:p>
        </p:txBody>
      </p:sp>
      <p:pic>
        <p:nvPicPr>
          <p:cNvPr id="585" name="Google Shape;585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125" y="1217025"/>
            <a:ext cx="3028950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586" name="Google Shape;586;p81"/>
          <p:cNvSpPr txBox="1"/>
          <p:nvPr/>
        </p:nvSpPr>
        <p:spPr>
          <a:xfrm>
            <a:off x="364050" y="3079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600">
                <a:solidFill>
                  <a:srgbClr val="FF00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주의</a:t>
            </a:r>
            <a:endParaRPr b="1" sz="3600">
              <a:solidFill>
                <a:srgbClr val="FF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587" name="Google Shape;587;p81"/>
          <p:cNvSpPr txBox="1"/>
          <p:nvPr/>
        </p:nvSpPr>
        <p:spPr>
          <a:xfrm>
            <a:off x="549950" y="3704100"/>
            <a:ext cx="8520600" cy="7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rgbClr val="FF0000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리눅스에서 설치한 패키지 목록은 윈도우에서 설치가 안 될 수 있으니 리눅스에서 시도해 보면 좋을 것 같다.</a:t>
            </a:r>
            <a:endParaRPr sz="1600">
              <a:solidFill>
                <a:srgbClr val="FF0000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666666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82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패키지 </a:t>
            </a:r>
            <a:r>
              <a:rPr lang="ko"/>
              <a:t>설치 실행!</a:t>
            </a:r>
            <a:endParaRPr/>
          </a:p>
        </p:txBody>
      </p:sp>
      <p:sp>
        <p:nvSpPr>
          <p:cNvPr id="593" name="Google Shape;593;p82"/>
          <p:cNvSpPr txBox="1"/>
          <p:nvPr/>
        </p:nvSpPr>
        <p:spPr>
          <a:xfrm>
            <a:off x="585150" y="1859075"/>
            <a:ext cx="4751100" cy="431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rgbClr val="F3F3F3"/>
                </a:solidFill>
                <a:latin typeface="Consolas"/>
                <a:ea typeface="Consolas"/>
                <a:cs typeface="Consolas"/>
                <a:sym typeface="Consolas"/>
              </a:rPr>
              <a:t>pip install -r requirements.txt</a:t>
            </a:r>
            <a:endParaRPr sz="1600">
              <a:solidFill>
                <a:srgbClr val="F3F3F3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94" name="Google Shape;594;p82"/>
          <p:cNvSpPr/>
          <p:nvPr/>
        </p:nvSpPr>
        <p:spPr>
          <a:xfrm>
            <a:off x="5336250" y="1497600"/>
            <a:ext cx="2520300" cy="981000"/>
          </a:xfrm>
          <a:prstGeom prst="wedgeRoundRectCallout">
            <a:avLst>
              <a:gd fmla="val -83657" name="adj1"/>
              <a:gd fmla="val 13837" name="adj2"/>
              <a:gd fmla="val 0" name="adj3"/>
            </a:avLst>
          </a:prstGeom>
          <a:solidFill>
            <a:srgbClr val="FFFFFF">
              <a:alpha val="81130"/>
            </a:srgbClr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/>
              <a:t>설치에 상당히 시간이 걸릴겁니다.   특히 jupyter 설치부분은 가장 많이 걸립니다.</a:t>
            </a:r>
            <a:endParaRPr sz="1300"/>
          </a:p>
        </p:txBody>
      </p:sp>
      <p:pic>
        <p:nvPicPr>
          <p:cNvPr id="595" name="Google Shape;595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57675" y="2823774"/>
            <a:ext cx="6213274" cy="13553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596" name="Google Shape;596;p82"/>
          <p:cNvCxnSpPr>
            <a:stCxn id="594" idx="2"/>
          </p:cNvCxnSpPr>
          <p:nvPr/>
        </p:nvCxnSpPr>
        <p:spPr>
          <a:xfrm flipH="1">
            <a:off x="5752800" y="2478600"/>
            <a:ext cx="843600" cy="105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83"/>
          <p:cNvSpPr txBox="1"/>
          <p:nvPr>
            <p:ph type="title"/>
          </p:nvPr>
        </p:nvSpPr>
        <p:spPr>
          <a:xfrm>
            <a:off x="229075" y="-507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설치 끝나면</a:t>
            </a:r>
            <a:endParaRPr/>
          </a:p>
        </p:txBody>
      </p:sp>
      <p:sp>
        <p:nvSpPr>
          <p:cNvPr id="602" name="Google Shape;602;p83"/>
          <p:cNvSpPr txBox="1"/>
          <p:nvPr>
            <p:ph idx="1" type="body"/>
          </p:nvPr>
        </p:nvSpPr>
        <p:spPr>
          <a:xfrm>
            <a:off x="2976400" y="445025"/>
            <a:ext cx="6030000" cy="64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ko"/>
              <a:t>가상환경의 용량이 무지하게 커짐</a:t>
            </a:r>
            <a:endParaRPr/>
          </a:p>
        </p:txBody>
      </p:sp>
      <p:pic>
        <p:nvPicPr>
          <p:cNvPr id="603" name="Google Shape;603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26048" y="1266323"/>
            <a:ext cx="4675076" cy="315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4" name="Google Shape;604;p8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8875" y="656675"/>
            <a:ext cx="2005650" cy="4395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84"/>
          <p:cNvSpPr txBox="1"/>
          <p:nvPr>
            <p:ph type="title"/>
          </p:nvPr>
        </p:nvSpPr>
        <p:spPr>
          <a:xfrm>
            <a:off x="249725" y="207475"/>
            <a:ext cx="8520600" cy="707400"/>
          </a:xfrm>
          <a:prstGeom prst="rect">
            <a:avLst/>
          </a:prstGeom>
          <a:solidFill>
            <a:srgbClr val="FFFF00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.env 파일 생성</a:t>
            </a:r>
            <a:endParaRPr/>
          </a:p>
        </p:txBody>
      </p:sp>
      <p:sp>
        <p:nvSpPr>
          <p:cNvPr id="610" name="Google Shape;610;p84"/>
          <p:cNvSpPr txBox="1"/>
          <p:nvPr>
            <p:ph idx="1" type="body"/>
          </p:nvPr>
        </p:nvSpPr>
        <p:spPr>
          <a:xfrm>
            <a:off x="49225" y="2223400"/>
            <a:ext cx="5007300" cy="24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ko"/>
              <a:t>환경변수로 읽어 들어올 </a:t>
            </a:r>
            <a:r>
              <a:rPr b="1" lang="ko"/>
              <a:t>민감한 정보</a:t>
            </a:r>
            <a:r>
              <a:rPr lang="ko"/>
              <a:t>들을 설정해 두는 파일입니다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ex) OPEN API Key 등…</a:t>
            </a:r>
            <a:br>
              <a:rPr lang="ko"/>
            </a:br>
            <a:endParaRPr/>
          </a:p>
          <a:p>
            <a:pPr indent="-317182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ko"/>
              <a:t>동작하는 프로그램에 따라 자동으로 읽어오기도 합니다. </a:t>
            </a:r>
            <a:br>
              <a:rPr lang="ko"/>
            </a:br>
            <a:r>
              <a:rPr lang="ko"/>
              <a:t>ex) jupyter notebook</a:t>
            </a:r>
            <a:br>
              <a:rPr lang="ko"/>
            </a:b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ko"/>
              <a:t>.gitignore 에 설정해 두어 노출되지 않도록 합니다</a:t>
            </a:r>
            <a:endParaRPr/>
          </a:p>
        </p:txBody>
      </p:sp>
      <p:pic>
        <p:nvPicPr>
          <p:cNvPr id="611" name="Google Shape;611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2275" y="796200"/>
            <a:ext cx="1981200" cy="15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612" name="Google Shape;612;p84"/>
          <p:cNvSpPr txBox="1"/>
          <p:nvPr/>
        </p:nvSpPr>
        <p:spPr>
          <a:xfrm>
            <a:off x="4616750" y="1275450"/>
            <a:ext cx="4472100" cy="361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OPENAI_API_KEY</a:t>
            </a:r>
            <a:r>
              <a:rPr lang="ko" sz="115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ko" sz="11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"abcd1234567890***************"</a:t>
            </a:r>
            <a:endParaRPr sz="1150">
              <a:solidFill>
                <a:srgbClr val="A31515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8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환경변수 테스트</a:t>
            </a:r>
            <a:endParaRPr/>
          </a:p>
        </p:txBody>
      </p:sp>
      <p:sp>
        <p:nvSpPr>
          <p:cNvPr id="618" name="Google Shape;618;p85"/>
          <p:cNvSpPr txBox="1"/>
          <p:nvPr>
            <p:ph idx="1" type="body"/>
          </p:nvPr>
        </p:nvSpPr>
        <p:spPr>
          <a:xfrm>
            <a:off x="311700" y="1266325"/>
            <a:ext cx="8520600" cy="50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ko"/>
              <a:t>test2_env.py</a:t>
            </a:r>
            <a:r>
              <a:rPr lang="ko"/>
              <a:t> 생성</a:t>
            </a:r>
            <a:endParaRPr/>
          </a:p>
        </p:txBody>
      </p:sp>
      <p:sp>
        <p:nvSpPr>
          <p:cNvPr id="619" name="Google Shape;619;p85"/>
          <p:cNvSpPr txBox="1"/>
          <p:nvPr/>
        </p:nvSpPr>
        <p:spPr>
          <a:xfrm>
            <a:off x="456000" y="1768825"/>
            <a:ext cx="8376300" cy="1662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05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os</a:t>
            </a:r>
            <a:endParaRPr sz="105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print(os.environ['OPENAI_API_KEY'])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print(os.getenv("OPENAI_API_KEY"))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print(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'✅ </a:t>
            </a:r>
            <a:r>
              <a:rPr lang="ko" sz="105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{os.path.basename( __file__ )}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실행됨'</a:t>
            </a:r>
            <a:r>
              <a:rPr lang="ko" sz="105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  </a:t>
            </a:r>
            <a:r>
              <a:rPr lang="ko" sz="10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os.path.absname() 은 전체경로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print(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lang="ko" sz="105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\t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OPENAI_API_KEY=</a:t>
            </a:r>
            <a:r>
              <a:rPr lang="ko" sz="105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{os.getenv(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"OPENAI_API_KEY"</a:t>
            </a:r>
            <a:r>
              <a:rPr lang="ko" sz="105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)[:</a:t>
            </a:r>
            <a:r>
              <a:rPr lang="ko" sz="10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20</a:t>
            </a:r>
            <a:r>
              <a:rPr lang="ko" sz="105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]}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lang="ko" sz="105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lang="ko" sz="10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OPENAI_API_KEY 필요!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20" name="Google Shape;620;p85"/>
          <p:cNvSpPr/>
          <p:nvPr/>
        </p:nvSpPr>
        <p:spPr>
          <a:xfrm>
            <a:off x="797200" y="4047525"/>
            <a:ext cx="7258800" cy="746700"/>
          </a:xfrm>
          <a:prstGeom prst="downArrowCallout">
            <a:avLst>
              <a:gd fmla="val 25000" name="adj1"/>
              <a:gd fmla="val 25000" name="adj2"/>
              <a:gd fmla="val 25000" name="adj3"/>
              <a:gd fmla="val 64977" name="adj4"/>
            </a:avLst>
          </a:prstGeom>
          <a:solidFill>
            <a:srgbClr val="00FFFF"/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열려있었던 터미널에서 지금 당장 실행하면 에러 날거다.   좀전에 만든 .env 가 적용 안되어있기 때문이다.</a:t>
            </a:r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8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실행하려면 command 창 다시 여세요</a:t>
            </a:r>
            <a:endParaRPr/>
          </a:p>
        </p:txBody>
      </p:sp>
      <p:sp>
        <p:nvSpPr>
          <p:cNvPr id="626" name="Google Shape;626;p86"/>
          <p:cNvSpPr txBox="1"/>
          <p:nvPr/>
        </p:nvSpPr>
        <p:spPr>
          <a:xfrm>
            <a:off x="464775" y="1190575"/>
            <a:ext cx="8367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Visual Studio Code 에서 터미널 창을 새로 열면 .env 환경변수 설정을 자동으로 읽어 들여온다.</a:t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27" name="Google Shape;627;p86"/>
          <p:cNvSpPr txBox="1"/>
          <p:nvPr/>
        </p:nvSpPr>
        <p:spPr>
          <a:xfrm>
            <a:off x="671325" y="2073475"/>
            <a:ext cx="6290100" cy="831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ko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python test2_env.py</a:t>
            </a:r>
            <a:endParaRPr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Consolas"/>
                <a:ea typeface="Consolas"/>
                <a:cs typeface="Consolas"/>
                <a:sym typeface="Consolas"/>
              </a:rPr>
              <a:t>✅ test2_env.py 실행됨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Consolas"/>
                <a:ea typeface="Consolas"/>
                <a:cs typeface="Consolas"/>
                <a:sym typeface="Consolas"/>
              </a:rPr>
              <a:t>        OPENAI_API_KEY=abcd1234567890******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87"/>
          <p:cNvSpPr txBox="1"/>
          <p:nvPr/>
        </p:nvSpPr>
        <p:spPr>
          <a:xfrm>
            <a:off x="702325" y="1032825"/>
            <a:ext cx="7632600" cy="25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05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os</a:t>
            </a:r>
            <a:endParaRPr sz="105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원래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print(os.environ['OPENAI_API_KEY'])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print(os.getenv("OPENAI_API_KEY"))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ko" sz="1050"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dotenv </a:t>
            </a:r>
            <a:r>
              <a:rPr lang="ko" sz="1050">
                <a:solidFill>
                  <a:srgbClr val="0000FF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050"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load_dotenv   </a:t>
            </a:r>
            <a:r>
              <a:rPr lang="ko" sz="1050">
                <a:solidFill>
                  <a:srgbClr val="008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# dotenv 패키지 사용</a:t>
            </a:r>
            <a:endParaRPr sz="1050">
              <a:solidFill>
                <a:srgbClr val="008000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load_dotenv()  </a:t>
            </a:r>
            <a:r>
              <a:rPr lang="ko" sz="1050">
                <a:solidFill>
                  <a:srgbClr val="008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# 호출하면 .env 설정파일 읽어옴.</a:t>
            </a:r>
            <a:endParaRPr sz="1050">
              <a:solidFill>
                <a:srgbClr val="008000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print(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'✅ </a:t>
            </a:r>
            <a:r>
              <a:rPr lang="ko" sz="105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{os.path.basename( __file__ )}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실행됨'</a:t>
            </a:r>
            <a:r>
              <a:rPr lang="ko" sz="105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  </a:t>
            </a:r>
            <a:r>
              <a:rPr lang="ko" sz="10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os.path.absname() 은 전체경로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print(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lang="ko" sz="105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\t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OPENAI_API_KEY=</a:t>
            </a:r>
            <a:r>
              <a:rPr lang="ko" sz="105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{os.getenv(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"OPENAI_API_KEY"</a:t>
            </a:r>
            <a:r>
              <a:rPr lang="ko" sz="105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)[:</a:t>
            </a:r>
            <a:r>
              <a:rPr lang="ko" sz="10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20</a:t>
            </a:r>
            <a:r>
              <a:rPr lang="ko" sz="105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]}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lang="ko" sz="105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lang="ko" sz="10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OPENAI_API_KEY 필요!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33" name="Google Shape;633;p87"/>
          <p:cNvSpPr txBox="1"/>
          <p:nvPr>
            <p:ph type="title"/>
          </p:nvPr>
        </p:nvSpPr>
        <p:spPr>
          <a:xfrm>
            <a:off x="187750" y="259100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수동으로 .env 읽어오기 → load_dotenv() </a:t>
            </a:r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88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solidFill>
            <a:srgbClr val="FFFF00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.gitignore 설정</a:t>
            </a:r>
            <a:endParaRPr/>
          </a:p>
        </p:txBody>
      </p:sp>
      <p:sp>
        <p:nvSpPr>
          <p:cNvPr id="639" name="Google Shape;639;p88"/>
          <p:cNvSpPr txBox="1"/>
          <p:nvPr>
            <p:ph idx="1" type="body"/>
          </p:nvPr>
        </p:nvSpPr>
        <p:spPr>
          <a:xfrm>
            <a:off x="311700" y="2719175"/>
            <a:ext cx="2580300" cy="49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ko"/>
              <a:t>파일생성후 편집</a:t>
            </a:r>
            <a:endParaRPr/>
          </a:p>
        </p:txBody>
      </p:sp>
      <p:sp>
        <p:nvSpPr>
          <p:cNvPr id="640" name="Google Shape;640;p88"/>
          <p:cNvSpPr txBox="1"/>
          <p:nvPr/>
        </p:nvSpPr>
        <p:spPr>
          <a:xfrm>
            <a:off x="3821475" y="1356475"/>
            <a:ext cx="3583800" cy="2727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5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.venv/</a:t>
            </a:r>
            <a:endParaRPr sz="125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5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.ipynb_checkpoints/</a:t>
            </a:r>
            <a:endParaRPr sz="125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5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.idea/</a:t>
            </a:r>
            <a:endParaRPr sz="125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5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env/</a:t>
            </a:r>
            <a:endParaRPr sz="125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5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.env</a:t>
            </a:r>
            <a:endParaRPr sz="125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5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.cache</a:t>
            </a:r>
            <a:endParaRPr sz="125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5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*.db</a:t>
            </a:r>
            <a:endParaRPr sz="125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5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download/**</a:t>
            </a:r>
            <a:endParaRPr sz="125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5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.cache_bkup</a:t>
            </a:r>
            <a:endParaRPr sz="125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5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movies.sqlite</a:t>
            </a:r>
            <a:endParaRPr sz="125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641" name="Google Shape;641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3200" y="1356475"/>
            <a:ext cx="1564525" cy="1075109"/>
          </a:xfrm>
          <a:prstGeom prst="rect">
            <a:avLst/>
          </a:prstGeom>
          <a:noFill/>
          <a:ln>
            <a:noFill/>
          </a:ln>
        </p:spPr>
      </p:pic>
      <p:sp>
        <p:nvSpPr>
          <p:cNvPr id="642" name="Google Shape;642;p88"/>
          <p:cNvSpPr/>
          <p:nvPr/>
        </p:nvSpPr>
        <p:spPr>
          <a:xfrm>
            <a:off x="2217200" y="1950325"/>
            <a:ext cx="1500900" cy="366900"/>
          </a:xfrm>
          <a:prstGeom prst="rightArrow">
            <a:avLst>
              <a:gd fmla="val 58675" name="adj1"/>
              <a:gd fmla="val 26311" name="adj2"/>
            </a:avLst>
          </a:prstGeom>
          <a:solidFill>
            <a:srgbClr val="00FFFF"/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88"/>
          <p:cNvSpPr/>
          <p:nvPr/>
        </p:nvSpPr>
        <p:spPr>
          <a:xfrm>
            <a:off x="6313825" y="1018150"/>
            <a:ext cx="1500900" cy="549300"/>
          </a:xfrm>
          <a:prstGeom prst="wedgeRoundRectCallout">
            <a:avLst>
              <a:gd fmla="val -73878" name="adj1"/>
              <a:gd fmla="val 105489" name="adj2"/>
              <a:gd fmla="val 0" name="adj3"/>
            </a:avLst>
          </a:prstGeom>
          <a:solidFill>
            <a:srgbClr val="FFFFFF">
              <a:alpha val="81130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기술된 파일/폴더는 github 에 올라가지 /노출되지 않는다.</a:t>
            </a:r>
            <a:endParaRPr sz="110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89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solidFill>
            <a:srgbClr val="FFFF00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기본 테스트 코드들 추가</a:t>
            </a:r>
            <a:endParaRPr/>
          </a:p>
        </p:txBody>
      </p:sp>
      <p:sp>
        <p:nvSpPr>
          <p:cNvPr id="649" name="Google Shape;649;p89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90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90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9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9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92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92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93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93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9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9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9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95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9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96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9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p97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98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98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99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99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
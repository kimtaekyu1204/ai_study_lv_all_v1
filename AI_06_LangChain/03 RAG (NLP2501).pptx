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T Sans Narrow"/>
      <p:regular r:id="rId20"/>
      <p:bold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regular.fntdata"/><Relationship Id="rId22" Type="http://schemas.openxmlformats.org/officeDocument/2006/relationships/font" Target="fonts/RobotoMono-regular.fntdata"/><Relationship Id="rId21" Type="http://schemas.openxmlformats.org/officeDocument/2006/relationships/font" Target="fonts/PTSansNarrow-bold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yline.network/2024/02/240219_003/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970f3f91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970f3f91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970f3f91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970f3f91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970f3f91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970f3f91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970f3f91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970f3f91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970f3f91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970f3f91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970f3f91a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970f3f91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970f3f91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970f3f91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970f3f91a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970f3f91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2"/>
              </a:rPr>
              <a:t>https://byline.network/2024/02/240219_003/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970f3f91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970f3f91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970f3f91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970f3f91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970f3f91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970f3f91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970f3f91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970f3f91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970f3f91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970f3f91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hyperlink" Target="https://python.langchain.com/v0.1/docs/modules/chains/document/stuff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ython.langchain.com/v0.1/docs/modules/chains/document/refine/" TargetMode="External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python.langchain.com/v0.1/docs/modules/chains/document/map_reduce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RAG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Retrieval-Augmented Generation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RAG (검색 증강 생성)</a:t>
            </a:r>
            <a:br>
              <a:rPr lang="ko"/>
            </a:br>
            <a:r>
              <a:rPr lang="ko" sz="2933"/>
              <a:t>Retrieval-Augmented Generation</a:t>
            </a:r>
            <a:endParaRPr sz="293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RAG (검색 증강 생성)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RAG는 </a:t>
            </a:r>
            <a:r>
              <a:rPr b="1"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Retrieval-Augmented Generation</a:t>
            </a: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(검색 증강 생성). 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이는 자연어 처리 및 생성에서 지식 기반(예: 문서, 데이터베이스, FAQ 등)을 활용하여 LLM 이 더 정확하고 맥락에 맞는 응답을 생성하는 </a:t>
            </a:r>
            <a:r>
              <a:rPr b="1" lang="ko" sz="190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기법</a:t>
            </a: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말합니다. 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RAG는 두 가지 주요 단계를 포함합니다:↓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Retrieval (검색/검색 증강)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먼저, 질문이나 요청에 관련된 정보를 </a:t>
            </a:r>
            <a:r>
              <a:rPr lang="ko">
                <a:solidFill>
                  <a:srgbClr val="980000"/>
                </a:solidFill>
              </a:rPr>
              <a:t>외부 지식 기반(예: 문서 저장소, 검색 엔진, 벡터 데이터베이스 등)</a:t>
            </a:r>
            <a:r>
              <a:rPr lang="ko"/>
              <a:t>에서 검색합니다. 이를 통해 </a:t>
            </a:r>
            <a:r>
              <a:rPr lang="ko">
                <a:solidFill>
                  <a:srgbClr val="FF0000"/>
                </a:solidFill>
              </a:rPr>
              <a:t>사전 학습된 언어 모델이 가지고 있는 지식에 의존하지 않고</a:t>
            </a:r>
            <a:r>
              <a:rPr lang="ko"/>
              <a:t>도 최신 정보나 특정 도메인의 데이터를 활용할 수 있습니다.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/>
              <a:t>질문: "LangChain에서 벡터 데이터베이스의 역할은 무엇인가요?"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/>
              <a:t>Retrieval 단계에서 관련 문서를 검색하여 해당 질문과 관련된 텍스트를 추출합니다.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Augmented Generation (생성 증강)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검색된 정보를 언어 모델(예: GPT, LLM)을 통해 응답 생성에 활용합니다. 이 과정에서 검색된 정보가 언어 모델에 </a:t>
            </a:r>
            <a:r>
              <a:rPr lang="ko">
                <a:solidFill>
                  <a:srgbClr val="FF0000"/>
                </a:solidFill>
              </a:rPr>
              <a:t>추가적인 컨텍스트</a:t>
            </a:r>
            <a:r>
              <a:rPr lang="ko"/>
              <a:t>를 제공하여, 더 신뢰할 수 있고 구체적인 답변을 생성할 수 있게 만듭니다.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/>
              <a:t>검색 결과: "LangChain은 벡터 데이터베이스를 활용하여 문서를 저장하고 검색합니다."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ko"/>
              <a:t>이를 기반으로 생성: "LangChain에서 벡터 데이터베이스는 대규모 문서를 효율적으로 검색할 수 있도록 도와주는 핵심 구성 요소입니다."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RAG의 주요 장점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정확성 향상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모델이 기억 기반이 아니라 </a:t>
            </a:r>
            <a:r>
              <a:rPr lang="ko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검색된 최신 정보를 사용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하여 답변하므로, 더 신뢰할 수 있는 결과를 제공합니다.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도메인 특화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ko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특정 도메인에 최적화된 데이터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검색하고 이를 활용할 수 있습니다.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대규모 데이터 활용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사전에 학습된 모델의 제한된 지식이 아니라,</a:t>
            </a:r>
            <a:r>
              <a:rPr lang="ko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대규모 외부 데이터를 동적으로 활용</a:t>
            </a:r>
            <a:r>
              <a:rPr lang="k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합니다.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LangChain에서 RAG 구현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LangChain은 RAG를 구현하기 위한 다양한 도구와 구성 요소를 제공합니다. 주요 단계는 다음과 같습니다: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문서 처리 및 임베딩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문서를 벡터화하여 벡터 데이터베이스(예: Pinecone, Weaviate, FAISS 등)에 저장.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OpenAI의 </a:t>
            </a:r>
            <a:r>
              <a:rPr lang="ko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text-embedding-ada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모델이나 Hugging Face의 임베딩 모델을 활용.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질의와 관련된 문서 검색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사용자의 질문을 벡터화한 후, 벡터 데이터베이스에서 관련 문서를 검색.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LLM을 통한 응답 생성</a:t>
            </a: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ko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검색된 문서를 컨텍스트로 추가하여 GPT와 같은 언어 모델이 자연어 응답을 생성.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RAG의 활용 사례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챗봇</a:t>
            </a: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제품 FAQ 기반으로 사용자 질문에 정확한 답변 제공.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문서 요약</a:t>
            </a: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대규모 문서를 검색하고 요약하여 제공.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의료 데이터 분석</a:t>
            </a: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특정 환자 기록에서 필요한 정보를 검색하고 분석.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법률 자문</a:t>
            </a:r>
            <a:r>
              <a:rPr lang="ko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법률 문서나 판례 데이터를 검색하여 관련 답변 생성.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205700"/>
            <a:ext cx="76200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66125" y="85950"/>
            <a:ext cx="28713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Stuff documents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500" y="611125"/>
            <a:ext cx="7055400" cy="3961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3037425" y="330525"/>
            <a:ext cx="53142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ko" sz="12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https://python.langchain.com/v0.1/docs/modules/chains/document/stuff/</a:t>
            </a:r>
            <a:endParaRPr sz="1200" u="sng">
              <a:solidFill>
                <a:schemeClr val="hlink"/>
              </a:solidFill>
              <a:highlight>
                <a:srgbClr val="FFFFFF"/>
              </a:highlight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1203400" y="4572450"/>
            <a:ext cx="705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'모든 문서' 를 prompt 에 넣고 model 에 전달하는 방식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137025" y="471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Refine documents chain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194100" y="591975"/>
            <a:ext cx="57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u="sng">
                <a:solidFill>
                  <a:srgbClr val="009668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https://python.langchain.com/v0.1/docs/modules/chains/document/refine/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76000"/>
            <a:ext cx="8839204" cy="383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/>
          <p:nvPr/>
        </p:nvSpPr>
        <p:spPr>
          <a:xfrm>
            <a:off x="3374225" y="695950"/>
            <a:ext cx="2539500" cy="551400"/>
          </a:xfrm>
          <a:prstGeom prst="wedgeRoundRectCallout">
            <a:avLst>
              <a:gd fmla="val -66063" name="adj1"/>
              <a:gd fmla="val 43882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980000"/>
                </a:solidFill>
              </a:rPr>
              <a:t>1.</a:t>
            </a:r>
            <a:r>
              <a:rPr lang="ko" sz="1100"/>
              <a:t> 입력 document(들) 을 순회(loop) 하면서 답변을 업데이트 해주는 방식</a:t>
            </a:r>
            <a:endParaRPr sz="1100"/>
          </a:p>
        </p:txBody>
      </p:sp>
      <p:sp>
        <p:nvSpPr>
          <p:cNvPr id="130" name="Google Shape;130;p23"/>
          <p:cNvSpPr/>
          <p:nvPr/>
        </p:nvSpPr>
        <p:spPr>
          <a:xfrm>
            <a:off x="2271650" y="1865350"/>
            <a:ext cx="1179600" cy="428100"/>
          </a:xfrm>
          <a:prstGeom prst="wedgeRoundRectCallout">
            <a:avLst>
              <a:gd fmla="val 40323" name="adj1"/>
              <a:gd fmla="val 75816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980000"/>
                </a:solidFill>
              </a:rPr>
              <a:t>2.</a:t>
            </a:r>
            <a:r>
              <a:rPr lang="ko" sz="1100"/>
              <a:t> document(들)</a:t>
            </a:r>
            <a:endParaRPr sz="1100"/>
          </a:p>
        </p:txBody>
      </p:sp>
      <p:sp>
        <p:nvSpPr>
          <p:cNvPr id="131" name="Google Shape;131;p23"/>
          <p:cNvSpPr/>
          <p:nvPr/>
        </p:nvSpPr>
        <p:spPr>
          <a:xfrm>
            <a:off x="3602975" y="1362850"/>
            <a:ext cx="2805000" cy="369300"/>
          </a:xfrm>
          <a:prstGeom prst="wedgeRoundRectCallout">
            <a:avLst>
              <a:gd fmla="val 8310" name="adj1"/>
              <a:gd fmla="val 7260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980000"/>
                </a:solidFill>
              </a:rPr>
              <a:t>3.</a:t>
            </a:r>
            <a:r>
              <a:rPr lang="ko" sz="1100"/>
              <a:t> document loop 하면서 아래 실행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ex: "document" 를 요약해주세요!</a:t>
            </a:r>
            <a:endParaRPr sz="1100"/>
          </a:p>
        </p:txBody>
      </p:sp>
      <p:sp>
        <p:nvSpPr>
          <p:cNvPr id="132" name="Google Shape;132;p23"/>
          <p:cNvSpPr/>
          <p:nvPr/>
        </p:nvSpPr>
        <p:spPr>
          <a:xfrm>
            <a:off x="2196175" y="3690800"/>
            <a:ext cx="2805000" cy="294900"/>
          </a:xfrm>
          <a:prstGeom prst="wedgeRoundRectCallout">
            <a:avLst>
              <a:gd fmla="val 24230" name="adj1"/>
              <a:gd fmla="val -343388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980000"/>
                </a:solidFill>
              </a:rPr>
              <a:t>4.</a:t>
            </a:r>
            <a:r>
              <a:rPr lang="ko" sz="1100"/>
              <a:t> 이때! intermediate answer 를 사용!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241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Map reduce documents chain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4225"/>
            <a:ext cx="9143997" cy="2937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232925" y="786075"/>
            <a:ext cx="732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https://python.langchain.com/v0.1/docs/modules/chains/document/map_reduce/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1758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Map re-rank documents chain</a:t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8839201" cy="328017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/>
        </p:nvSpPr>
        <p:spPr>
          <a:xfrm>
            <a:off x="38250" y="843100"/>
            <a:ext cx="906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Map Re-Rank Chain</a:t>
            </a:r>
            <a:r>
              <a:rPr lang="ko" sz="1100"/>
              <a:t>은 </a:t>
            </a:r>
            <a:r>
              <a:rPr b="1" lang="ko" sz="1100"/>
              <a:t>문서 검색 및 정렬 방식 중 하나</a:t>
            </a:r>
            <a:r>
              <a:rPr lang="ko" sz="1100"/>
              <a:t>로, 여러 문서를 LLM에 </a:t>
            </a:r>
            <a:r>
              <a:rPr b="1" lang="ko" sz="1100"/>
              <a:t>하나씩 전달하여 점수를 매기고</a:t>
            </a:r>
            <a:r>
              <a:rPr lang="ko" sz="1100"/>
              <a:t>, 그 점수를 기준으로 </a:t>
            </a:r>
            <a:r>
              <a:rPr b="1" lang="ko" sz="1100"/>
              <a:t>최종적으로 가장 관련성 높은 문서를 선택하거나 정렬</a:t>
            </a:r>
            <a:r>
              <a:rPr lang="ko" sz="1100"/>
              <a:t>하는 체인 구조</a:t>
            </a:r>
            <a:endParaRPr/>
          </a:p>
        </p:txBody>
      </p:sp>
      <p:sp>
        <p:nvSpPr>
          <p:cNvPr id="147" name="Google Shape;147;p25"/>
          <p:cNvSpPr/>
          <p:nvPr/>
        </p:nvSpPr>
        <p:spPr>
          <a:xfrm rot="-5400000">
            <a:off x="4246450" y="-221750"/>
            <a:ext cx="503700" cy="5355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5"/>
          <p:cNvSpPr/>
          <p:nvPr/>
        </p:nvSpPr>
        <p:spPr>
          <a:xfrm rot="-5400000">
            <a:off x="7804675" y="1942300"/>
            <a:ext cx="503700" cy="1120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3234575" y="1510600"/>
            <a:ext cx="3075600" cy="549300"/>
          </a:xfrm>
          <a:prstGeom prst="wedgeRoundRectCallout">
            <a:avLst>
              <a:gd fmla="val -13934" name="adj1"/>
              <a:gd fmla="val 83971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980000"/>
                </a:solidFill>
              </a:rPr>
              <a:t>1.</a:t>
            </a:r>
            <a:r>
              <a:rPr b="1" lang="ko" sz="1100"/>
              <a:t>"Map" 단계</a:t>
            </a:r>
            <a:r>
              <a:rPr lang="ko" sz="1100"/>
              <a:t>: 각 문서에 대해 LLM이 '질문'과의 관련도를 평가하고 점수(유용한정도)를 매김.</a:t>
            </a:r>
            <a:endParaRPr sz="1100"/>
          </a:p>
        </p:txBody>
      </p:sp>
      <p:sp>
        <p:nvSpPr>
          <p:cNvPr id="150" name="Google Shape;150;p25"/>
          <p:cNvSpPr/>
          <p:nvPr/>
        </p:nvSpPr>
        <p:spPr>
          <a:xfrm>
            <a:off x="5443975" y="1954875"/>
            <a:ext cx="2324400" cy="4323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980000"/>
                </a:solidFill>
              </a:rPr>
              <a:t>2. </a:t>
            </a:r>
            <a:r>
              <a:rPr lang="ko" sz="900"/>
              <a:t>이렇게 만들어진 모든 답변과 점수는 다음 prompt 에 입력되고  LLM 에 전달된뒤</a:t>
            </a:r>
            <a:endParaRPr sz="900"/>
          </a:p>
        </p:txBody>
      </p:sp>
      <p:sp>
        <p:nvSpPr>
          <p:cNvPr id="151" name="Google Shape;151;p25"/>
          <p:cNvSpPr/>
          <p:nvPr/>
        </p:nvSpPr>
        <p:spPr>
          <a:xfrm>
            <a:off x="6603875" y="1510600"/>
            <a:ext cx="2622600" cy="549300"/>
          </a:xfrm>
          <a:prstGeom prst="wedgeRoundRectCallout">
            <a:avLst>
              <a:gd fmla="val 4508" name="adj1"/>
              <a:gd fmla="val 80757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980000"/>
                </a:solidFill>
              </a:rPr>
              <a:t>3. </a:t>
            </a:r>
            <a:r>
              <a:rPr b="1" lang="ko" sz="1100"/>
              <a:t>"Re-Rank" 단계</a:t>
            </a:r>
            <a:r>
              <a:rPr lang="ko" sz="1100"/>
              <a:t>: 모든 문서의 점수를 비교해 가장 관련 있는 문서를 상위에 올림.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
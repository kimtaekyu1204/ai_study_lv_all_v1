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velog.io/@kofsitho/Langchain-%ED%83%90%EC%83%89-%EA%B3%A0%EA%B8%89-%ED%94%84%EB%A0%88%EC%9E%84%EC%9B%8C%ED%81%AC%EB%A5%BC-%ED%86%B5%ED%95%9C-AI-%ED%98%81%EC%8B%A0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58fc46d2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58fc46d2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2"/>
              </a:rPr>
              <a:t>https://velog.io/@kofsitho/Langchain-%ED%83%90%EC%83%89-%EA%B3%A0%EA%B8%89-%ED%94%84%EB%A0%88%EC%9E%84%EC%9B%8C%ED%81%AC%EB%A5%BC-%ED%86%B5%ED%95%9C-AI-%ED%98%81%EC%8B%A0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58fc46d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58fc46d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58fc46d2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58fc46d2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58fc46d2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58fc46d2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58fc46d2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58fc46d2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58fc46d2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58fc46d2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58fc46d2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58fc46d2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8fc46d2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8fc46d2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58fc46d2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58fc46d2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9125" y="546875"/>
            <a:ext cx="4345757" cy="9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073825" y="1595100"/>
            <a:ext cx="7291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34F5C"/>
                </a:solidFill>
                <a:latin typeface="Lato"/>
                <a:ea typeface="Lato"/>
                <a:cs typeface="Lato"/>
                <a:sym typeface="Lato"/>
              </a:rPr>
              <a:t>랭체인 프레임워크</a:t>
            </a:r>
            <a:r>
              <a:rPr b="1" lang="ko" sz="1800">
                <a:solidFill>
                  <a:srgbClr val="9900FF"/>
                </a:solidFill>
                <a:latin typeface="Lato"/>
                <a:ea typeface="Lato"/>
                <a:cs typeface="Lato"/>
                <a:sym typeface="Lato"/>
              </a:rPr>
              <a:t>와 </a:t>
            </a:r>
            <a:r>
              <a:rPr b="1" lang="ko" sz="1800">
                <a:solidFill>
                  <a:srgbClr val="134F5C"/>
                </a:solidFill>
                <a:latin typeface="Lato"/>
                <a:ea typeface="Lato"/>
                <a:cs typeface="Lato"/>
                <a:sym typeface="Lato"/>
              </a:rPr>
              <a:t> RAG 기법</a:t>
            </a:r>
            <a:r>
              <a:rPr b="1" lang="ko" sz="1800">
                <a:solidFill>
                  <a:srgbClr val="9900FF"/>
                </a:solidFill>
                <a:latin typeface="Lato"/>
                <a:ea typeface="Lato"/>
                <a:cs typeface="Lato"/>
                <a:sym typeface="Lato"/>
              </a:rPr>
              <a:t>을 활용한 LLM 애플리케이션  </a:t>
            </a:r>
            <a:r>
              <a:rPr lang="ko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제작</a:t>
            </a:r>
            <a:endParaRPr sz="24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18625" y="2709750"/>
            <a:ext cx="1851600" cy="981300"/>
          </a:xfrm>
          <a:prstGeom prst="wedgeRoundRectCallout">
            <a:avLst>
              <a:gd fmla="val 36366" name="adj1"/>
              <a:gd fmla="val -8349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수많은 다양한 LLM 모델들을 편리하고 </a:t>
            </a:r>
            <a:r>
              <a:rPr lang="ko" sz="1100">
                <a:solidFill>
                  <a:srgbClr val="0000FF"/>
                </a:solidFill>
              </a:rPr>
              <a:t>일관성있는 유연한 API</a:t>
            </a:r>
            <a:r>
              <a:rPr lang="ko" sz="1100"/>
              <a:t> 로 다룰수 없을까?</a:t>
            </a:r>
            <a:endParaRPr sz="1100"/>
          </a:p>
        </p:txBody>
      </p:sp>
      <p:sp>
        <p:nvSpPr>
          <p:cNvPr id="57" name="Google Shape;57;p13"/>
          <p:cNvSpPr/>
          <p:nvPr/>
        </p:nvSpPr>
        <p:spPr>
          <a:xfrm>
            <a:off x="2119213" y="2785950"/>
            <a:ext cx="1851600" cy="981300"/>
          </a:xfrm>
          <a:prstGeom prst="wedgeRoundRectCallout">
            <a:avLst>
              <a:gd fmla="val -31770" name="adj1"/>
              <a:gd fmla="val -8844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내 애플리케이션에서만 사용하는 </a:t>
            </a:r>
            <a:r>
              <a:rPr lang="ko" sz="1100">
                <a:solidFill>
                  <a:srgbClr val="0000FF"/>
                </a:solidFill>
              </a:rPr>
              <a:t>외부 데이터를 LLM 에 통합</a:t>
            </a:r>
            <a:r>
              <a:rPr lang="ko" sz="1100"/>
              <a:t>하여 동작시킬수 있는 편리한 방법 없을까?</a:t>
            </a:r>
            <a:endParaRPr sz="1100"/>
          </a:p>
        </p:txBody>
      </p:sp>
      <p:sp>
        <p:nvSpPr>
          <p:cNvPr id="58" name="Google Shape;58;p13"/>
          <p:cNvSpPr/>
          <p:nvPr/>
        </p:nvSpPr>
        <p:spPr>
          <a:xfrm>
            <a:off x="4119825" y="2785950"/>
            <a:ext cx="1278900" cy="981300"/>
          </a:xfrm>
          <a:prstGeom prst="wedgeRoundRectCallout">
            <a:avLst>
              <a:gd fmla="val -60074" name="adj1"/>
              <a:gd fmla="val -9536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복잡한</a:t>
            </a:r>
            <a:r>
              <a:rPr lang="ko" sz="1100">
                <a:solidFill>
                  <a:srgbClr val="0000FF"/>
                </a:solidFill>
              </a:rPr>
              <a:t> 작업들을 단순화 </a:t>
            </a:r>
            <a:r>
              <a:rPr lang="ko" sz="1100"/>
              <a:t>할수 없을까?</a:t>
            </a:r>
            <a:endParaRPr sz="1100"/>
          </a:p>
        </p:txBody>
      </p:sp>
      <p:sp>
        <p:nvSpPr>
          <p:cNvPr id="59" name="Google Shape;59;p13"/>
          <p:cNvSpPr/>
          <p:nvPr/>
        </p:nvSpPr>
        <p:spPr>
          <a:xfrm>
            <a:off x="5567600" y="2709750"/>
            <a:ext cx="1674900" cy="981300"/>
          </a:xfrm>
          <a:prstGeom prst="wedgeRoundRectCallout">
            <a:avLst>
              <a:gd fmla="val -85972" name="adj1"/>
              <a:gd fmla="val -9155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이전의 대화들을 기억하여 </a:t>
            </a:r>
            <a:r>
              <a:rPr lang="ko" sz="1100">
                <a:solidFill>
                  <a:srgbClr val="0000FF"/>
                </a:solidFill>
              </a:rPr>
              <a:t>문맥이 유지 되는 대화형 애플리케이션</a:t>
            </a:r>
            <a:r>
              <a:rPr lang="ko" sz="1100"/>
              <a:t> 을 손쉽게 만들수 없을까?</a:t>
            </a:r>
            <a:endParaRPr sz="1100"/>
          </a:p>
        </p:txBody>
      </p:sp>
      <p:sp>
        <p:nvSpPr>
          <p:cNvPr id="60" name="Google Shape;60;p13"/>
          <p:cNvSpPr/>
          <p:nvPr/>
        </p:nvSpPr>
        <p:spPr>
          <a:xfrm>
            <a:off x="7320200" y="2709750"/>
            <a:ext cx="1674900" cy="981300"/>
          </a:xfrm>
          <a:prstGeom prst="wedgeRoundRectCallout">
            <a:avLst>
              <a:gd fmla="val -85972" name="adj1"/>
              <a:gd fmla="val -9155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LLM 이 동적으로 결정하면 내 </a:t>
            </a:r>
            <a:r>
              <a:rPr lang="ko" sz="1100">
                <a:solidFill>
                  <a:srgbClr val="0000FF"/>
                </a:solidFill>
              </a:rPr>
              <a:t>애플리케이션을 자동으로 동작</a:t>
            </a:r>
            <a:r>
              <a:rPr lang="ko" sz="1100"/>
              <a:t>시키케 할수 없을까?</a:t>
            </a:r>
            <a:endParaRPr sz="1100"/>
          </a:p>
        </p:txBody>
      </p:sp>
      <p:sp>
        <p:nvSpPr>
          <p:cNvPr id="61" name="Google Shape;61;p13"/>
          <p:cNvSpPr/>
          <p:nvPr/>
        </p:nvSpPr>
        <p:spPr>
          <a:xfrm>
            <a:off x="2062400" y="4005150"/>
            <a:ext cx="1851600" cy="981300"/>
          </a:xfrm>
          <a:prstGeom prst="wedgeRoundRectCallout">
            <a:avLst>
              <a:gd fmla="val -27209" name="adj1"/>
              <a:gd fmla="val -7719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FF"/>
                </a:solidFill>
              </a:rPr>
              <a:t>다양한 형태의 Document</a:t>
            </a:r>
            <a:r>
              <a:rPr lang="ko" sz="1100"/>
              <a:t> 를 다룰수 있을까?</a:t>
            </a:r>
            <a:endParaRPr sz="1100"/>
          </a:p>
        </p:txBody>
      </p:sp>
      <p:sp>
        <p:nvSpPr>
          <p:cNvPr id="62" name="Google Shape;62;p13"/>
          <p:cNvSpPr/>
          <p:nvPr/>
        </p:nvSpPr>
        <p:spPr>
          <a:xfrm>
            <a:off x="4043600" y="3928950"/>
            <a:ext cx="1851600" cy="981300"/>
          </a:xfrm>
          <a:prstGeom prst="wedgeRoundRectCallout">
            <a:avLst>
              <a:gd fmla="val -27209" name="adj1"/>
              <a:gd fmla="val -7719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매번 LLM 에 요청할때마다 발생하는 </a:t>
            </a:r>
            <a:r>
              <a:rPr lang="ko" sz="1100">
                <a:solidFill>
                  <a:srgbClr val="0000FF"/>
                </a:solidFill>
              </a:rPr>
              <a:t>비용</a:t>
            </a:r>
            <a:r>
              <a:rPr lang="ko" sz="1100"/>
              <a:t>…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줄일수 없을가?</a:t>
            </a:r>
            <a:endParaRPr sz="1100"/>
          </a:p>
        </p:txBody>
      </p:sp>
      <p:sp>
        <p:nvSpPr>
          <p:cNvPr id="63" name="Google Shape;63;p13"/>
          <p:cNvSpPr/>
          <p:nvPr/>
        </p:nvSpPr>
        <p:spPr>
          <a:xfrm>
            <a:off x="6101000" y="3852750"/>
            <a:ext cx="1851600" cy="981300"/>
          </a:xfrm>
          <a:prstGeom prst="wedgeRoundRectCallout">
            <a:avLst>
              <a:gd fmla="val -51920" name="adj1"/>
              <a:gd fmla="val -6957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FF"/>
                </a:solidFill>
              </a:rPr>
              <a:t>작업의 흐름을 모니터링</a:t>
            </a:r>
            <a:r>
              <a:rPr lang="ko" sz="1100"/>
              <a:t> 할수 있는 수단이나 도구는 제공할수 있는가?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550" y="51075"/>
            <a:ext cx="635476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 이란?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</a:t>
            </a:r>
            <a:r>
              <a:rPr lang="ko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대규모 언어 모델(LLM)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더 효율적이고 유연하게 활용할 수 있도록 설계된 </a:t>
            </a:r>
            <a:r>
              <a:rPr b="1" lang="ko" sz="16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프레임워크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입니다.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LLM(예: OpenAI의 GPT,  Hugging Face의 모델 등)과 함께 데이터를 조작하거나, </a:t>
            </a:r>
            <a:r>
              <a:rPr lang="ko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워크플로를 설계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하거나, </a:t>
            </a:r>
            <a:r>
              <a:rPr lang="ko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애플리케이션을 구축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하는 데 도움을 줍니다.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LangChain은 특히 </a:t>
            </a:r>
            <a:r>
              <a:rPr lang="ko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체인(Chain)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이라는 개념을 중심으로 작동하며, LLM을 호출하는 과정을 여러 단계로 구성하여 </a:t>
            </a:r>
            <a:r>
              <a:rPr lang="ko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복잡한 작업을 수행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할 수 있습니다.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이를 통해 대화형 AI, 검색 시스템, 데이터 분석, 작업 자동화 등 다양한 애플리케이션을 쉽게 개발할 수 있습니다.</a:t>
            </a:r>
            <a:endParaRPr sz="2300"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25412" l="0" r="0" t="24026"/>
          <a:stretch/>
        </p:blipFill>
        <p:spPr>
          <a:xfrm>
            <a:off x="4097532" y="155850"/>
            <a:ext cx="1856843" cy="9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LangChain을 사용하는 이유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대규모 언어 모델(LLM)은 단독으로도 강력하지만, 실제 애플리케이션에서는 LLM을 외부 데이터와 통합하거나, 복잡한 로직을 처리하거나, 사용자와의 대화를 관리하는 기능이 필요합니다.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LangChain은 이러한 작업을 </a:t>
            </a:r>
            <a:r>
              <a:rPr b="1" lang="ko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간편하게 구현</a:t>
            </a:r>
            <a:r>
              <a:rPr lang="k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하도록 돕는 </a:t>
            </a:r>
            <a:r>
              <a:rPr b="1" lang="k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프레임워크</a:t>
            </a:r>
            <a:r>
              <a:rPr lang="k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로, 개발자와 기업이 보다 효율적이고 유연한 AI 솔루션을 만들 수 있게 합니다.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LangChain의 주요 목적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885325"/>
            <a:ext cx="8520600" cy="37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LLM과 외부 데이터 통합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LangChain은 </a:t>
            </a:r>
            <a:r>
              <a:rPr lang="ko" sz="1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외부 데이터(문서, 데이터베이스, API 등)를 언어 모델과 연결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하여 더 스마트한 작업을 수행할 수 있도록 합니다.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멀티스텝 작업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단순한 한 번의 LLM 호출이 아니라, </a:t>
            </a:r>
            <a:r>
              <a:rPr lang="ko" sz="1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여러 단계를 체인처럼 연결하여 복잡한 로직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처리할 수 있습니다.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메모리 기능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대화형 애플리케이션에서 문맥을 유지하도록 설계된 메모리 기능을 제공합니다. 예를 들어, </a:t>
            </a:r>
            <a:r>
              <a:rPr lang="ko" sz="1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사용자의 이전 질문과 대답을 기억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하는 AI 챗봇 개발에 활용됩니다.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모듈화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LangChain은 다양한 모듈을 제공하여 필요에 따라 조합하거나 확장 가능하도록 설계되었습니다.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LangChain의 주요 기능 및 구성 요소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체인(Chains)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체인은 여러 작업을 연결하여 복잡한 로직을 처리하는 워크플로를 구성합니다.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텍스트를 요약한 뒤, 요약된 내용을 번역하거나 추가 질문에 답변하는 순차적인 프로세스.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프롬프트 템플릿(Prompt Templates)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LLM에 적절한 입력을 제공하기 위해 </a:t>
            </a: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프롬프트를 템플릿화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합니다.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질문 응답, 요약, 번역 등 작업에 맞는 프롬프트를 쉽게 구성 가능.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메모리(Memory)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대화 상태를 저장하거나 문맥을 유지하기 위한 메커니즘.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사용자의 이전 메시지나 질문을 기반으로 대답하는 챗봇 개발.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225700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에이전트(Agents)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ko" sz="1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LLM이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동적으로 결정을 내리고, </a:t>
            </a:r>
            <a:r>
              <a:rPr b="1" lang="ko" sz="1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다양한 툴(API 호출, 데이터베이스 질의 등)을 사용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할 수 있도록 구성.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사용자가 요청하면 LLM이 API를 호출하거나 계산기를 사용.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도큐먼트 로더(Document Loaders)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ko" sz="13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다양한 유형의 문서를 로드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하여 LLM이 사용할 수 있도록 합니다.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PDF, 웹 페이지, 데이터베이스 등에서 데이터를 가져오기.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벡터 데이터베이스(Vector Stores)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문서를 벡터 형식으로 변환하여 효율적으로 검색할 수 있는 데이터베이스와 연결.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사용자가 특정 질문을 하면 관련 문서를 검색하여 답변 생성.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도구(Tools)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LLM이 외부 애플리케이션(API, 계산기 등)과 상호작용할 수 있도록 도와줍니다.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Python 코드 실행, 검색 엔진 호출, 파일 읽기.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Callback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 작업의 흐름이나 디버깅 상태를 모니터링할 수 있는 메커니즘.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LangChain의 활용 사례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대화형 챗봇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사용자와 자연스러운 대화를 하며 문맥을 유지하는 챗봇을 개발.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고객 지원 봇, 가상 비서.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질의응답 시스템(Q&amp;A)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문서나 데이터베이스를 기반으로 사용자의 질문에 답변.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PDF 파일에서 특정 정보를 추출하여 답변.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문서 요약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긴 문서를 읽고 요약을 제공하거나, 특정 내용을 추출.</a:t>
            </a:r>
            <a:endParaRPr b="1"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85150"/>
            <a:ext cx="8520600" cy="43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검색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벡터 데이터베이스와 연결하여 대규모 데이터에서 연관성 높은 정보를 검색.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멀티스텝 작업 자동화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번역 → 요약 → 핵심 질문 생성과 같은 다단계 작업 자동화.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기반 작업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 API와 연동하여 동적 데이터를 활용.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예: 주식 정보 가져오기, 날씨 예보 데이터 처리.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커스터마이징된 LLM 애플리케이션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사용자의 요구에 맞춘 맞춤형 언어 모델 기반 도구 개발.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LangChain의 장점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빠른 개발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LLM과 외부 데이터, 도구를 쉽게 통합할 수 있어 개발 시간을 단축합니다.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확장성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모듈화된 설계로 원하는 기능을 쉽게 추가하거나 교체 가능.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강력한 기능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체인, 메모리, 벡터 검색 등 다양한 기능을 활용해 복잡한 애플리케이션 구현 가능.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오픈소스</a:t>
            </a: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오픈소스 프로젝트로, 개발자 커뮤니티와 함께 발전하고 있어 자원이 풍부합니다.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